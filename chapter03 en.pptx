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8"/>
  </p:notesMasterIdLst>
  <p:sldIdLst>
    <p:sldId id="256" r:id="rId2"/>
    <p:sldId id="298" r:id="rId3"/>
    <p:sldId id="266" r:id="rId4"/>
    <p:sldId id="265" r:id="rId5"/>
    <p:sldId id="302" r:id="rId6"/>
    <p:sldId id="301" r:id="rId7"/>
    <p:sldId id="291" r:id="rId8"/>
    <p:sldId id="267" r:id="rId9"/>
    <p:sldId id="268" r:id="rId10"/>
    <p:sldId id="269" r:id="rId11"/>
    <p:sldId id="270" r:id="rId12"/>
    <p:sldId id="292" r:id="rId13"/>
    <p:sldId id="299" r:id="rId14"/>
    <p:sldId id="300" r:id="rId15"/>
    <p:sldId id="303" r:id="rId16"/>
    <p:sldId id="304" r:id="rId17"/>
    <p:sldId id="305" r:id="rId18"/>
    <p:sldId id="306" r:id="rId19"/>
    <p:sldId id="307" r:id="rId20"/>
    <p:sldId id="308" r:id="rId21"/>
    <p:sldId id="309" r:id="rId22"/>
    <p:sldId id="273" r:id="rId23"/>
    <p:sldId id="271" r:id="rId24"/>
    <p:sldId id="276" r:id="rId25"/>
    <p:sldId id="310" r:id="rId26"/>
    <p:sldId id="272" r:id="rId27"/>
    <p:sldId id="274" r:id="rId28"/>
    <p:sldId id="293" r:id="rId29"/>
    <p:sldId id="275" r:id="rId30"/>
    <p:sldId id="312" r:id="rId31"/>
    <p:sldId id="283" r:id="rId32"/>
    <p:sldId id="284" r:id="rId33"/>
    <p:sldId id="285" r:id="rId34"/>
    <p:sldId id="288" r:id="rId35"/>
    <p:sldId id="289" r:id="rId36"/>
    <p:sldId id="290" r:id="rId37"/>
    <p:sldId id="313" r:id="rId38"/>
    <p:sldId id="286" r:id="rId39"/>
    <p:sldId id="314" r:id="rId40"/>
    <p:sldId id="311" r:id="rId41"/>
    <p:sldId id="277" r:id="rId42"/>
    <p:sldId id="278" r:id="rId43"/>
    <p:sldId id="279" r:id="rId44"/>
    <p:sldId id="280" r:id="rId45"/>
    <p:sldId id="281" r:id="rId46"/>
    <p:sldId id="282"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94A4AB-B171-429D-B2D4-478FA9ED6470}" v="34" dt="2026-02-18T21:02:14.3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62825" autoAdjust="0"/>
  </p:normalViewPr>
  <p:slideViewPr>
    <p:cSldViewPr>
      <p:cViewPr varScale="1">
        <p:scale>
          <a:sx n="56" d="100"/>
          <a:sy n="56" d="100"/>
        </p:scale>
        <p:origin x="1589" y="58"/>
      </p:cViewPr>
      <p:guideLst>
        <p:guide orient="horz" pos="2160"/>
        <p:guide pos="2880"/>
      </p:guideLst>
    </p:cSldViewPr>
  </p:slideViewPr>
  <p:outlineViewPr>
    <p:cViewPr>
      <p:scale>
        <a:sx n="33" d="100"/>
        <a:sy n="33" d="100"/>
      </p:scale>
      <p:origin x="0" y="-33730"/>
    </p:cViewPr>
  </p:outlineViewPr>
  <p:notesTextViewPr>
    <p:cViewPr>
      <p:scale>
        <a:sx n="100" d="100"/>
        <a:sy n="100" d="100"/>
      </p:scale>
      <p:origin x="0" y="0"/>
    </p:cViewPr>
  </p:notesTextViewPr>
  <p:sorterViewPr>
    <p:cViewPr varScale="1">
      <p:scale>
        <a:sx n="100" d="100"/>
        <a:sy n="100" d="100"/>
      </p:scale>
      <p:origin x="0" y="-5491"/>
    </p:cViewPr>
  </p:sorterViewPr>
  <p:notesViewPr>
    <p:cSldViewPr>
      <p:cViewPr varScale="1">
        <p:scale>
          <a:sx n="70" d="100"/>
          <a:sy n="70" d="100"/>
        </p:scale>
        <p:origin x="1920" y="3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drigue Stultiens" userId="32c8340f-74bb-437d-97de-711241a4a663" providerId="ADAL" clId="{66E34C45-0C8F-4FA0-A442-311BF0DA6F31}"/>
    <pc:docChg chg="undo redo custSel addSld delSld modSld sldOrd">
      <pc:chgData name="Rodrigue Stultiens" userId="32c8340f-74bb-437d-97de-711241a4a663" providerId="ADAL" clId="{66E34C45-0C8F-4FA0-A442-311BF0DA6F31}" dt="2026-02-18T21:03:37.625" v="4400" actId="20577"/>
      <pc:docMkLst>
        <pc:docMk/>
      </pc:docMkLst>
      <pc:sldChg chg="modSp modNotesTx">
        <pc:chgData name="Rodrigue Stultiens" userId="32c8340f-74bb-437d-97de-711241a4a663" providerId="ADAL" clId="{66E34C45-0C8F-4FA0-A442-311BF0DA6F31}" dt="2026-02-03T11:55:10.060" v="3750" actId="113"/>
        <pc:sldMkLst>
          <pc:docMk/>
          <pc:sldMk cId="0" sldId="265"/>
        </pc:sldMkLst>
        <pc:spChg chg="mod">
          <ac:chgData name="Rodrigue Stultiens" userId="32c8340f-74bb-437d-97de-711241a4a663" providerId="ADAL" clId="{66E34C45-0C8F-4FA0-A442-311BF0DA6F31}" dt="2026-02-03T11:51:55.654" v="3749" actId="20577"/>
          <ac:spMkLst>
            <pc:docMk/>
            <pc:sldMk cId="0" sldId="265"/>
            <ac:spMk id="2" creationId="{00000000-0000-0000-0000-000000000000}"/>
          </ac:spMkLst>
        </pc:spChg>
      </pc:sldChg>
      <pc:sldChg chg="modSp mod">
        <pc:chgData name="Rodrigue Stultiens" userId="32c8340f-74bb-437d-97de-711241a4a663" providerId="ADAL" clId="{66E34C45-0C8F-4FA0-A442-311BF0DA6F31}" dt="2026-02-03T11:48:52.016" v="3745" actId="113"/>
        <pc:sldMkLst>
          <pc:docMk/>
          <pc:sldMk cId="0" sldId="266"/>
        </pc:sldMkLst>
        <pc:spChg chg="mod">
          <ac:chgData name="Rodrigue Stultiens" userId="32c8340f-74bb-437d-97de-711241a4a663" providerId="ADAL" clId="{66E34C45-0C8F-4FA0-A442-311BF0DA6F31}" dt="2026-02-03T11:48:52.016" v="3745" actId="113"/>
          <ac:spMkLst>
            <pc:docMk/>
            <pc:sldMk cId="0" sldId="266"/>
            <ac:spMk id="2" creationId="{00000000-0000-0000-0000-000000000000}"/>
          </ac:spMkLst>
        </pc:spChg>
      </pc:sldChg>
      <pc:sldChg chg="modSp mod">
        <pc:chgData name="Rodrigue Stultiens" userId="32c8340f-74bb-437d-97de-711241a4a663" providerId="ADAL" clId="{66E34C45-0C8F-4FA0-A442-311BF0DA6F31}" dt="2026-02-03T12:02:01.088" v="3773" actId="20577"/>
        <pc:sldMkLst>
          <pc:docMk/>
          <pc:sldMk cId="0" sldId="268"/>
        </pc:sldMkLst>
        <pc:spChg chg="mod">
          <ac:chgData name="Rodrigue Stultiens" userId="32c8340f-74bb-437d-97de-711241a4a663" providerId="ADAL" clId="{66E34C45-0C8F-4FA0-A442-311BF0DA6F31}" dt="2026-02-03T12:02:01.088" v="3773" actId="20577"/>
          <ac:spMkLst>
            <pc:docMk/>
            <pc:sldMk cId="0" sldId="268"/>
            <ac:spMk id="2" creationId="{00000000-0000-0000-0000-000000000000}"/>
          </ac:spMkLst>
        </pc:spChg>
      </pc:sldChg>
      <pc:sldChg chg="modSp mod addAnim delAnim modAnim">
        <pc:chgData name="Rodrigue Stultiens" userId="32c8340f-74bb-437d-97de-711241a4a663" providerId="ADAL" clId="{66E34C45-0C8F-4FA0-A442-311BF0DA6F31}" dt="2026-02-03T12:03:27.681" v="3798"/>
        <pc:sldMkLst>
          <pc:docMk/>
          <pc:sldMk cId="0" sldId="269"/>
        </pc:sldMkLst>
        <pc:spChg chg="mod">
          <ac:chgData name="Rodrigue Stultiens" userId="32c8340f-74bb-437d-97de-711241a4a663" providerId="ADAL" clId="{66E34C45-0C8F-4FA0-A442-311BF0DA6F31}" dt="2026-02-03T12:02:46.352" v="3783" actId="20577"/>
          <ac:spMkLst>
            <pc:docMk/>
            <pc:sldMk cId="0" sldId="269"/>
            <ac:spMk id="3" creationId="{00000000-0000-0000-0000-000000000000}"/>
          </ac:spMkLst>
        </pc:spChg>
      </pc:sldChg>
      <pc:sldChg chg="modSp mod addAnim delAnim modAnim">
        <pc:chgData name="Rodrigue Stultiens" userId="32c8340f-74bb-437d-97de-711241a4a663" providerId="ADAL" clId="{66E34C45-0C8F-4FA0-A442-311BF0DA6F31}" dt="2026-02-03T12:03:39.650" v="3802"/>
        <pc:sldMkLst>
          <pc:docMk/>
          <pc:sldMk cId="0" sldId="270"/>
        </pc:sldMkLst>
        <pc:spChg chg="mod">
          <ac:chgData name="Rodrigue Stultiens" userId="32c8340f-74bb-437d-97de-711241a4a663" providerId="ADAL" clId="{66E34C45-0C8F-4FA0-A442-311BF0DA6F31}" dt="2026-02-03T12:03:02.255" v="3793" actId="20577"/>
          <ac:spMkLst>
            <pc:docMk/>
            <pc:sldMk cId="0" sldId="270"/>
            <ac:spMk id="3" creationId="{00000000-0000-0000-0000-000000000000}"/>
          </ac:spMkLst>
        </pc:spChg>
      </pc:sldChg>
      <pc:sldChg chg="modSp mod">
        <pc:chgData name="Rodrigue Stultiens" userId="32c8340f-74bb-437d-97de-711241a4a663" providerId="ADAL" clId="{66E34C45-0C8F-4FA0-A442-311BF0DA6F31}" dt="2026-02-03T13:45:53.391" v="3824" actId="27636"/>
        <pc:sldMkLst>
          <pc:docMk/>
          <pc:sldMk cId="0" sldId="277"/>
        </pc:sldMkLst>
        <pc:spChg chg="mod">
          <ac:chgData name="Rodrigue Stultiens" userId="32c8340f-74bb-437d-97de-711241a4a663" providerId="ADAL" clId="{66E34C45-0C8F-4FA0-A442-311BF0DA6F31}" dt="2026-02-03T13:45:53.391" v="3824" actId="27636"/>
          <ac:spMkLst>
            <pc:docMk/>
            <pc:sldMk cId="0" sldId="277"/>
            <ac:spMk id="2" creationId="{00000000-0000-0000-0000-000000000000}"/>
          </ac:spMkLst>
        </pc:spChg>
      </pc:sldChg>
      <pc:sldChg chg="modSp mod">
        <pc:chgData name="Rodrigue Stultiens" userId="32c8340f-74bb-437d-97de-711241a4a663" providerId="ADAL" clId="{66E34C45-0C8F-4FA0-A442-311BF0DA6F31}" dt="2026-02-03T13:46:40.809" v="3853" actId="20577"/>
        <pc:sldMkLst>
          <pc:docMk/>
          <pc:sldMk cId="0" sldId="280"/>
        </pc:sldMkLst>
        <pc:spChg chg="mod">
          <ac:chgData name="Rodrigue Stultiens" userId="32c8340f-74bb-437d-97de-711241a4a663" providerId="ADAL" clId="{66E34C45-0C8F-4FA0-A442-311BF0DA6F31}" dt="2026-02-03T13:46:40.809" v="3853" actId="20577"/>
          <ac:spMkLst>
            <pc:docMk/>
            <pc:sldMk cId="0" sldId="280"/>
            <ac:spMk id="3" creationId="{00000000-0000-0000-0000-000000000000}"/>
          </ac:spMkLst>
        </pc:spChg>
      </pc:sldChg>
      <pc:sldChg chg="modSp">
        <pc:chgData name="Rodrigue Stultiens" userId="32c8340f-74bb-437d-97de-711241a4a663" providerId="ADAL" clId="{66E34C45-0C8F-4FA0-A442-311BF0DA6F31}" dt="2026-02-03T13:47:09.093" v="3854"/>
        <pc:sldMkLst>
          <pc:docMk/>
          <pc:sldMk cId="0" sldId="281"/>
        </pc:sldMkLst>
        <pc:spChg chg="mod">
          <ac:chgData name="Rodrigue Stultiens" userId="32c8340f-74bb-437d-97de-711241a4a663" providerId="ADAL" clId="{66E34C45-0C8F-4FA0-A442-311BF0DA6F31}" dt="2026-02-03T13:47:09.093" v="3854"/>
          <ac:spMkLst>
            <pc:docMk/>
            <pc:sldMk cId="0" sldId="281"/>
            <ac:spMk id="3" creationId="{00000000-0000-0000-0000-000000000000}"/>
          </ac:spMkLst>
        </pc:spChg>
      </pc:sldChg>
      <pc:sldChg chg="modSp">
        <pc:chgData name="Rodrigue Stultiens" userId="32c8340f-74bb-437d-97de-711241a4a663" providerId="ADAL" clId="{66E34C45-0C8F-4FA0-A442-311BF0DA6F31}" dt="2026-02-03T13:47:14.459" v="3855"/>
        <pc:sldMkLst>
          <pc:docMk/>
          <pc:sldMk cId="0" sldId="282"/>
        </pc:sldMkLst>
        <pc:spChg chg="mod">
          <ac:chgData name="Rodrigue Stultiens" userId="32c8340f-74bb-437d-97de-711241a4a663" providerId="ADAL" clId="{66E34C45-0C8F-4FA0-A442-311BF0DA6F31}" dt="2026-02-03T13:47:14.459" v="3855"/>
          <ac:spMkLst>
            <pc:docMk/>
            <pc:sldMk cId="0" sldId="282"/>
            <ac:spMk id="3" creationId="{00000000-0000-0000-0000-000000000000}"/>
          </ac:spMkLst>
        </pc:spChg>
      </pc:sldChg>
      <pc:sldChg chg="modSp mod modNotesTx">
        <pc:chgData name="Rodrigue Stultiens" userId="32c8340f-74bb-437d-97de-711241a4a663" providerId="ADAL" clId="{66E34C45-0C8F-4FA0-A442-311BF0DA6F31}" dt="2026-02-18T21:01:07.508" v="4357" actId="20577"/>
        <pc:sldMkLst>
          <pc:docMk/>
          <pc:sldMk cId="1846571734" sldId="283"/>
        </pc:sldMkLst>
        <pc:spChg chg="mod">
          <ac:chgData name="Rodrigue Stultiens" userId="32c8340f-74bb-437d-97de-711241a4a663" providerId="ADAL" clId="{66E34C45-0C8F-4FA0-A442-311BF0DA6F31}" dt="2026-02-18T21:00:33.630" v="4273" actId="20577"/>
          <ac:spMkLst>
            <pc:docMk/>
            <pc:sldMk cId="1846571734" sldId="283"/>
            <ac:spMk id="3" creationId="{00000000-0000-0000-0000-000000000000}"/>
          </ac:spMkLst>
        </pc:spChg>
      </pc:sldChg>
      <pc:sldChg chg="modSp mod">
        <pc:chgData name="Rodrigue Stultiens" userId="32c8340f-74bb-437d-97de-711241a4a663" providerId="ADAL" clId="{66E34C45-0C8F-4FA0-A442-311BF0DA6F31}" dt="2026-02-18T20:59:49.780" v="4243" actId="27636"/>
        <pc:sldMkLst>
          <pc:docMk/>
          <pc:sldMk cId="1073249926" sldId="284"/>
        </pc:sldMkLst>
        <pc:spChg chg="mod">
          <ac:chgData name="Rodrigue Stultiens" userId="32c8340f-74bb-437d-97de-711241a4a663" providerId="ADAL" clId="{66E34C45-0C8F-4FA0-A442-311BF0DA6F31}" dt="2026-02-18T20:59:49.780" v="4243" actId="27636"/>
          <ac:spMkLst>
            <pc:docMk/>
            <pc:sldMk cId="1073249926" sldId="284"/>
            <ac:spMk id="2" creationId="{00000000-0000-0000-0000-000000000000}"/>
          </ac:spMkLst>
        </pc:spChg>
        <pc:spChg chg="mod">
          <ac:chgData name="Rodrigue Stultiens" userId="32c8340f-74bb-437d-97de-711241a4a663" providerId="ADAL" clId="{66E34C45-0C8F-4FA0-A442-311BF0DA6F31}" dt="2026-02-18T20:57:08.074" v="4204" actId="20577"/>
          <ac:spMkLst>
            <pc:docMk/>
            <pc:sldMk cId="1073249926" sldId="284"/>
            <ac:spMk id="3" creationId="{00000000-0000-0000-0000-000000000000}"/>
          </ac:spMkLst>
        </pc:spChg>
      </pc:sldChg>
      <pc:sldChg chg="modSp mod">
        <pc:chgData name="Rodrigue Stultiens" userId="32c8340f-74bb-437d-97de-711241a4a663" providerId="ADAL" clId="{66E34C45-0C8F-4FA0-A442-311BF0DA6F31}" dt="2026-02-18T21:02:47.208" v="4395" actId="20577"/>
        <pc:sldMkLst>
          <pc:docMk/>
          <pc:sldMk cId="2594899648" sldId="285"/>
        </pc:sldMkLst>
        <pc:spChg chg="mod">
          <ac:chgData name="Rodrigue Stultiens" userId="32c8340f-74bb-437d-97de-711241a4a663" providerId="ADAL" clId="{66E34C45-0C8F-4FA0-A442-311BF0DA6F31}" dt="2026-02-18T21:02:47.208" v="4395" actId="20577"/>
          <ac:spMkLst>
            <pc:docMk/>
            <pc:sldMk cId="2594899648" sldId="285"/>
            <ac:spMk id="3" creationId="{00000000-0000-0000-0000-000000000000}"/>
          </ac:spMkLst>
        </pc:spChg>
      </pc:sldChg>
      <pc:sldChg chg="modSp mod modNotesTx">
        <pc:chgData name="Rodrigue Stultiens" userId="32c8340f-74bb-437d-97de-711241a4a663" providerId="ADAL" clId="{66E34C45-0C8F-4FA0-A442-311BF0DA6F31}" dt="2026-02-16T09:50:25.457" v="4005" actId="20577"/>
        <pc:sldMkLst>
          <pc:docMk/>
          <pc:sldMk cId="912252388" sldId="290"/>
        </pc:sldMkLst>
        <pc:spChg chg="mod">
          <ac:chgData name="Rodrigue Stultiens" userId="32c8340f-74bb-437d-97de-711241a4a663" providerId="ADAL" clId="{66E34C45-0C8F-4FA0-A442-311BF0DA6F31}" dt="2026-02-16T09:50:25.457" v="4005" actId="20577"/>
          <ac:spMkLst>
            <pc:docMk/>
            <pc:sldMk cId="912252388" sldId="290"/>
            <ac:spMk id="3" creationId="{00000000-0000-0000-0000-000000000000}"/>
          </ac:spMkLst>
        </pc:spChg>
      </pc:sldChg>
      <pc:sldChg chg="modSp mod addAnim delAnim modAnim">
        <pc:chgData name="Rodrigue Stultiens" userId="32c8340f-74bb-437d-97de-711241a4a663" providerId="ADAL" clId="{66E34C45-0C8F-4FA0-A442-311BF0DA6F31}" dt="2026-02-18T20:39:51.610" v="4057" actId="27636"/>
        <pc:sldMkLst>
          <pc:docMk/>
          <pc:sldMk cId="1223004753" sldId="299"/>
        </pc:sldMkLst>
        <pc:spChg chg="mod">
          <ac:chgData name="Rodrigue Stultiens" userId="32c8340f-74bb-437d-97de-711241a4a663" providerId="ADAL" clId="{66E34C45-0C8F-4FA0-A442-311BF0DA6F31}" dt="2026-02-18T20:39:51.610" v="4057" actId="27636"/>
          <ac:spMkLst>
            <pc:docMk/>
            <pc:sldMk cId="1223004753" sldId="299"/>
            <ac:spMk id="2" creationId="{E64BD87D-7972-C2EF-F5C8-FFBC44993D92}"/>
          </ac:spMkLst>
        </pc:spChg>
      </pc:sldChg>
      <pc:sldChg chg="modSp mod">
        <pc:chgData name="Rodrigue Stultiens" userId="32c8340f-74bb-437d-97de-711241a4a663" providerId="ADAL" clId="{66E34C45-0C8F-4FA0-A442-311BF0DA6F31}" dt="2026-02-03T12:00:02.919" v="3772" actId="14734"/>
        <pc:sldMkLst>
          <pc:docMk/>
          <pc:sldMk cId="1347893606" sldId="302"/>
        </pc:sldMkLst>
        <pc:graphicFrameChg chg="mod modGraphic">
          <ac:chgData name="Rodrigue Stultiens" userId="32c8340f-74bb-437d-97de-711241a4a663" providerId="ADAL" clId="{66E34C45-0C8F-4FA0-A442-311BF0DA6F31}" dt="2026-02-03T12:00:02.919" v="3772" actId="14734"/>
          <ac:graphicFrameMkLst>
            <pc:docMk/>
            <pc:sldMk cId="1347893606" sldId="302"/>
            <ac:graphicFrameMk id="7" creationId="{A269744D-4D36-71BC-42FD-E587B7277487}"/>
          </ac:graphicFrameMkLst>
        </pc:graphicFrameChg>
      </pc:sldChg>
      <pc:sldChg chg="modSp mod ord modNotesTx">
        <pc:chgData name="Rodrigue Stultiens" userId="32c8340f-74bb-437d-97de-711241a4a663" providerId="ADAL" clId="{66E34C45-0C8F-4FA0-A442-311BF0DA6F31}" dt="2026-02-18T20:52:32.856" v="4127" actId="27636"/>
        <pc:sldMkLst>
          <pc:docMk/>
          <pc:sldMk cId="526235548" sldId="303"/>
        </pc:sldMkLst>
        <pc:spChg chg="mod">
          <ac:chgData name="Rodrigue Stultiens" userId="32c8340f-74bb-437d-97de-711241a4a663" providerId="ADAL" clId="{66E34C45-0C8F-4FA0-A442-311BF0DA6F31}" dt="2026-02-18T20:52:32.856" v="4127" actId="27636"/>
          <ac:spMkLst>
            <pc:docMk/>
            <pc:sldMk cId="526235548" sldId="303"/>
            <ac:spMk id="2" creationId="{7D97ED19-1666-73C2-5A68-3A3B3A07868F}"/>
          </ac:spMkLst>
        </pc:spChg>
      </pc:sldChg>
      <pc:sldChg chg="modSp add del mod">
        <pc:chgData name="Rodrigue Stultiens" userId="32c8340f-74bb-437d-97de-711241a4a663" providerId="ADAL" clId="{66E34C45-0C8F-4FA0-A442-311BF0DA6F31}" dt="2026-02-18T20:54:21.372" v="4159" actId="20577"/>
        <pc:sldMkLst>
          <pc:docMk/>
          <pc:sldMk cId="2895273372" sldId="305"/>
        </pc:sldMkLst>
        <pc:spChg chg="mod">
          <ac:chgData name="Rodrigue Stultiens" userId="32c8340f-74bb-437d-97de-711241a4a663" providerId="ADAL" clId="{66E34C45-0C8F-4FA0-A442-311BF0DA6F31}" dt="2026-02-18T20:54:21.372" v="4159" actId="20577"/>
          <ac:spMkLst>
            <pc:docMk/>
            <pc:sldMk cId="2895273372" sldId="305"/>
            <ac:spMk id="3" creationId="{A42AC493-B63E-88EB-083E-293E07198A39}"/>
          </ac:spMkLst>
        </pc:spChg>
      </pc:sldChg>
      <pc:sldChg chg="modSp mod">
        <pc:chgData name="Rodrigue Stultiens" userId="32c8340f-74bb-437d-97de-711241a4a663" providerId="ADAL" clId="{66E34C45-0C8F-4FA0-A442-311BF0DA6F31}" dt="2026-02-18T21:01:58.842" v="4382" actId="20577"/>
        <pc:sldMkLst>
          <pc:docMk/>
          <pc:sldMk cId="3171853691" sldId="312"/>
        </pc:sldMkLst>
        <pc:spChg chg="mod">
          <ac:chgData name="Rodrigue Stultiens" userId="32c8340f-74bb-437d-97de-711241a4a663" providerId="ADAL" clId="{66E34C45-0C8F-4FA0-A442-311BF0DA6F31}" dt="2026-02-18T21:01:54.697" v="4380" actId="20577"/>
          <ac:spMkLst>
            <pc:docMk/>
            <pc:sldMk cId="3171853691" sldId="312"/>
            <ac:spMk id="3" creationId="{5F1E4AE1-51A4-C898-787A-CCCDA8A97DEA}"/>
          </ac:spMkLst>
        </pc:spChg>
        <pc:spChg chg="mod">
          <ac:chgData name="Rodrigue Stultiens" userId="32c8340f-74bb-437d-97de-711241a4a663" providerId="ADAL" clId="{66E34C45-0C8F-4FA0-A442-311BF0DA6F31}" dt="2026-02-18T21:01:58.842" v="4382" actId="20577"/>
          <ac:spMkLst>
            <pc:docMk/>
            <pc:sldMk cId="3171853691" sldId="312"/>
            <ac:spMk id="5" creationId="{22EA70D7-F926-B41C-E240-0EECC6A622A5}"/>
          </ac:spMkLst>
        </pc:spChg>
      </pc:sldChg>
      <pc:sldChg chg="addSp delSp modSp new mod">
        <pc:chgData name="Rodrigue Stultiens" userId="32c8340f-74bb-437d-97de-711241a4a663" providerId="ADAL" clId="{66E34C45-0C8F-4FA0-A442-311BF0DA6F31}" dt="2026-02-18T21:03:37.625" v="4400" actId="20577"/>
        <pc:sldMkLst>
          <pc:docMk/>
          <pc:sldMk cId="3559505935" sldId="313"/>
        </pc:sldMkLst>
        <pc:spChg chg="mod">
          <ac:chgData name="Rodrigue Stultiens" userId="32c8340f-74bb-437d-97de-711241a4a663" providerId="ADAL" clId="{66E34C45-0C8F-4FA0-A442-311BF0DA6F31}" dt="2026-02-18T21:03:37.625" v="4400" actId="20577"/>
          <ac:spMkLst>
            <pc:docMk/>
            <pc:sldMk cId="3559505935" sldId="313"/>
            <ac:spMk id="3" creationId="{C3576A6C-7639-B013-5337-15C3B3A296DB}"/>
          </ac:spMkLst>
        </pc:spChg>
        <pc:picChg chg="add mod ord">
          <ac:chgData name="Rodrigue Stultiens" userId="32c8340f-74bb-437d-97de-711241a4a663" providerId="ADAL" clId="{66E34C45-0C8F-4FA0-A442-311BF0DA6F31}" dt="2026-02-16T09:56:46.990" v="4028" actId="1076"/>
          <ac:picMkLst>
            <pc:docMk/>
            <pc:sldMk cId="3559505935" sldId="313"/>
            <ac:picMk id="6" creationId="{14F1A14D-9C11-B9C7-60D3-21786A479649}"/>
          </ac:picMkLst>
        </pc:picChg>
        <pc:picChg chg="add mod">
          <ac:chgData name="Rodrigue Stultiens" userId="32c8340f-74bb-437d-97de-711241a4a663" providerId="ADAL" clId="{66E34C45-0C8F-4FA0-A442-311BF0DA6F31}" dt="2026-02-16T09:56:43.822" v="4027" actId="1076"/>
          <ac:picMkLst>
            <pc:docMk/>
            <pc:sldMk cId="3559505935" sldId="313"/>
            <ac:picMk id="8" creationId="{7427D861-DC52-139A-837E-DF55732E9746}"/>
          </ac:picMkLst>
        </pc:picChg>
        <pc:picChg chg="add mod">
          <ac:chgData name="Rodrigue Stultiens" userId="32c8340f-74bb-437d-97de-711241a4a663" providerId="ADAL" clId="{66E34C45-0C8F-4FA0-A442-311BF0DA6F31}" dt="2026-02-16T09:56:49.948" v="4029" actId="1076"/>
          <ac:picMkLst>
            <pc:docMk/>
            <pc:sldMk cId="3559505935" sldId="313"/>
            <ac:picMk id="10" creationId="{C7E8E2FD-481E-7297-0431-F1788E1DC979}"/>
          </ac:picMkLst>
        </pc:picChg>
        <pc:picChg chg="add mod">
          <ac:chgData name="Rodrigue Stultiens" userId="32c8340f-74bb-437d-97de-711241a4a663" providerId="ADAL" clId="{66E34C45-0C8F-4FA0-A442-311BF0DA6F31}" dt="2026-02-16T09:56:37.138" v="4026" actId="14100"/>
          <ac:picMkLst>
            <pc:docMk/>
            <pc:sldMk cId="3559505935" sldId="313"/>
            <ac:picMk id="12" creationId="{CD7C1844-64BE-4662-C640-912766EE19F8}"/>
          </ac:picMkLst>
        </pc:picChg>
      </pc:sldChg>
      <pc:sldChg chg="modSp new mod">
        <pc:chgData name="Rodrigue Stultiens" userId="32c8340f-74bb-437d-97de-711241a4a663" providerId="ADAL" clId="{66E34C45-0C8F-4FA0-A442-311BF0DA6F31}" dt="2026-02-16T10:06:47.383" v="4055" actId="207"/>
        <pc:sldMkLst>
          <pc:docMk/>
          <pc:sldMk cId="4224762564" sldId="314"/>
        </pc:sldMkLst>
        <pc:spChg chg="mod">
          <ac:chgData name="Rodrigue Stultiens" userId="32c8340f-74bb-437d-97de-711241a4a663" providerId="ADAL" clId="{66E34C45-0C8F-4FA0-A442-311BF0DA6F31}" dt="2026-02-16T10:06:47.383" v="4055" actId="207"/>
          <ac:spMkLst>
            <pc:docMk/>
            <pc:sldMk cId="4224762564" sldId="314"/>
            <ac:spMk id="2" creationId="{845763F1-49B2-30F1-F720-0CC1E2EB6A23}"/>
          </ac:spMkLst>
        </pc:spChg>
        <pc:spChg chg="mod">
          <ac:chgData name="Rodrigue Stultiens" userId="32c8340f-74bb-437d-97de-711241a4a663" providerId="ADAL" clId="{66E34C45-0C8F-4FA0-A442-311BF0DA6F31}" dt="2026-02-16T10:05:12.219" v="4040" actId="20577"/>
          <ac:spMkLst>
            <pc:docMk/>
            <pc:sldMk cId="4224762564" sldId="314"/>
            <ac:spMk id="3" creationId="{766868CC-A079-4606-2BDF-5A1C059DF96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99E035-D9FB-480A-A3BB-FC9032D4B8F4}" type="datetimeFigureOut">
              <a:rPr lang="en-US" smtClean="0"/>
              <a:t>2/18/2026</a:t>
            </a:fld>
            <a:endParaRPr lang="en-US" dirty="0"/>
          </a:p>
        </p:txBody>
      </p:sp>
      <p:sp>
        <p:nvSpPr>
          <p:cNvPr id="4" name="Tijdelijke aanduiding voor dia-afbeelding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Click to edit the model styles</a:t>
            </a:r>
          </a:p>
          <a:p>
            <a:pPr lvl="1"/>
            <a:r>
              <a:rPr lang="nl-NL"/>
              <a:t>Second level</a:t>
            </a:r>
          </a:p>
          <a:p>
            <a:pPr lvl="2"/>
            <a:r>
              <a:rPr lang="nl-NL"/>
              <a:t>Third level</a:t>
            </a:r>
          </a:p>
          <a:p>
            <a:pPr lvl="3"/>
            <a:r>
              <a:rPr lang="nl-NL"/>
              <a:t>Fourth level</a:t>
            </a:r>
          </a:p>
          <a:p>
            <a:pPr lvl="4"/>
            <a:r>
              <a:rPr lang="nl-NL"/>
              <a:t>Fifth level</a:t>
            </a:r>
            <a:endParaRPr lang="en-US"/>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D90298-A67F-4B2E-8666-E8ABD7FC38E7}" type="slidenum">
              <a:rPr lang="en-US" smtClean="0"/>
              <a:t>‹#›</a:t>
            </a:fld>
            <a:endParaRPr lang="en-US" dirty="0"/>
          </a:p>
        </p:txBody>
      </p:sp>
    </p:spTree>
    <p:extLst>
      <p:ext uri="{BB962C8B-B14F-4D97-AF65-F5344CB8AC3E}">
        <p14:creationId xmlns:p14="http://schemas.microsoft.com/office/powerpoint/2010/main" val="2611473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BE" dirty="0"/>
          </a:p>
        </p:txBody>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10"/>
          </p:nvPr>
        </p:nvSpPr>
        <p:spPr/>
        <p:txBody>
          <a:bodyPr/>
          <a:lstStyle/>
          <a:p>
            <a:fld id="{8AD90298-A67F-4B2E-8666-E8ABD7FC38E7}" type="slidenum">
              <a:rPr lang="en-US" smtClean="0"/>
              <a:t>1</a:t>
            </a:fld>
            <a:endParaRPr lang="en-US" dirty="0"/>
          </a:p>
        </p:txBody>
      </p:sp>
    </p:spTree>
    <p:extLst>
      <p:ext uri="{BB962C8B-B14F-4D97-AF65-F5344CB8AC3E}">
        <p14:creationId xmlns:p14="http://schemas.microsoft.com/office/powerpoint/2010/main" val="3310679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dirty="0"/>
          </a:p>
        </p:txBody>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5"/>
          </p:nvPr>
        </p:nvSpPr>
        <p:spPr/>
        <p:txBody>
          <a:bodyPr/>
          <a:lstStyle/>
          <a:p>
            <a:fld id="{F612314D-8DF0-4D52-A885-1936B5C52DDA}" type="slidenum">
              <a:rPr lang="en-US" smtClean="0"/>
              <a:t>2</a:t>
            </a:fld>
            <a:endParaRPr lang="en-US" dirty="0"/>
          </a:p>
        </p:txBody>
      </p:sp>
    </p:spTree>
    <p:extLst>
      <p:ext uri="{BB962C8B-B14F-4D97-AF65-F5344CB8AC3E}">
        <p14:creationId xmlns:p14="http://schemas.microsoft.com/office/powerpoint/2010/main" val="39893468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noProof="0" dirty="0"/>
          </a:p>
        </p:txBody>
      </p:sp>
      <p:sp>
        <p:nvSpPr>
          <p:cNvPr id="3" name="Notes Placeholder 2"/>
          <p:cNvSpPr>
            <a:spLocks noGrp="1"/>
          </p:cNvSpPr>
          <p:nvPr>
            <p:ph type="body" idx="1"/>
          </p:nvPr>
        </p:nvSpPr>
        <p:spPr/>
        <p:txBody>
          <a:bodyPr/>
          <a:lstStyle/>
          <a:p>
            <a:r>
              <a:rPr lang="en-GB" noProof="0" dirty="0"/>
              <a:t>Even in Waterfall there is some iteration taking place on individual steps. You first state high level requirements, that will then be broken up in smaller pieces.</a:t>
            </a:r>
          </a:p>
          <a:p>
            <a:r>
              <a:rPr lang="en-GB" noProof="0" dirty="0"/>
              <a:t>But also looking at e.g. the testing faze, you will need to include requirements that are specifically enough so that at the end when the SW is delivered for validation, that these requirements can be objectively tested and so  that show that the SW meets these requirements. </a:t>
            </a:r>
          </a:p>
        </p:txBody>
      </p:sp>
      <p:sp>
        <p:nvSpPr>
          <p:cNvPr id="4" name="Slide Number Placeholder 3"/>
          <p:cNvSpPr>
            <a:spLocks noGrp="1"/>
          </p:cNvSpPr>
          <p:nvPr>
            <p:ph type="sldNum" sz="quarter" idx="5"/>
          </p:nvPr>
        </p:nvSpPr>
        <p:spPr/>
        <p:txBody>
          <a:bodyPr/>
          <a:lstStyle/>
          <a:p>
            <a:fld id="{8AD90298-A67F-4B2E-8666-E8ABD7FC38E7}" type="slidenum">
              <a:rPr lang="en-GB" noProof="0" smtClean="0"/>
              <a:t>3</a:t>
            </a:fld>
            <a:endParaRPr lang="en-GB" noProof="0" dirty="0"/>
          </a:p>
        </p:txBody>
      </p:sp>
    </p:spTree>
    <p:extLst>
      <p:ext uri="{BB962C8B-B14F-4D97-AF65-F5344CB8AC3E}">
        <p14:creationId xmlns:p14="http://schemas.microsoft.com/office/powerpoint/2010/main" val="212286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dirty="0"/>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Stakeholders may have direct experience with technical issues and are used to specifying solutions, not just problems.​</a:t>
            </a:r>
          </a:p>
          <a:p>
            <a:r>
              <a:rPr lang="en-US" sz="1200" b="0" i="0" kern="1200" dirty="0">
                <a:solidFill>
                  <a:schemeClr val="tx1"/>
                </a:solidFill>
                <a:effectLst/>
                <a:latin typeface="+mn-lt"/>
                <a:ea typeface="+mn-ea"/>
                <a:cs typeface="+mn-cs"/>
              </a:rPr>
              <a:t>Past project failures due to misunderstood expectations make some organizations "</a:t>
            </a:r>
            <a:r>
              <a:rPr lang="en-US" sz="1200" b="1" i="0" kern="1200" dirty="0">
                <a:solidFill>
                  <a:schemeClr val="tx1"/>
                </a:solidFill>
                <a:effectLst/>
                <a:latin typeface="+mn-lt"/>
                <a:ea typeface="+mn-ea"/>
                <a:cs typeface="+mn-cs"/>
              </a:rPr>
              <a:t>over-specify</a:t>
            </a:r>
            <a:r>
              <a:rPr lang="en-US" sz="1200" b="0" i="0" kern="1200" dirty="0">
                <a:solidFill>
                  <a:schemeClr val="tx1"/>
                </a:solidFill>
                <a:effectLst/>
                <a:latin typeface="+mn-lt"/>
                <a:ea typeface="+mn-ea"/>
                <a:cs typeface="+mn-cs"/>
              </a:rPr>
              <a:t>" solutions to avoid ambiguity.​</a:t>
            </a:r>
          </a:p>
          <a:p>
            <a:r>
              <a:rPr lang="en-US" sz="1200" b="0" i="0" kern="1200" dirty="0">
                <a:solidFill>
                  <a:schemeClr val="tx1"/>
                </a:solidFill>
                <a:effectLst/>
                <a:latin typeface="+mn-lt"/>
                <a:ea typeface="+mn-ea"/>
                <a:cs typeface="+mn-cs"/>
              </a:rPr>
              <a:t>Legacy systems and integration requirements sometimes require very precise implementation details up front, especially in environments with complex enterprise architectures.​</a:t>
            </a:r>
          </a:p>
          <a:p>
            <a:r>
              <a:rPr lang="en-US" sz="1200" b="0" i="0" kern="1200" dirty="0">
                <a:solidFill>
                  <a:schemeClr val="tx1"/>
                </a:solidFill>
                <a:effectLst/>
                <a:latin typeface="+mn-lt"/>
                <a:ea typeface="+mn-ea"/>
                <a:cs typeface="+mn-cs"/>
              </a:rPr>
              <a:t>Vendors and external partners frequently request detailed specs to confirm feasibility or to price the project, forcing requirements to mix "what" and "how".​</a:t>
            </a:r>
          </a:p>
          <a:p>
            <a:endParaRPr lang="nl-BE" dirty="0"/>
          </a:p>
          <a:p>
            <a:r>
              <a:rPr lang="nl-BE" dirty="0"/>
              <a:t>Consequences:</a:t>
            </a:r>
          </a:p>
          <a:p>
            <a:r>
              <a:rPr lang="en-US" sz="1200" b="1" i="0" u="sng" kern="1200" dirty="0">
                <a:solidFill>
                  <a:schemeClr val="tx1"/>
                </a:solidFill>
                <a:effectLst/>
                <a:latin typeface="+mn-lt"/>
                <a:ea typeface="+mn-ea"/>
                <a:cs typeface="+mn-cs"/>
              </a:rPr>
              <a:t>Missed Business Needs:</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Focusing too much on "how" distracts from the actual business problem. For example, insisting on an outdated technology because “that’s how it’s always been done” may result in a system that doesn’t actually solve stakeholder needs or isn’t future-proof.​</a:t>
            </a:r>
          </a:p>
          <a:p>
            <a:r>
              <a:rPr lang="en-US" sz="1200" b="1" i="0" u="sng" kern="1200" dirty="0">
                <a:solidFill>
                  <a:schemeClr val="tx1"/>
                </a:solidFill>
                <a:effectLst/>
                <a:latin typeface="+mn-lt"/>
                <a:ea typeface="+mn-ea"/>
                <a:cs typeface="+mn-cs"/>
              </a:rPr>
              <a:t>Conflict and Change Management:</a:t>
            </a:r>
            <a:r>
              <a:rPr lang="en-US" sz="1200" b="0" i="0" kern="1200" dirty="0">
                <a:solidFill>
                  <a:schemeClr val="tx1"/>
                </a:solidFill>
                <a:effectLst/>
                <a:latin typeface="+mn-lt"/>
                <a:ea typeface="+mn-ea"/>
                <a:cs typeface="+mn-cs"/>
              </a:rPr>
              <a:t> When requirements are too prescriptive, any change to technology or approach later in the project becomes harder, leading to scope creep, costly redesigns, or stakeholder disagreements.​</a:t>
            </a:r>
          </a:p>
          <a:p>
            <a:r>
              <a:rPr lang="en-US" sz="1200" b="1" i="0" u="sng" kern="1200" dirty="0">
                <a:solidFill>
                  <a:schemeClr val="tx1"/>
                </a:solidFill>
                <a:effectLst/>
                <a:latin typeface="+mn-lt"/>
                <a:ea typeface="+mn-ea"/>
                <a:cs typeface="+mn-cs"/>
              </a:rPr>
              <a:t>Innovation Loss:</a:t>
            </a:r>
            <a:r>
              <a:rPr lang="en-US" sz="1200" b="0" i="0" kern="1200" dirty="0">
                <a:solidFill>
                  <a:schemeClr val="tx1"/>
                </a:solidFill>
                <a:effectLst/>
                <a:latin typeface="+mn-lt"/>
                <a:ea typeface="+mn-ea"/>
                <a:cs typeface="+mn-cs"/>
              </a:rPr>
              <a:t> Developers are prevented from proposing efficient alternatives when implementation is dictated in the requirements.​</a:t>
            </a:r>
          </a:p>
          <a:p>
            <a:r>
              <a:rPr lang="en-US" sz="1200" b="1" i="0" u="sng" kern="1200" dirty="0">
                <a:solidFill>
                  <a:schemeClr val="tx1"/>
                </a:solidFill>
                <a:effectLst/>
                <a:latin typeface="+mn-lt"/>
                <a:ea typeface="+mn-ea"/>
                <a:cs typeface="+mn-cs"/>
              </a:rPr>
              <a:t>Ambiguity:</a:t>
            </a:r>
            <a:r>
              <a:rPr lang="en-US" sz="1200" b="0" i="0" kern="1200" dirty="0">
                <a:solidFill>
                  <a:schemeClr val="tx1"/>
                </a:solidFill>
                <a:effectLst/>
                <a:latin typeface="+mn-lt"/>
                <a:ea typeface="+mn-ea"/>
                <a:cs typeface="+mn-cs"/>
              </a:rPr>
              <a:t> If "how" is described in vague terms, it can lead to misunderstandings, rework, and missed expectations at delivery.</a:t>
            </a:r>
          </a:p>
          <a:p>
            <a:endParaRPr lang="nl-BE" dirty="0"/>
          </a:p>
        </p:txBody>
      </p:sp>
      <p:sp>
        <p:nvSpPr>
          <p:cNvPr id="4" name="Slide Number Placeholder 3"/>
          <p:cNvSpPr>
            <a:spLocks noGrp="1"/>
          </p:cNvSpPr>
          <p:nvPr>
            <p:ph type="sldNum" sz="quarter" idx="5"/>
          </p:nvPr>
        </p:nvSpPr>
        <p:spPr/>
        <p:txBody>
          <a:bodyPr/>
          <a:lstStyle/>
          <a:p>
            <a:fld id="{8AD90298-A67F-4B2E-8666-E8ABD7FC38E7}" type="slidenum">
              <a:rPr lang="en-US" smtClean="0"/>
              <a:t>4</a:t>
            </a:fld>
            <a:endParaRPr lang="en-US" dirty="0"/>
          </a:p>
        </p:txBody>
      </p:sp>
    </p:spTree>
    <p:extLst>
      <p:ext uri="{BB962C8B-B14F-4D97-AF65-F5344CB8AC3E}">
        <p14:creationId xmlns:p14="http://schemas.microsoft.com/office/powerpoint/2010/main" val="5665555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dirty="0"/>
          </a:p>
        </p:txBody>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5"/>
          </p:nvPr>
        </p:nvSpPr>
        <p:spPr/>
        <p:txBody>
          <a:bodyPr/>
          <a:lstStyle/>
          <a:p>
            <a:fld id="{8AD90298-A67F-4B2E-8666-E8ABD7FC38E7}" type="slidenum">
              <a:rPr lang="en-US" smtClean="0"/>
              <a:t>5</a:t>
            </a:fld>
            <a:endParaRPr lang="en-US" dirty="0"/>
          </a:p>
        </p:txBody>
      </p:sp>
    </p:spTree>
    <p:extLst>
      <p:ext uri="{BB962C8B-B14F-4D97-AF65-F5344CB8AC3E}">
        <p14:creationId xmlns:p14="http://schemas.microsoft.com/office/powerpoint/2010/main" val="6203495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A97BE-F695-059F-39FB-F0237BD88C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5830D4-1167-B593-C2B5-C1252F4892CA}"/>
              </a:ext>
            </a:extLst>
          </p:cNvPr>
          <p:cNvSpPr>
            <a:spLocks noGrp="1" noRot="1" noChangeAspect="1"/>
          </p:cNvSpPr>
          <p:nvPr>
            <p:ph type="sldImg"/>
          </p:nvPr>
        </p:nvSpPr>
        <p:spPr/>
        <p:txBody>
          <a:bodyPr/>
          <a:lstStyle/>
          <a:p>
            <a:endParaRPr lang="nl-BE" dirty="0"/>
          </a:p>
        </p:txBody>
      </p:sp>
      <p:sp>
        <p:nvSpPr>
          <p:cNvPr id="3" name="Notes Placeholder 2">
            <a:extLst>
              <a:ext uri="{FF2B5EF4-FFF2-40B4-BE49-F238E27FC236}">
                <a16:creationId xmlns:a16="http://schemas.microsoft.com/office/drawing/2014/main" id="{E919379F-457F-4861-B3A2-2690F889D341}"/>
              </a:ext>
            </a:extLst>
          </p:cNvPr>
          <p:cNvSpPr>
            <a:spLocks noGrp="1"/>
          </p:cNvSpPr>
          <p:nvPr>
            <p:ph type="body" idx="1"/>
          </p:nvPr>
        </p:nvSpPr>
        <p:spPr/>
        <p:txBody>
          <a:bodyPr/>
          <a:lstStyle/>
          <a:p>
            <a:r>
              <a:rPr lang="nl-BE" dirty="0"/>
              <a:t>Example functional: </a:t>
            </a:r>
            <a:r>
              <a:rPr lang="en-US" sz="1200" b="0" i="1" u="none" strike="noStrike" kern="1200" baseline="0" dirty="0">
                <a:solidFill>
                  <a:schemeClr val="tx1"/>
                </a:solidFill>
                <a:latin typeface="+mn-lt"/>
                <a:ea typeface="+mn-ea"/>
                <a:cs typeface="+mn-cs"/>
              </a:rPr>
              <a:t>The system shall continuously display the temperatures of all the machines.</a:t>
            </a:r>
            <a:endParaRPr lang="nl-BE" dirty="0"/>
          </a:p>
        </p:txBody>
      </p:sp>
      <p:sp>
        <p:nvSpPr>
          <p:cNvPr id="4" name="Slide Number Placeholder 3">
            <a:extLst>
              <a:ext uri="{FF2B5EF4-FFF2-40B4-BE49-F238E27FC236}">
                <a16:creationId xmlns:a16="http://schemas.microsoft.com/office/drawing/2014/main" id="{25F0C0DD-381F-9AD4-B192-8A07909DEF23}"/>
              </a:ext>
            </a:extLst>
          </p:cNvPr>
          <p:cNvSpPr>
            <a:spLocks noGrp="1"/>
          </p:cNvSpPr>
          <p:nvPr>
            <p:ph type="sldNum" sz="quarter" idx="5"/>
          </p:nvPr>
        </p:nvSpPr>
        <p:spPr/>
        <p:txBody>
          <a:bodyPr/>
          <a:lstStyle/>
          <a:p>
            <a:fld id="{8AD90298-A67F-4B2E-8666-E8ABD7FC38E7}" type="slidenum">
              <a:rPr lang="en-US" smtClean="0"/>
              <a:t>6</a:t>
            </a:fld>
            <a:endParaRPr lang="en-US" dirty="0"/>
          </a:p>
        </p:txBody>
      </p:sp>
    </p:spTree>
    <p:extLst>
      <p:ext uri="{BB962C8B-B14F-4D97-AF65-F5344CB8AC3E}">
        <p14:creationId xmlns:p14="http://schemas.microsoft.com/office/powerpoint/2010/main" val="15711159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BE" dirty="0"/>
          </a:p>
        </p:txBody>
      </p:sp>
      <p:sp>
        <p:nvSpPr>
          <p:cNvPr id="3" name="Tijdelijke aanduiding voor notities 2"/>
          <p:cNvSpPr>
            <a:spLocks noGrp="1"/>
          </p:cNvSpPr>
          <p:nvPr>
            <p:ph type="body" idx="1"/>
          </p:nvPr>
        </p:nvSpPr>
        <p:spPr/>
        <p:txBody>
          <a:bodyPr/>
          <a:lstStyle/>
          <a:p>
            <a:r>
              <a:rPr lang="en-US" dirty="0"/>
              <a:t>Eg: routers </a:t>
            </a:r>
            <a:r>
              <a:rPr lang="en-US" baseline="0" dirty="0"/>
              <a:t>and switches in operation of 100Mbps instead of 1Gbps</a:t>
            </a:r>
            <a:endParaRPr lang="en-US" dirty="0"/>
          </a:p>
        </p:txBody>
      </p:sp>
      <p:sp>
        <p:nvSpPr>
          <p:cNvPr id="4" name="Tijdelijke aanduiding voor dianummer 3"/>
          <p:cNvSpPr>
            <a:spLocks noGrp="1"/>
          </p:cNvSpPr>
          <p:nvPr>
            <p:ph type="sldNum" sz="quarter" idx="10"/>
          </p:nvPr>
        </p:nvSpPr>
        <p:spPr/>
        <p:txBody>
          <a:bodyPr/>
          <a:lstStyle/>
          <a:p>
            <a:fld id="{8AD90298-A67F-4B2E-8666-E8ABD7FC38E7}" type="slidenum">
              <a:rPr lang="en-US" smtClean="0"/>
              <a:t>9</a:t>
            </a:fld>
            <a:endParaRPr lang="en-US" dirty="0"/>
          </a:p>
        </p:txBody>
      </p:sp>
    </p:spTree>
    <p:extLst>
      <p:ext uri="{BB962C8B-B14F-4D97-AF65-F5344CB8AC3E}">
        <p14:creationId xmlns:p14="http://schemas.microsoft.com/office/powerpoint/2010/main" val="24168123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BE" dirty="0"/>
          </a:p>
        </p:txBody>
      </p:sp>
      <p:sp>
        <p:nvSpPr>
          <p:cNvPr id="3" name="Tijdelijke aanduiding voor notities 2"/>
          <p:cNvSpPr>
            <a:spLocks noGrp="1"/>
          </p:cNvSpPr>
          <p:nvPr>
            <p:ph type="body" idx="1"/>
          </p:nvPr>
        </p:nvSpPr>
        <p:spPr/>
        <p:txBody>
          <a:bodyPr/>
          <a:lstStyle/>
          <a:p>
            <a:r>
              <a:rPr lang="en-US" dirty="0"/>
              <a:t>Eg: Server </a:t>
            </a:r>
            <a:r>
              <a:rPr lang="en-US" baseline="0" dirty="0"/>
              <a:t>available -&gt; retrospective in requirements, still software so only limited use.</a:t>
            </a:r>
          </a:p>
          <a:p>
            <a:r>
              <a:rPr lang="en-US" baseline="0" dirty="0"/>
              <a:t>Unambiguous: Do not use subjective words</a:t>
            </a:r>
            <a:endParaRPr lang="en-US" dirty="0"/>
          </a:p>
        </p:txBody>
      </p:sp>
      <p:sp>
        <p:nvSpPr>
          <p:cNvPr id="4" name="Tijdelijke aanduiding voor dianummer 3"/>
          <p:cNvSpPr>
            <a:spLocks noGrp="1"/>
          </p:cNvSpPr>
          <p:nvPr>
            <p:ph type="sldNum" sz="quarter" idx="10"/>
          </p:nvPr>
        </p:nvSpPr>
        <p:spPr/>
        <p:txBody>
          <a:bodyPr/>
          <a:lstStyle/>
          <a:p>
            <a:fld id="{8AD90298-A67F-4B2E-8666-E8ABD7FC38E7}" type="slidenum">
              <a:rPr lang="en-US" smtClean="0"/>
              <a:t>10</a:t>
            </a:fld>
            <a:endParaRPr lang="en-US" dirty="0"/>
          </a:p>
        </p:txBody>
      </p:sp>
    </p:spTree>
    <p:extLst>
      <p:ext uri="{BB962C8B-B14F-4D97-AF65-F5344CB8AC3E}">
        <p14:creationId xmlns:p14="http://schemas.microsoft.com/office/powerpoint/2010/main" val="24347893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BE" dirty="0"/>
          </a:p>
        </p:txBody>
      </p:sp>
      <p:sp>
        <p:nvSpPr>
          <p:cNvPr id="3" name="Tijdelijke aanduiding voor notities 2"/>
          <p:cNvSpPr>
            <a:spLocks noGrp="1"/>
          </p:cNvSpPr>
          <p:nvPr>
            <p:ph type="body" idx="1"/>
          </p:nvPr>
        </p:nvSpPr>
        <p:spPr/>
        <p:txBody>
          <a:bodyPr/>
          <a:lstStyle/>
          <a:p>
            <a:r>
              <a:rPr lang="en-US" dirty="0"/>
              <a:t>Issues:</a:t>
            </a:r>
          </a:p>
          <a:p>
            <a:r>
              <a:rPr lang="en-US" dirty="0"/>
              <a:t>Java: </a:t>
            </a:r>
            <a:r>
              <a:rPr lang="en-US" baseline="0" dirty="0"/>
              <a:t>How, not what</a:t>
            </a:r>
          </a:p>
          <a:p>
            <a:r>
              <a:rPr lang="en-US" baseline="0" dirty="0"/>
              <a:t>Two functions inadequately described</a:t>
            </a:r>
          </a:p>
          <a:p>
            <a:r>
              <a:rPr lang="en-US" baseline="0" dirty="0"/>
              <a:t>User-friendly interface: Too vague, what is user-friendly?</a:t>
            </a:r>
            <a:endParaRPr lang="en-US" dirty="0"/>
          </a:p>
        </p:txBody>
      </p:sp>
      <p:sp>
        <p:nvSpPr>
          <p:cNvPr id="4" name="Tijdelijke aanduiding voor dianummer 3"/>
          <p:cNvSpPr>
            <a:spLocks noGrp="1"/>
          </p:cNvSpPr>
          <p:nvPr>
            <p:ph type="sldNum" sz="quarter" idx="10"/>
          </p:nvPr>
        </p:nvSpPr>
        <p:spPr/>
        <p:txBody>
          <a:bodyPr/>
          <a:lstStyle/>
          <a:p>
            <a:fld id="{8AD90298-A67F-4B2E-8666-E8ABD7FC38E7}" type="slidenum">
              <a:rPr lang="en-US" smtClean="0"/>
              <a:t>12</a:t>
            </a:fld>
            <a:endParaRPr lang="en-US" dirty="0"/>
          </a:p>
        </p:txBody>
      </p:sp>
    </p:spTree>
    <p:extLst>
      <p:ext uri="{BB962C8B-B14F-4D97-AF65-F5344CB8AC3E}">
        <p14:creationId xmlns:p14="http://schemas.microsoft.com/office/powerpoint/2010/main" val="13945374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nl-BE" dirty="0"/>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3rd item on slide “PROBLEMS (I)”: </a:t>
            </a:r>
            <a:r>
              <a:rPr lang="nl-BE" b="1" dirty="0"/>
              <a:t>Incomplete Functionality Description</a:t>
            </a:r>
          </a:p>
          <a:p>
            <a:endParaRPr lang="nl-BE" dirty="0"/>
          </a:p>
        </p:txBody>
      </p:sp>
      <p:sp>
        <p:nvSpPr>
          <p:cNvPr id="4" name="Slide Number Placeholder 3"/>
          <p:cNvSpPr>
            <a:spLocks noGrp="1"/>
          </p:cNvSpPr>
          <p:nvPr>
            <p:ph type="sldNum" sz="quarter" idx="5"/>
          </p:nvPr>
        </p:nvSpPr>
        <p:spPr/>
        <p:txBody>
          <a:bodyPr/>
          <a:lstStyle/>
          <a:p>
            <a:fld id="{8AD90298-A67F-4B2E-8666-E8ABD7FC38E7}" type="slidenum">
              <a:rPr lang="en-US" smtClean="0"/>
              <a:t>15</a:t>
            </a:fld>
            <a:endParaRPr lang="en-US" dirty="0"/>
          </a:p>
        </p:txBody>
      </p:sp>
    </p:spTree>
    <p:extLst>
      <p:ext uri="{BB962C8B-B14F-4D97-AF65-F5344CB8AC3E}">
        <p14:creationId xmlns:p14="http://schemas.microsoft.com/office/powerpoint/2010/main" val="30317016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4AADC-B782-5AC4-CB5A-57569EFF46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44CD65-C4C4-CFAF-BE41-C04A9A983CE6}"/>
              </a:ext>
            </a:extLst>
          </p:cNvPr>
          <p:cNvSpPr>
            <a:spLocks noGrp="1" noRot="1" noChangeAspect="1"/>
          </p:cNvSpPr>
          <p:nvPr>
            <p:ph type="sldImg"/>
          </p:nvPr>
        </p:nvSpPr>
        <p:spPr/>
        <p:txBody>
          <a:bodyPr/>
          <a:lstStyle/>
          <a:p>
            <a:endParaRPr lang="nl-BE" dirty="0"/>
          </a:p>
        </p:txBody>
      </p:sp>
      <p:sp>
        <p:nvSpPr>
          <p:cNvPr id="3" name="Notes Placeholder 2">
            <a:extLst>
              <a:ext uri="{FF2B5EF4-FFF2-40B4-BE49-F238E27FC236}">
                <a16:creationId xmlns:a16="http://schemas.microsoft.com/office/drawing/2014/main" id="{7F414C56-AB13-DB93-EE1A-BD0BADB0702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3rd item van slide “PROBLEMS (I)” :</a:t>
            </a:r>
            <a:r>
              <a:rPr lang="nl-BE" b="1" dirty="0"/>
              <a:t>Incomplete Functionality Description</a:t>
            </a:r>
          </a:p>
          <a:p>
            <a:endParaRPr lang="nl-BE" dirty="0"/>
          </a:p>
        </p:txBody>
      </p:sp>
      <p:sp>
        <p:nvSpPr>
          <p:cNvPr id="4" name="Slide Number Placeholder 3">
            <a:extLst>
              <a:ext uri="{FF2B5EF4-FFF2-40B4-BE49-F238E27FC236}">
                <a16:creationId xmlns:a16="http://schemas.microsoft.com/office/drawing/2014/main" id="{7F25F9FA-9090-76D7-CF5A-DCDEBFDB97F8}"/>
              </a:ext>
            </a:extLst>
          </p:cNvPr>
          <p:cNvSpPr>
            <a:spLocks noGrp="1"/>
          </p:cNvSpPr>
          <p:nvPr>
            <p:ph type="sldNum" sz="quarter" idx="5"/>
          </p:nvPr>
        </p:nvSpPr>
        <p:spPr/>
        <p:txBody>
          <a:bodyPr/>
          <a:lstStyle/>
          <a:p>
            <a:fld id="{8AD90298-A67F-4B2E-8666-E8ABD7FC38E7}" type="slidenum">
              <a:rPr lang="en-US" smtClean="0"/>
              <a:t>17</a:t>
            </a:fld>
            <a:endParaRPr lang="en-US" dirty="0"/>
          </a:p>
        </p:txBody>
      </p:sp>
    </p:spTree>
    <p:extLst>
      <p:ext uri="{BB962C8B-B14F-4D97-AF65-F5344CB8AC3E}">
        <p14:creationId xmlns:p14="http://schemas.microsoft.com/office/powerpoint/2010/main" val="32904657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4AADC-B782-5AC4-CB5A-57569EFF46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44CD65-C4C4-CFAF-BE41-C04A9A983CE6}"/>
              </a:ext>
            </a:extLst>
          </p:cNvPr>
          <p:cNvSpPr>
            <a:spLocks noGrp="1" noRot="1" noChangeAspect="1"/>
          </p:cNvSpPr>
          <p:nvPr>
            <p:ph type="sldImg"/>
          </p:nvPr>
        </p:nvSpPr>
        <p:spPr/>
        <p:txBody>
          <a:bodyPr/>
          <a:lstStyle/>
          <a:p>
            <a:endParaRPr lang="nl-BE" dirty="0"/>
          </a:p>
        </p:txBody>
      </p:sp>
      <p:sp>
        <p:nvSpPr>
          <p:cNvPr id="3" name="Notes Placeholder 2">
            <a:extLst>
              <a:ext uri="{FF2B5EF4-FFF2-40B4-BE49-F238E27FC236}">
                <a16:creationId xmlns:a16="http://schemas.microsoft.com/office/drawing/2014/main" id="{7F414C56-AB13-DB93-EE1A-BD0BADB07020}"/>
              </a:ext>
            </a:extLst>
          </p:cNvPr>
          <p:cNvSpPr>
            <a:spLocks noGrp="1"/>
          </p:cNvSpPr>
          <p:nvPr>
            <p:ph type="body" idx="1"/>
          </p:nvPr>
        </p:nvSpPr>
        <p:spPr/>
        <p:txBody>
          <a:bodyPr/>
          <a:lstStyle/>
          <a:p>
            <a:r>
              <a:rPr lang="en-GB" noProof="0" dirty="0"/>
              <a:t>SRS= Software requirements Specification</a:t>
            </a:r>
          </a:p>
        </p:txBody>
      </p:sp>
      <p:sp>
        <p:nvSpPr>
          <p:cNvPr id="4" name="Slide Number Placeholder 3">
            <a:extLst>
              <a:ext uri="{FF2B5EF4-FFF2-40B4-BE49-F238E27FC236}">
                <a16:creationId xmlns:a16="http://schemas.microsoft.com/office/drawing/2014/main" id="{7F25F9FA-9090-76D7-CF5A-DCDEBFDB97F8}"/>
              </a:ext>
            </a:extLst>
          </p:cNvPr>
          <p:cNvSpPr>
            <a:spLocks noGrp="1"/>
          </p:cNvSpPr>
          <p:nvPr>
            <p:ph type="sldNum" sz="quarter" idx="5"/>
          </p:nvPr>
        </p:nvSpPr>
        <p:spPr/>
        <p:txBody>
          <a:bodyPr/>
          <a:lstStyle/>
          <a:p>
            <a:fld id="{8AD90298-A67F-4B2E-8666-E8ABD7FC38E7}" type="slidenum">
              <a:rPr lang="en-US" smtClean="0"/>
              <a:t>19</a:t>
            </a:fld>
            <a:endParaRPr lang="en-US" dirty="0"/>
          </a:p>
        </p:txBody>
      </p:sp>
    </p:spTree>
    <p:extLst>
      <p:ext uri="{BB962C8B-B14F-4D97-AF65-F5344CB8AC3E}">
        <p14:creationId xmlns:p14="http://schemas.microsoft.com/office/powerpoint/2010/main" val="6654707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BE" dirty="0"/>
          </a:p>
        </p:txBody>
      </p:sp>
      <p:sp>
        <p:nvSpPr>
          <p:cNvPr id="3" name="Tijdelijke aanduiding voor notities 2"/>
          <p:cNvSpPr>
            <a:spLocks noGrp="1"/>
          </p:cNvSpPr>
          <p:nvPr>
            <p:ph type="body" idx="1"/>
          </p:nvPr>
        </p:nvSpPr>
        <p:spPr/>
        <p:txBody>
          <a:bodyPr/>
          <a:lstStyle/>
          <a:p>
            <a:r>
              <a:rPr lang="en-US" dirty="0"/>
              <a:t>Listening: asking questions to better understand the user, </a:t>
            </a:r>
            <a:r>
              <a:rPr lang="en-US" baseline="0" dirty="0"/>
              <a:t>putting </a:t>
            </a:r>
            <a:r>
              <a:rPr lang="en-US" dirty="0"/>
              <a:t>yourself </a:t>
            </a:r>
            <a:r>
              <a:rPr lang="en-US" baseline="0" dirty="0"/>
              <a:t>in the customer's point of view.</a:t>
            </a:r>
            <a:endParaRPr lang="en-US" dirty="0"/>
          </a:p>
        </p:txBody>
      </p:sp>
      <p:sp>
        <p:nvSpPr>
          <p:cNvPr id="4" name="Tijdelijke aanduiding voor dianummer 3"/>
          <p:cNvSpPr>
            <a:spLocks noGrp="1"/>
          </p:cNvSpPr>
          <p:nvPr>
            <p:ph type="sldNum" sz="quarter" idx="10"/>
          </p:nvPr>
        </p:nvSpPr>
        <p:spPr/>
        <p:txBody>
          <a:bodyPr/>
          <a:lstStyle/>
          <a:p>
            <a:fld id="{8AD90298-A67F-4B2E-8666-E8ABD7FC38E7}" type="slidenum">
              <a:rPr lang="en-US" smtClean="0"/>
              <a:t>23</a:t>
            </a:fld>
            <a:endParaRPr lang="en-US" dirty="0"/>
          </a:p>
        </p:txBody>
      </p:sp>
    </p:spTree>
    <p:extLst>
      <p:ext uri="{BB962C8B-B14F-4D97-AF65-F5344CB8AC3E}">
        <p14:creationId xmlns:p14="http://schemas.microsoft.com/office/powerpoint/2010/main" val="14803926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BE" dirty="0"/>
          </a:p>
        </p:txBody>
      </p:sp>
      <p:sp>
        <p:nvSpPr>
          <p:cNvPr id="3" name="Tijdelijke aanduiding voor notities 2"/>
          <p:cNvSpPr>
            <a:spLocks noGrp="1"/>
          </p:cNvSpPr>
          <p:nvPr>
            <p:ph type="body" idx="1"/>
          </p:nvPr>
        </p:nvSpPr>
        <p:spPr/>
        <p:txBody>
          <a:bodyPr/>
          <a:lstStyle/>
          <a:p>
            <a:r>
              <a:rPr lang="en-US" dirty="0"/>
              <a:t>Both documents should remain consistent</a:t>
            </a:r>
          </a:p>
        </p:txBody>
      </p:sp>
      <p:sp>
        <p:nvSpPr>
          <p:cNvPr id="4" name="Tijdelijke aanduiding voor dianummer 3"/>
          <p:cNvSpPr>
            <a:spLocks noGrp="1"/>
          </p:cNvSpPr>
          <p:nvPr>
            <p:ph type="sldNum" sz="quarter" idx="10"/>
          </p:nvPr>
        </p:nvSpPr>
        <p:spPr/>
        <p:txBody>
          <a:bodyPr/>
          <a:lstStyle/>
          <a:p>
            <a:fld id="{8AD90298-A67F-4B2E-8666-E8ABD7FC38E7}" type="slidenum">
              <a:rPr lang="en-US" smtClean="0"/>
              <a:t>24</a:t>
            </a:fld>
            <a:endParaRPr lang="en-US" dirty="0"/>
          </a:p>
        </p:txBody>
      </p:sp>
    </p:spTree>
    <p:extLst>
      <p:ext uri="{BB962C8B-B14F-4D97-AF65-F5344CB8AC3E}">
        <p14:creationId xmlns:p14="http://schemas.microsoft.com/office/powerpoint/2010/main" val="34408142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BE" dirty="0"/>
          </a:p>
        </p:txBody>
      </p:sp>
      <p:sp>
        <p:nvSpPr>
          <p:cNvPr id="3" name="Tijdelijke aanduiding voor notities 2"/>
          <p:cNvSpPr>
            <a:spLocks noGrp="1"/>
          </p:cNvSpPr>
          <p:nvPr>
            <p:ph type="body" idx="1"/>
          </p:nvPr>
        </p:nvSpPr>
        <p:spPr/>
        <p:txBody>
          <a:bodyPr/>
          <a:lstStyle/>
          <a:p>
            <a:r>
              <a:rPr lang="en-US" dirty="0"/>
              <a:t>Formal: safety-critical software</a:t>
            </a:r>
          </a:p>
        </p:txBody>
      </p:sp>
      <p:sp>
        <p:nvSpPr>
          <p:cNvPr id="4" name="Tijdelijke aanduiding voor dianummer 3"/>
          <p:cNvSpPr>
            <a:spLocks noGrp="1"/>
          </p:cNvSpPr>
          <p:nvPr>
            <p:ph type="sldNum" sz="quarter" idx="10"/>
          </p:nvPr>
        </p:nvSpPr>
        <p:spPr/>
        <p:txBody>
          <a:bodyPr/>
          <a:lstStyle/>
          <a:p>
            <a:fld id="{8AD90298-A67F-4B2E-8666-E8ABD7FC38E7}" type="slidenum">
              <a:rPr lang="en-US" smtClean="0"/>
              <a:t>29</a:t>
            </a:fld>
            <a:endParaRPr lang="en-US" dirty="0"/>
          </a:p>
        </p:txBody>
      </p:sp>
    </p:spTree>
    <p:extLst>
      <p:ext uri="{BB962C8B-B14F-4D97-AF65-F5344CB8AC3E}">
        <p14:creationId xmlns:p14="http://schemas.microsoft.com/office/powerpoint/2010/main" val="21052971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User </a:t>
            </a:r>
            <a:r>
              <a:rPr lang="nl-BE" dirty="0" err="1"/>
              <a:t>Stories</a:t>
            </a:r>
            <a:r>
              <a:rPr lang="nl-BE" dirty="0"/>
              <a:t>: Agile </a:t>
            </a:r>
            <a:r>
              <a:rPr lang="nl-BE" dirty="0" err="1"/>
              <a:t>terminology</a:t>
            </a:r>
            <a:endParaRPr lang="nl-BE" dirty="0"/>
          </a:p>
          <a:p>
            <a:r>
              <a:rPr lang="nl-BE" dirty="0" err="1"/>
              <a:t>Use</a:t>
            </a:r>
            <a:r>
              <a:rPr lang="nl-BE" dirty="0"/>
              <a:t> Cases: </a:t>
            </a:r>
            <a:r>
              <a:rPr lang="nl-BE" dirty="0" err="1"/>
              <a:t>Waterfall</a:t>
            </a:r>
            <a:r>
              <a:rPr lang="nl-BE" dirty="0"/>
              <a:t> </a:t>
            </a:r>
            <a:r>
              <a:rPr lang="nl-BE" dirty="0" err="1"/>
              <a:t>terminology</a:t>
            </a:r>
            <a:endParaRPr lang="nl-BE" dirty="0"/>
          </a:p>
          <a:p>
            <a:endParaRPr lang="nl-BE" dirty="0"/>
          </a:p>
        </p:txBody>
      </p:sp>
      <p:sp>
        <p:nvSpPr>
          <p:cNvPr id="4" name="Slide Number Placeholder 3"/>
          <p:cNvSpPr>
            <a:spLocks noGrp="1"/>
          </p:cNvSpPr>
          <p:nvPr>
            <p:ph type="sldNum" sz="quarter" idx="5"/>
          </p:nvPr>
        </p:nvSpPr>
        <p:spPr/>
        <p:txBody>
          <a:bodyPr/>
          <a:lstStyle/>
          <a:p>
            <a:fld id="{8AD90298-A67F-4B2E-8666-E8ABD7FC38E7}" type="slidenum">
              <a:rPr lang="en-US" smtClean="0"/>
              <a:t>30</a:t>
            </a:fld>
            <a:endParaRPr lang="en-US" dirty="0"/>
          </a:p>
        </p:txBody>
      </p:sp>
    </p:spTree>
    <p:extLst>
      <p:ext uri="{BB962C8B-B14F-4D97-AF65-F5344CB8AC3E}">
        <p14:creationId xmlns:p14="http://schemas.microsoft.com/office/powerpoint/2010/main" val="18467368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5"/>
          </p:nvPr>
        </p:nvSpPr>
        <p:spPr/>
        <p:txBody>
          <a:bodyPr/>
          <a:lstStyle/>
          <a:p>
            <a:fld id="{8AD90298-A67F-4B2E-8666-E8ABD7FC38E7}" type="slidenum">
              <a:rPr lang="en-US" smtClean="0"/>
              <a:t>31</a:t>
            </a:fld>
            <a:endParaRPr lang="en-US" dirty="0"/>
          </a:p>
        </p:txBody>
      </p:sp>
    </p:spTree>
    <p:extLst>
      <p:ext uri="{BB962C8B-B14F-4D97-AF65-F5344CB8AC3E}">
        <p14:creationId xmlns:p14="http://schemas.microsoft.com/office/powerpoint/2010/main" val="17980816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err="1"/>
              <a:t>Writing</a:t>
            </a:r>
            <a:r>
              <a:rPr lang="nl-BE" dirty="0"/>
              <a:t> User </a:t>
            </a:r>
            <a:r>
              <a:rPr lang="nl-BE" dirty="0" err="1"/>
              <a:t>Stories</a:t>
            </a:r>
            <a:r>
              <a:rPr lang="nl-BE" dirty="0"/>
              <a:t>, It’s </a:t>
            </a:r>
            <a:r>
              <a:rPr lang="nl-BE" dirty="0" err="1"/>
              <a:t>about</a:t>
            </a:r>
            <a:r>
              <a:rPr lang="nl-BE" dirty="0"/>
              <a:t> </a:t>
            </a:r>
            <a:r>
              <a:rPr lang="nl-BE" dirty="0" err="1"/>
              <a:t>the</a:t>
            </a:r>
            <a:r>
              <a:rPr lang="nl-BE" dirty="0"/>
              <a:t> </a:t>
            </a:r>
            <a:r>
              <a:rPr lang="nl-BE" dirty="0" err="1"/>
              <a:t>conversation</a:t>
            </a:r>
            <a:r>
              <a:rPr lang="nl-BE" dirty="0"/>
              <a:t> – An Agile Mind =&gt; https://anagilemind.net/2017/10/21/lets-take-a-journey-on-writing-user-stories/</a:t>
            </a:r>
          </a:p>
          <a:p>
            <a:r>
              <a:rPr lang="nl-BE" dirty="0"/>
              <a:t>How </a:t>
            </a:r>
            <a:r>
              <a:rPr lang="nl-BE" dirty="0" err="1"/>
              <a:t>to</a:t>
            </a:r>
            <a:r>
              <a:rPr lang="nl-BE" dirty="0"/>
              <a:t> do User Story </a:t>
            </a:r>
            <a:r>
              <a:rPr lang="nl-BE" dirty="0" err="1"/>
              <a:t>Mapping</a:t>
            </a:r>
            <a:r>
              <a:rPr lang="nl-BE" dirty="0"/>
              <a:t> =&gt; https://www.youtube.com/watch?v=k_4SchJgAI4</a:t>
            </a:r>
          </a:p>
        </p:txBody>
      </p:sp>
      <p:sp>
        <p:nvSpPr>
          <p:cNvPr id="4" name="Slide Number Placeholder 3"/>
          <p:cNvSpPr>
            <a:spLocks noGrp="1"/>
          </p:cNvSpPr>
          <p:nvPr>
            <p:ph type="sldNum" sz="quarter" idx="5"/>
          </p:nvPr>
        </p:nvSpPr>
        <p:spPr/>
        <p:txBody>
          <a:bodyPr/>
          <a:lstStyle/>
          <a:p>
            <a:fld id="{8AD90298-A67F-4B2E-8666-E8ABD7FC38E7}" type="slidenum">
              <a:rPr lang="en-US" smtClean="0"/>
              <a:t>36</a:t>
            </a:fld>
            <a:endParaRPr lang="en-US" dirty="0"/>
          </a:p>
        </p:txBody>
      </p:sp>
    </p:spTree>
    <p:extLst>
      <p:ext uri="{BB962C8B-B14F-4D97-AF65-F5344CB8AC3E}">
        <p14:creationId xmlns:p14="http://schemas.microsoft.com/office/powerpoint/2010/main" val="5158854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 Basic">
    <p:bg bwMode="gray">
      <p:bgPr>
        <a:solidFill>
          <a:srgbClr val="00A0AE"/>
        </a:solidFill>
        <a:effectLst/>
      </p:bgPr>
    </p:bg>
    <p:spTree>
      <p:nvGrpSpPr>
        <p:cNvPr id="1" name=""/>
        <p:cNvGrpSpPr/>
        <p:nvPr/>
      </p:nvGrpSpPr>
      <p:grpSpPr>
        <a:xfrm>
          <a:off x="0" y="0"/>
          <a:ext cx="0" cy="0"/>
          <a:chOff x="0" y="0"/>
          <a:chExt cx="0" cy="0"/>
        </a:xfrm>
      </p:grpSpPr>
      <p:sp>
        <p:nvSpPr>
          <p:cNvPr id="7" name="Rectangle 6"/>
          <p:cNvSpPr/>
          <p:nvPr/>
        </p:nvSpPr>
        <p:spPr>
          <a:xfrm>
            <a:off x="0" y="5958000"/>
            <a:ext cx="9144000" cy="90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18000" rIns="0" bIns="18000" rtlCol="0" anchor="ctr"/>
          <a:lstStyle/>
          <a:p>
            <a:pPr algn="ctr"/>
            <a:endParaRPr lang="nl-BE" sz="1100" dirty="0">
              <a:solidFill>
                <a:schemeClr val="bg1"/>
              </a:solidFill>
            </a:endParaRPr>
          </a:p>
        </p:txBody>
      </p:sp>
      <p:sp>
        <p:nvSpPr>
          <p:cNvPr id="3" name="Subtitle 2"/>
          <p:cNvSpPr>
            <a:spLocks noGrp="1"/>
          </p:cNvSpPr>
          <p:nvPr>
            <p:ph type="subTitle" idx="1"/>
          </p:nvPr>
        </p:nvSpPr>
        <p:spPr>
          <a:xfrm>
            <a:off x="0" y="3357192"/>
            <a:ext cx="9144000" cy="1800000"/>
          </a:xfrm>
          <a:noFill/>
        </p:spPr>
        <p:txBody>
          <a:bodyPr wrap="square" lIns="720000" tIns="180000" rIns="720000" bIns="540000">
            <a:noAutofit/>
          </a:bodyPr>
          <a:lstStyle>
            <a:lvl1pPr marL="0" indent="0" algn="ctr">
              <a:buNone/>
              <a:defRPr sz="3200" cap="none"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nl-BE" dirty="0"/>
          </a:p>
        </p:txBody>
      </p:sp>
      <p:sp>
        <p:nvSpPr>
          <p:cNvPr id="154" name="Title 153"/>
          <p:cNvSpPr>
            <a:spLocks noGrp="1"/>
          </p:cNvSpPr>
          <p:nvPr>
            <p:ph type="title"/>
          </p:nvPr>
        </p:nvSpPr>
        <p:spPr>
          <a:xfrm>
            <a:off x="0" y="1556992"/>
            <a:ext cx="9144000" cy="1800000"/>
          </a:xfrm>
          <a:noFill/>
        </p:spPr>
        <p:txBody>
          <a:bodyPr lIns="720000" tIns="540000" rIns="720000" bIns="180000" anchor="b" anchorCtr="0">
            <a:noAutofit/>
          </a:bodyPr>
          <a:lstStyle>
            <a:lvl1pPr algn="ctr">
              <a:lnSpc>
                <a:spcPct val="90000"/>
              </a:lnSpc>
              <a:defRPr sz="3800" cap="all" baseline="0">
                <a:solidFill>
                  <a:schemeClr val="tx1"/>
                </a:solidFill>
              </a:defRPr>
            </a:lvl1pPr>
          </a:lstStyle>
          <a:p>
            <a:r>
              <a:rPr lang="en-US"/>
              <a:t>Click to edit Master title style</a:t>
            </a:r>
            <a:endParaRPr lang="nl-BE" dirty="0"/>
          </a:p>
        </p:txBody>
      </p:sp>
      <p:pic>
        <p:nvPicPr>
          <p:cNvPr id="10" name="Picture 9" descr="TM_logo_vignet_ppt.jpg"/>
          <p:cNvPicPr>
            <a:picLocks noChangeAspect="1"/>
          </p:cNvPicPr>
          <p:nvPr/>
        </p:nvPicPr>
        <p:blipFill>
          <a:blip r:embed="rId2" cstate="print"/>
          <a:stretch>
            <a:fillRect/>
          </a:stretch>
        </p:blipFill>
        <p:spPr>
          <a:xfrm>
            <a:off x="360000" y="360000"/>
            <a:ext cx="2157984" cy="1155192"/>
          </a:xfrm>
          <a:prstGeom prst="rect">
            <a:avLst/>
          </a:prstGeom>
        </p:spPr>
      </p:pic>
      <p:sp>
        <p:nvSpPr>
          <p:cNvPr id="14" name="Date Placeholder 13"/>
          <p:cNvSpPr>
            <a:spLocks noGrp="1"/>
          </p:cNvSpPr>
          <p:nvPr>
            <p:ph type="dt" sz="half" idx="13"/>
          </p:nvPr>
        </p:nvSpPr>
        <p:spPr>
          <a:xfrm>
            <a:off x="755576" y="6570000"/>
            <a:ext cx="990706" cy="200055"/>
          </a:xfrm>
          <a:solidFill>
            <a:schemeClr val="tx1"/>
          </a:solidFill>
        </p:spPr>
        <p:txBody>
          <a:bodyPr/>
          <a:lstStyle>
            <a:lvl1pPr>
              <a:defRPr sz="1300">
                <a:solidFill>
                  <a:srgbClr val="00A0AE"/>
                </a:solidFill>
              </a:defRPr>
            </a:lvl1pPr>
          </a:lstStyle>
          <a:p>
            <a:fld id="{8F1E55A7-9243-4D2B-B54D-20E6D47E912B}" type="datetime1">
              <a:rPr lang="en-US" smtClean="0"/>
              <a:t>2/18/2026</a:t>
            </a:fld>
            <a:endParaRPr lang="en-US" dirty="0"/>
          </a:p>
        </p:txBody>
      </p:sp>
      <p:sp>
        <p:nvSpPr>
          <p:cNvPr id="20" name="Rectangle 19"/>
          <p:cNvSpPr/>
          <p:nvPr/>
        </p:nvSpPr>
        <p:spPr>
          <a:xfrm>
            <a:off x="0" y="5661248"/>
            <a:ext cx="9144000" cy="288032"/>
          </a:xfrm>
          <a:prstGeom prst="rect">
            <a:avLst/>
          </a:prstGeom>
          <a:solidFill>
            <a:srgbClr val="00A0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descr="image_preview.png"/>
          <p:cNvPicPr>
            <a:picLocks noChangeAspect="1"/>
          </p:cNvPicPr>
          <p:nvPr/>
        </p:nvPicPr>
        <p:blipFill>
          <a:blip r:embed="rId3" cstate="print"/>
          <a:stretch>
            <a:fillRect/>
          </a:stretch>
        </p:blipFill>
        <p:spPr>
          <a:xfrm>
            <a:off x="7632000" y="6192000"/>
            <a:ext cx="1136842" cy="432000"/>
          </a:xfrm>
          <a:prstGeom prst="rect">
            <a:avLst/>
          </a:prstGeom>
        </p:spPr>
      </p:pic>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 Basic">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52000"/>
            <a:ext cx="9144000" cy="4428000"/>
          </a:xfrm>
        </p:spPr>
        <p:txBody>
          <a:bodyPr bIns="144000"/>
          <a:lstStyle>
            <a:lvl1pPr marL="323850" indent="-323850">
              <a:spcBef>
                <a:spcPts val="400"/>
              </a:spcBef>
              <a:spcAft>
                <a:spcPts val="400"/>
              </a:spcAft>
              <a:buClrTx/>
              <a:defRPr/>
            </a:lvl1pPr>
            <a:lvl2pPr marL="723900" indent="-368300">
              <a:spcBef>
                <a:spcPts val="400"/>
              </a:spcBef>
              <a:spcAft>
                <a:spcPts val="400"/>
              </a:spcAft>
              <a:buClrTx/>
              <a:defRPr sz="2500"/>
            </a:lvl2pPr>
            <a:lvl3pPr marL="982663" indent="-258763">
              <a:spcBef>
                <a:spcPts val="400"/>
              </a:spcBef>
              <a:spcAft>
                <a:spcPts val="400"/>
              </a:spcAft>
              <a:buClrTx/>
              <a:defRPr sz="2300"/>
            </a:lvl3pPr>
            <a:lvl4pPr marL="1255713" indent="-273050">
              <a:spcBef>
                <a:spcPts val="400"/>
              </a:spcBef>
              <a:spcAft>
                <a:spcPts val="400"/>
              </a:spcAft>
              <a:buClrTx/>
              <a:defRPr sz="2000"/>
            </a:lvl4pPr>
            <a:lvl5pPr marL="1609725" indent="-258763">
              <a:spcBef>
                <a:spcPts val="600"/>
              </a:spcBef>
              <a:spcAft>
                <a:spcPts val="600"/>
              </a:spcAft>
              <a:defRPr sz="17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itle 6"/>
          <p:cNvSpPr>
            <a:spLocks noGrp="1"/>
          </p:cNvSpPr>
          <p:nvPr>
            <p:ph type="title"/>
          </p:nvPr>
        </p:nvSpPr>
        <p:spPr/>
        <p:txBody>
          <a:bodyPr lIns="360000" tIns="180000" rIns="360000" bIns="144000"/>
          <a:lstStyle>
            <a:lvl1pPr>
              <a:defRPr>
                <a:solidFill>
                  <a:srgbClr val="00A0AE"/>
                </a:solidFill>
              </a:defRPr>
            </a:lvl1pPr>
          </a:lstStyle>
          <a:p>
            <a:r>
              <a:rPr lang="en-US"/>
              <a:t>Click to edit Master title style</a:t>
            </a:r>
            <a:endParaRPr lang="nl-BE" dirty="0"/>
          </a:p>
        </p:txBody>
      </p:sp>
      <p:cxnSp>
        <p:nvCxnSpPr>
          <p:cNvPr id="14" name="Straight Connector 13"/>
          <p:cNvCxnSpPr/>
          <p:nvPr/>
        </p:nvCxnSpPr>
        <p:spPr>
          <a:xfrm>
            <a:off x="180000" y="1141200"/>
            <a:ext cx="8748000" cy="0"/>
          </a:xfrm>
          <a:prstGeom prst="line">
            <a:avLst/>
          </a:prstGeom>
          <a:ln w="6350">
            <a:solidFill>
              <a:srgbClr val="00A0AE"/>
            </a:solidFill>
          </a:ln>
        </p:spPr>
        <p:style>
          <a:lnRef idx="1">
            <a:schemeClr val="accent1"/>
          </a:lnRef>
          <a:fillRef idx="0">
            <a:schemeClr val="accent1"/>
          </a:fillRef>
          <a:effectRef idx="0">
            <a:schemeClr val="accent1"/>
          </a:effectRef>
          <a:fontRef idx="minor">
            <a:schemeClr val="tx1"/>
          </a:fontRef>
        </p:style>
      </p:cxnSp>
      <p:sp>
        <p:nvSpPr>
          <p:cNvPr id="16" name="Slide Number Placeholder 15"/>
          <p:cNvSpPr>
            <a:spLocks noGrp="1"/>
          </p:cNvSpPr>
          <p:nvPr>
            <p:ph type="sldNum" sz="quarter" idx="11"/>
          </p:nvPr>
        </p:nvSpPr>
        <p:spPr/>
        <p:txBody>
          <a:bodyPr/>
          <a:lstStyle/>
          <a:p>
            <a:fld id="{B6F15528-21DE-4FAA-801E-634DDDAF4B2B}" type="slidenum">
              <a:rPr lang="en-US" smtClean="0"/>
              <a:pPr/>
              <a:t>‹#›</a:t>
            </a:fld>
            <a:endParaRPr lang="en-US" dirty="0"/>
          </a:p>
        </p:txBody>
      </p:sp>
      <p:sp>
        <p:nvSpPr>
          <p:cNvPr id="17" name="Footer Placeholder 16"/>
          <p:cNvSpPr>
            <a:spLocks noGrp="1"/>
          </p:cNvSpPr>
          <p:nvPr>
            <p:ph type="ftr" sz="quarter" idx="12"/>
          </p:nvPr>
        </p:nvSpPr>
        <p:spPr/>
        <p:txBody>
          <a:bodyPr/>
          <a:lstStyle/>
          <a:p>
            <a:endParaRPr lang="en-US" dirty="0"/>
          </a:p>
        </p:txBody>
      </p:sp>
      <p:pic>
        <p:nvPicPr>
          <p:cNvPr id="12" name="Picture 11" descr="tm_rgb.jpg"/>
          <p:cNvPicPr>
            <a:picLocks noChangeAspect="1"/>
          </p:cNvPicPr>
          <p:nvPr/>
        </p:nvPicPr>
        <p:blipFill>
          <a:blip r:embed="rId2" cstate="print"/>
          <a:stretch>
            <a:fillRect/>
          </a:stretch>
        </p:blipFill>
        <p:spPr>
          <a:xfrm>
            <a:off x="7236296" y="5976000"/>
            <a:ext cx="1652016" cy="862584"/>
          </a:xfrm>
          <a:prstGeom prst="rect">
            <a:avLst/>
          </a:prstGeom>
        </p:spPr>
      </p:pic>
      <p:sp>
        <p:nvSpPr>
          <p:cNvPr id="8" name="Date Placeholder 7"/>
          <p:cNvSpPr>
            <a:spLocks noGrp="1"/>
          </p:cNvSpPr>
          <p:nvPr>
            <p:ph type="dt" sz="half" idx="13"/>
          </p:nvPr>
        </p:nvSpPr>
        <p:spPr/>
        <p:txBody>
          <a:bodyPr/>
          <a:lstStyle/>
          <a:p>
            <a:fld id="{7DA39412-93BF-4F55-B0D9-08846412170A}" type="datetime1">
              <a:rPr lang="en-US" smtClean="0"/>
              <a:t>2/18/2026</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 2 Columns">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52000"/>
            <a:ext cx="9144000" cy="4734000"/>
          </a:xfrm>
        </p:spPr>
        <p:txBody>
          <a:bodyPr bIns="144000" numCol="2" spcCol="360000" anchor="ctr" anchorCtr="0"/>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itle 6"/>
          <p:cNvSpPr>
            <a:spLocks noGrp="1"/>
          </p:cNvSpPr>
          <p:nvPr>
            <p:ph type="title"/>
          </p:nvPr>
        </p:nvSpPr>
        <p:spPr/>
        <p:txBody>
          <a:bodyPr lIns="360000" tIns="180000" rIns="360000" bIns="144000"/>
          <a:lstStyle/>
          <a:p>
            <a:r>
              <a:rPr lang="en-US"/>
              <a:t>Click to edit Master title style</a:t>
            </a:r>
            <a:endParaRPr lang="nl-BE" dirty="0"/>
          </a:p>
        </p:txBody>
      </p:sp>
      <p:cxnSp>
        <p:nvCxnSpPr>
          <p:cNvPr id="14" name="Straight Connector 13"/>
          <p:cNvCxnSpPr/>
          <p:nvPr/>
        </p:nvCxnSpPr>
        <p:spPr>
          <a:xfrm>
            <a:off x="180000" y="1141200"/>
            <a:ext cx="8748000" cy="0"/>
          </a:xfrm>
          <a:prstGeom prst="line">
            <a:avLst/>
          </a:prstGeom>
          <a:ln w="6350">
            <a:solidFill>
              <a:srgbClr val="00A0AE"/>
            </a:solidFill>
          </a:ln>
        </p:spPr>
        <p:style>
          <a:lnRef idx="1">
            <a:schemeClr val="accent1"/>
          </a:lnRef>
          <a:fillRef idx="0">
            <a:schemeClr val="accent1"/>
          </a:fillRef>
          <a:effectRef idx="0">
            <a:schemeClr val="accent1"/>
          </a:effectRef>
          <a:fontRef idx="minor">
            <a:schemeClr val="tx1"/>
          </a:fontRef>
        </p:style>
      </p:cxnSp>
      <p:sp>
        <p:nvSpPr>
          <p:cNvPr id="15" name="Date Placeholder 14"/>
          <p:cNvSpPr>
            <a:spLocks noGrp="1"/>
          </p:cNvSpPr>
          <p:nvPr>
            <p:ph type="dt" sz="half" idx="10"/>
          </p:nvPr>
        </p:nvSpPr>
        <p:spPr/>
        <p:txBody>
          <a:bodyPr/>
          <a:lstStyle/>
          <a:p>
            <a:fld id="{43B3932C-1FDD-4574-86AB-80DAA11732E2}" type="datetime1">
              <a:rPr lang="en-US" smtClean="0"/>
              <a:t>2/18/2026</a:t>
            </a:fld>
            <a:endParaRPr lang="en-US" dirty="0"/>
          </a:p>
        </p:txBody>
      </p:sp>
      <p:sp>
        <p:nvSpPr>
          <p:cNvPr id="16" name="Slide Number Placeholder 15"/>
          <p:cNvSpPr>
            <a:spLocks noGrp="1"/>
          </p:cNvSpPr>
          <p:nvPr>
            <p:ph type="sldNum" sz="quarter" idx="11"/>
          </p:nvPr>
        </p:nvSpPr>
        <p:spPr/>
        <p:txBody>
          <a:bodyPr/>
          <a:lstStyle/>
          <a:p>
            <a:fld id="{B6F15528-21DE-4FAA-801E-634DDDAF4B2B}" type="slidenum">
              <a:rPr lang="en-US" smtClean="0"/>
              <a:pPr/>
              <a:t>‹#›</a:t>
            </a:fld>
            <a:endParaRPr lang="en-US" dirty="0"/>
          </a:p>
        </p:txBody>
      </p:sp>
      <p:sp>
        <p:nvSpPr>
          <p:cNvPr id="17" name="Footer Placeholder 16"/>
          <p:cNvSpPr>
            <a:spLocks noGrp="1"/>
          </p:cNvSpPr>
          <p:nvPr>
            <p:ph type="ftr" sz="quarter" idx="12"/>
          </p:nvPr>
        </p:nvSpPr>
        <p:spPr/>
        <p:txBody>
          <a:bodyPr/>
          <a:lstStyle/>
          <a:p>
            <a:endParaRPr lang="en-US" dirty="0"/>
          </a:p>
        </p:txBody>
      </p:sp>
      <p:pic>
        <p:nvPicPr>
          <p:cNvPr id="11" name="Picture 10" descr="tm_rgb.jpg"/>
          <p:cNvPicPr>
            <a:picLocks noChangeAspect="1"/>
          </p:cNvPicPr>
          <p:nvPr/>
        </p:nvPicPr>
        <p:blipFill>
          <a:blip r:embed="rId2" cstate="print"/>
          <a:stretch>
            <a:fillRect/>
          </a:stretch>
        </p:blipFill>
        <p:spPr>
          <a:xfrm>
            <a:off x="7236296" y="5976000"/>
            <a:ext cx="1652016" cy="86258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ntent |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nl-BE" dirty="0"/>
          </a:p>
        </p:txBody>
      </p:sp>
      <p:sp>
        <p:nvSpPr>
          <p:cNvPr id="3" name="Text Placeholder 2"/>
          <p:cNvSpPr>
            <a:spLocks noGrp="1"/>
          </p:cNvSpPr>
          <p:nvPr>
            <p:ph type="body" idx="1"/>
          </p:nvPr>
        </p:nvSpPr>
        <p:spPr>
          <a:xfrm>
            <a:off x="0" y="1152000"/>
            <a:ext cx="4428000" cy="1097992"/>
          </a:xfrm>
        </p:spPr>
        <p:txBody>
          <a:bodyPr lIns="252000" tIns="252000" rIns="0" bIns="0" anchor="t" anchorCtr="0">
            <a:noAutofit/>
          </a:bodyPr>
          <a:lstStyle>
            <a:lvl1pPr marL="0" indent="0">
              <a:buNone/>
              <a:defRPr sz="2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0" y="2285992"/>
            <a:ext cx="4428000" cy="3600000"/>
          </a:xfrm>
        </p:spPr>
        <p:txBody>
          <a:bodyPr lIns="252000" tIns="0" rIns="0"/>
          <a:lstStyle>
            <a:lvl1pPr>
              <a:defRPr sz="2600"/>
            </a:lvl1pPr>
            <a:lvl2pPr>
              <a:defRPr sz="2300"/>
            </a:lvl2pPr>
            <a:lvl3pPr>
              <a:defRPr sz="2000"/>
            </a:lvl3pPr>
            <a:lvl4pPr>
              <a:defRPr sz="17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p:cNvSpPr>
            <a:spLocks noGrp="1"/>
          </p:cNvSpPr>
          <p:nvPr>
            <p:ph type="body" sz="quarter" idx="3"/>
          </p:nvPr>
        </p:nvSpPr>
        <p:spPr>
          <a:xfrm>
            <a:off x="4716032" y="1152000"/>
            <a:ext cx="4428000" cy="1097992"/>
          </a:xfrm>
        </p:spPr>
        <p:txBody>
          <a:bodyPr lIns="0" tIns="252000" rIns="252000" bIns="0" anchor="t" anchorCtr="0">
            <a:normAutofit/>
          </a:bodyPr>
          <a:lstStyle>
            <a:lvl1pPr marL="0" indent="0">
              <a:buNone/>
              <a:defRPr sz="2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16032" y="2285992"/>
            <a:ext cx="4428000" cy="3600000"/>
          </a:xfrm>
        </p:spPr>
        <p:txBody>
          <a:bodyPr lIns="0" tIns="0" rIns="252000"/>
          <a:lstStyle>
            <a:lvl1pPr>
              <a:defRPr sz="2600"/>
            </a:lvl1pPr>
            <a:lvl2pPr>
              <a:defRPr sz="2300"/>
            </a:lvl2pPr>
            <a:lvl3pPr>
              <a:defRPr sz="2000"/>
            </a:lvl3pPr>
            <a:lvl4pPr>
              <a:defRPr sz="17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p:cNvCxnSpPr/>
          <p:nvPr/>
        </p:nvCxnSpPr>
        <p:spPr>
          <a:xfrm>
            <a:off x="180000" y="1141200"/>
            <a:ext cx="8748000" cy="0"/>
          </a:xfrm>
          <a:prstGeom prst="line">
            <a:avLst/>
          </a:prstGeom>
          <a:ln w="6350">
            <a:solidFill>
              <a:srgbClr val="4B2B4B"/>
            </a:solidFill>
          </a:ln>
        </p:spPr>
        <p:style>
          <a:lnRef idx="1">
            <a:schemeClr val="accent1"/>
          </a:lnRef>
          <a:fillRef idx="0">
            <a:schemeClr val="accent1"/>
          </a:fillRef>
          <a:effectRef idx="0">
            <a:schemeClr val="accent1"/>
          </a:effectRef>
          <a:fontRef idx="minor">
            <a:schemeClr val="tx1"/>
          </a:fontRef>
        </p:style>
      </p:cxnSp>
      <p:sp>
        <p:nvSpPr>
          <p:cNvPr id="11" name="Date Placeholder 10"/>
          <p:cNvSpPr>
            <a:spLocks noGrp="1"/>
          </p:cNvSpPr>
          <p:nvPr>
            <p:ph type="dt" sz="half" idx="10"/>
          </p:nvPr>
        </p:nvSpPr>
        <p:spPr/>
        <p:txBody>
          <a:bodyPr/>
          <a:lstStyle/>
          <a:p>
            <a:fld id="{E43A16BC-275B-47A6-8232-896D9B48525E}" type="datetime1">
              <a:rPr lang="en-US" smtClean="0"/>
              <a:t>2/18/2026</a:t>
            </a:fld>
            <a:endParaRPr lang="en-US" dirty="0"/>
          </a:p>
        </p:txBody>
      </p:sp>
      <p:sp>
        <p:nvSpPr>
          <p:cNvPr id="12" name="Slide Number Placeholder 11"/>
          <p:cNvSpPr>
            <a:spLocks noGrp="1"/>
          </p:cNvSpPr>
          <p:nvPr>
            <p:ph type="sldNum" sz="quarter" idx="11"/>
          </p:nvPr>
        </p:nvSpPr>
        <p:spPr/>
        <p:txBody>
          <a:bodyPr/>
          <a:lstStyle/>
          <a:p>
            <a:fld id="{B6F15528-21DE-4FAA-801E-634DDDAF4B2B}" type="slidenum">
              <a:rPr lang="en-US" smtClean="0"/>
              <a:pPr/>
              <a:t>‹#›</a:t>
            </a:fld>
            <a:endParaRPr lang="en-US" dirty="0"/>
          </a:p>
        </p:txBody>
      </p:sp>
      <p:sp>
        <p:nvSpPr>
          <p:cNvPr id="13" name="Footer Placeholder 12"/>
          <p:cNvSpPr>
            <a:spLocks noGrp="1"/>
          </p:cNvSpPr>
          <p:nvPr>
            <p:ph type="ftr" sz="quarter" idx="12"/>
          </p:nvPr>
        </p:nvSpPr>
        <p:spPr/>
        <p:txBody>
          <a:bodyPr/>
          <a:lstStyle/>
          <a:p>
            <a:endParaRPr lang="en-US" dirty="0"/>
          </a:p>
        </p:txBody>
      </p:sp>
      <p:pic>
        <p:nvPicPr>
          <p:cNvPr id="14" name="Picture 13" descr="tm_rgb.jpg"/>
          <p:cNvPicPr>
            <a:picLocks noChangeAspect="1"/>
          </p:cNvPicPr>
          <p:nvPr/>
        </p:nvPicPr>
        <p:blipFill>
          <a:blip r:embed="rId2" cstate="print"/>
          <a:stretch>
            <a:fillRect/>
          </a:stretch>
        </p:blipFill>
        <p:spPr>
          <a:xfrm>
            <a:off x="7236296" y="5976000"/>
            <a:ext cx="1652016" cy="86258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 1 Picture &amp;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857620" y="1152000"/>
            <a:ext cx="5072098" cy="4734000"/>
          </a:xfrm>
        </p:spPr>
        <p:txBody>
          <a:bodyPr lIns="0" rIns="0" bIns="144000"/>
          <a:lstStyle>
            <a:lvl2pPr algn="l">
              <a:defRPr/>
            </a:lvl2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itle 6"/>
          <p:cNvSpPr>
            <a:spLocks noGrp="1"/>
          </p:cNvSpPr>
          <p:nvPr>
            <p:ph type="title"/>
          </p:nvPr>
        </p:nvSpPr>
        <p:spPr/>
        <p:txBody>
          <a:bodyPr lIns="360000" tIns="180000" rIns="360000" bIns="144000"/>
          <a:lstStyle>
            <a:lvl1pPr>
              <a:defRPr>
                <a:solidFill>
                  <a:srgbClr val="50C6DD"/>
                </a:solidFill>
              </a:defRPr>
            </a:lvl1pPr>
          </a:lstStyle>
          <a:p>
            <a:r>
              <a:rPr lang="en-US"/>
              <a:t>Click to edit Master title style</a:t>
            </a:r>
            <a:endParaRPr lang="nl-BE" dirty="0"/>
          </a:p>
        </p:txBody>
      </p:sp>
      <p:cxnSp>
        <p:nvCxnSpPr>
          <p:cNvPr id="20" name="Straight Connector 19"/>
          <p:cNvCxnSpPr/>
          <p:nvPr/>
        </p:nvCxnSpPr>
        <p:spPr>
          <a:xfrm>
            <a:off x="180000" y="1141200"/>
            <a:ext cx="8748000" cy="0"/>
          </a:xfrm>
          <a:prstGeom prst="line">
            <a:avLst/>
          </a:prstGeom>
          <a:ln w="6350">
            <a:solidFill>
              <a:srgbClr val="4B2B4B"/>
            </a:solidFill>
          </a:ln>
        </p:spPr>
        <p:style>
          <a:lnRef idx="1">
            <a:schemeClr val="accent1"/>
          </a:lnRef>
          <a:fillRef idx="0">
            <a:schemeClr val="accent1"/>
          </a:fillRef>
          <a:effectRef idx="0">
            <a:schemeClr val="accent1"/>
          </a:effectRef>
          <a:fontRef idx="minor">
            <a:schemeClr val="tx1"/>
          </a:fontRef>
        </p:style>
      </p:cxnSp>
      <p:sp>
        <p:nvSpPr>
          <p:cNvPr id="13" name="Picture Placeholder 87"/>
          <p:cNvSpPr>
            <a:spLocks noGrp="1"/>
          </p:cNvSpPr>
          <p:nvPr>
            <p:ph type="pic" sz="quarter" idx="10"/>
          </p:nvPr>
        </p:nvSpPr>
        <p:spPr>
          <a:xfrm>
            <a:off x="180000" y="1152000"/>
            <a:ext cx="3428992" cy="4734000"/>
          </a:xfrm>
        </p:spPr>
        <p:txBody>
          <a:bodyPr>
            <a:normAutofit/>
          </a:bodyPr>
          <a:lstStyle>
            <a:lvl1pPr>
              <a:buNone/>
              <a:defRPr sz="1000"/>
            </a:lvl1pPr>
          </a:lstStyle>
          <a:p>
            <a:r>
              <a:rPr lang="en-US" dirty="0"/>
              <a:t>Click icon to add picture</a:t>
            </a:r>
            <a:endParaRPr lang="nl-BE" dirty="0"/>
          </a:p>
        </p:txBody>
      </p:sp>
      <p:sp>
        <p:nvSpPr>
          <p:cNvPr id="9" name="Date Placeholder 8"/>
          <p:cNvSpPr>
            <a:spLocks noGrp="1"/>
          </p:cNvSpPr>
          <p:nvPr>
            <p:ph type="dt" sz="half" idx="11"/>
          </p:nvPr>
        </p:nvSpPr>
        <p:spPr/>
        <p:txBody>
          <a:bodyPr/>
          <a:lstStyle/>
          <a:p>
            <a:fld id="{AEC620AE-A8EF-45E3-92FA-280003034D42}" type="datetime1">
              <a:rPr lang="en-US" smtClean="0"/>
              <a:t>2/18/2026</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dirty="0"/>
          </a:p>
        </p:txBody>
      </p:sp>
      <p:sp>
        <p:nvSpPr>
          <p:cNvPr id="11" name="Footer Placeholder 10"/>
          <p:cNvSpPr>
            <a:spLocks noGrp="1"/>
          </p:cNvSpPr>
          <p:nvPr>
            <p:ph type="ftr" sz="quarter" idx="13"/>
          </p:nvPr>
        </p:nvSpPr>
        <p:spPr/>
        <p:txBody>
          <a:bodyPr/>
          <a:lstStyle/>
          <a:p>
            <a:endParaRPr lang="en-US" dirty="0"/>
          </a:p>
        </p:txBody>
      </p:sp>
      <p:pic>
        <p:nvPicPr>
          <p:cNvPr id="12" name="Picture 11" descr="tm_rgb.jpg"/>
          <p:cNvPicPr>
            <a:picLocks noChangeAspect="1"/>
          </p:cNvPicPr>
          <p:nvPr/>
        </p:nvPicPr>
        <p:blipFill>
          <a:blip r:embed="rId2" cstate="print"/>
          <a:stretch>
            <a:fillRect/>
          </a:stretch>
        </p:blipFill>
        <p:spPr>
          <a:xfrm>
            <a:off x="7236296" y="5976000"/>
            <a:ext cx="1652016" cy="86258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 No titl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B6F15528-21DE-4FAA-801E-634DDDAF4B2B}" type="slidenum">
              <a:rPr lang="en-US" smtClean="0"/>
              <a:pPr/>
              <a:t>‹#›</a:t>
            </a:fld>
            <a:endParaRPr lang="en-US" dirty="0"/>
          </a:p>
        </p:txBody>
      </p:sp>
      <p:sp>
        <p:nvSpPr>
          <p:cNvPr id="5" name="Date Placeholder 4"/>
          <p:cNvSpPr>
            <a:spLocks noGrp="1"/>
          </p:cNvSpPr>
          <p:nvPr>
            <p:ph type="dt" sz="half" idx="12"/>
          </p:nvPr>
        </p:nvSpPr>
        <p:spPr/>
        <p:txBody>
          <a:bodyPr/>
          <a:lstStyle/>
          <a:p>
            <a:fld id="{18347E19-51AA-407F-BE08-E4E81DFF6183}" type="datetime1">
              <a:rPr lang="en-US" smtClean="0"/>
              <a:t>2/18/2026</a:t>
            </a:fld>
            <a:endParaRPr lang="en-US" dirty="0"/>
          </a:p>
        </p:txBody>
      </p:sp>
      <p:sp>
        <p:nvSpPr>
          <p:cNvPr id="7" name="Text Placeholder 6"/>
          <p:cNvSpPr>
            <a:spLocks noGrp="1"/>
          </p:cNvSpPr>
          <p:nvPr>
            <p:ph type="body" sz="quarter" idx="13"/>
          </p:nvPr>
        </p:nvSpPr>
        <p:spPr>
          <a:xfrm>
            <a:off x="0" y="0"/>
            <a:ext cx="9144000" cy="5929313"/>
          </a:xfrm>
        </p:spPr>
        <p:txBody>
          <a:bodyPr/>
          <a:lstStyle>
            <a:lvl1pPr>
              <a:buClrTx/>
              <a:defRPr>
                <a:solidFill>
                  <a:srgbClr val="000000"/>
                </a:solidFill>
              </a:defRPr>
            </a:lvl1pPr>
            <a:lvl2pPr>
              <a:buClrTx/>
              <a:defRPr>
                <a:solidFill>
                  <a:srgbClr val="000000"/>
                </a:solidFill>
              </a:defRPr>
            </a:lvl2pPr>
            <a:lvl3pPr>
              <a:buClrTx/>
              <a:defRPr>
                <a:solidFill>
                  <a:srgbClr val="000000"/>
                </a:solidFill>
              </a:defRPr>
            </a:lvl3pPr>
            <a:lvl4pPr>
              <a:buClrTx/>
              <a:defRPr>
                <a:solidFill>
                  <a:srgbClr val="000000"/>
                </a:solidFill>
              </a:defRPr>
            </a:lvl4pPr>
            <a:lvl5pPr>
              <a:buClrTx/>
              <a:defRPr>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dirty="0"/>
          </a:p>
        </p:txBody>
      </p:sp>
      <p:pic>
        <p:nvPicPr>
          <p:cNvPr id="9" name="Picture 8" descr="tm_rgb.jpg"/>
          <p:cNvPicPr>
            <a:picLocks noChangeAspect="1"/>
          </p:cNvPicPr>
          <p:nvPr/>
        </p:nvPicPr>
        <p:blipFill>
          <a:blip r:embed="rId2" cstate="print"/>
          <a:stretch>
            <a:fillRect/>
          </a:stretch>
        </p:blipFill>
        <p:spPr>
          <a:xfrm>
            <a:off x="7236296" y="5976000"/>
            <a:ext cx="1652016" cy="862584"/>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 1 Big picture">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B6F15528-21DE-4FAA-801E-634DDDAF4B2B}" type="slidenum">
              <a:rPr lang="en-US" smtClean="0"/>
              <a:pPr/>
              <a:t>‹#›</a:t>
            </a:fld>
            <a:endParaRPr lang="en-US" dirty="0"/>
          </a:p>
        </p:txBody>
      </p:sp>
      <p:sp>
        <p:nvSpPr>
          <p:cNvPr id="5" name="Date Placeholder 4"/>
          <p:cNvSpPr>
            <a:spLocks noGrp="1"/>
          </p:cNvSpPr>
          <p:nvPr>
            <p:ph type="dt" sz="half" idx="12"/>
          </p:nvPr>
        </p:nvSpPr>
        <p:spPr/>
        <p:txBody>
          <a:bodyPr/>
          <a:lstStyle/>
          <a:p>
            <a:fld id="{4548F817-DCBB-4561-9298-C87B0B698243}" type="datetime1">
              <a:rPr lang="en-US" smtClean="0"/>
              <a:t>2/18/2026</a:t>
            </a:fld>
            <a:endParaRPr lang="en-US" dirty="0"/>
          </a:p>
        </p:txBody>
      </p:sp>
      <p:sp>
        <p:nvSpPr>
          <p:cNvPr id="7" name="Picture Placeholder 6"/>
          <p:cNvSpPr>
            <a:spLocks noGrp="1"/>
          </p:cNvSpPr>
          <p:nvPr>
            <p:ph type="pic" sz="quarter" idx="13"/>
          </p:nvPr>
        </p:nvSpPr>
        <p:spPr>
          <a:xfrm>
            <a:off x="0" y="0"/>
            <a:ext cx="9144000" cy="5929313"/>
          </a:xfrm>
        </p:spPr>
        <p:txBody>
          <a:bodyPr/>
          <a:lstStyle/>
          <a:p>
            <a:r>
              <a:rPr lang="en-US" dirty="0"/>
              <a:t>Click icon to add picture</a:t>
            </a:r>
            <a:endParaRPr lang="nl-BE" dirty="0"/>
          </a:p>
        </p:txBody>
      </p:sp>
      <p:pic>
        <p:nvPicPr>
          <p:cNvPr id="9" name="Picture 8" descr="tm_rgb.jpg"/>
          <p:cNvPicPr>
            <a:picLocks noChangeAspect="1"/>
          </p:cNvPicPr>
          <p:nvPr/>
        </p:nvPicPr>
        <p:blipFill>
          <a:blip r:embed="rId2" cstate="print"/>
          <a:stretch>
            <a:fillRect/>
          </a:stretch>
        </p:blipFill>
        <p:spPr>
          <a:xfrm>
            <a:off x="7236296" y="5976000"/>
            <a:ext cx="1652016" cy="862584"/>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59BF45-7877-4809-84E8-14416188D503}" type="datetime1">
              <a:rPr lang="en-US" smtClean="0"/>
              <a:t>2/18/2026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Ref idx="1001">
        <a:schemeClr val="bg1"/>
      </p:bgRef>
    </p:bg>
    <p:spTree>
      <p:nvGrpSpPr>
        <p:cNvPr id="1" name=""/>
        <p:cNvGrpSpPr/>
        <p:nvPr/>
      </p:nvGrpSpPr>
      <p:grpSpPr>
        <a:xfrm>
          <a:off x="0" y="0"/>
          <a:ext cx="0" cy="0"/>
          <a:chOff x="0" y="0"/>
          <a:chExt cx="0" cy="0"/>
        </a:xfrm>
      </p:grpSpPr>
      <p:sp>
        <p:nvSpPr>
          <p:cNvPr id="7" name="Rectangle 6"/>
          <p:cNvSpPr/>
          <p:nvPr/>
        </p:nvSpPr>
        <p:spPr>
          <a:xfrm>
            <a:off x="0" y="5958024"/>
            <a:ext cx="9144000" cy="900000"/>
          </a:xfrm>
          <a:prstGeom prst="rect">
            <a:avLst/>
          </a:prstGeom>
          <a:solidFill>
            <a:srgbClr val="EC4B2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18000" rIns="0" bIns="18000" rtlCol="0" anchor="ctr"/>
          <a:lstStyle/>
          <a:p>
            <a:pPr algn="ctr"/>
            <a:endParaRPr lang="nl-BE" sz="1100" dirty="0">
              <a:solidFill>
                <a:schemeClr val="bg1"/>
              </a:solidFill>
            </a:endParaRPr>
          </a:p>
        </p:txBody>
      </p:sp>
      <p:sp>
        <p:nvSpPr>
          <p:cNvPr id="79" name="Footer Placeholder 4"/>
          <p:cNvSpPr>
            <a:spLocks noGrp="1"/>
          </p:cNvSpPr>
          <p:nvPr>
            <p:ph type="ftr" sz="quarter" idx="3"/>
          </p:nvPr>
        </p:nvSpPr>
        <p:spPr>
          <a:xfrm>
            <a:off x="755576" y="6084000"/>
            <a:ext cx="4032424" cy="432000"/>
          </a:xfrm>
          <a:prstGeom prst="rect">
            <a:avLst/>
          </a:prstGeom>
          <a:solidFill>
            <a:schemeClr val="bg1"/>
          </a:solidFill>
        </p:spPr>
        <p:txBody>
          <a:bodyPr wrap="square" lIns="144000" tIns="0" rIns="144000" bIns="0" anchor="ctr" anchorCtr="0">
            <a:noAutofit/>
          </a:bodyPr>
          <a:lstStyle>
            <a:lvl1pPr algn="l">
              <a:lnSpc>
                <a:spcPct val="90000"/>
              </a:lnSpc>
              <a:defRPr sz="1500">
                <a:solidFill>
                  <a:srgbClr val="00A0AE"/>
                </a:solidFill>
                <a:latin typeface="Trebuchet MS" pitchFamily="34" charset="0"/>
              </a:defRPr>
            </a:lvl1pPr>
          </a:lstStyle>
          <a:p>
            <a:endParaRPr lang="en-US" dirty="0"/>
          </a:p>
        </p:txBody>
      </p:sp>
      <p:sp>
        <p:nvSpPr>
          <p:cNvPr id="86" name="Slide Number Placeholder 85"/>
          <p:cNvSpPr>
            <a:spLocks noGrp="1"/>
          </p:cNvSpPr>
          <p:nvPr>
            <p:ph type="sldNum" sz="quarter" idx="4"/>
          </p:nvPr>
        </p:nvSpPr>
        <p:spPr>
          <a:xfrm>
            <a:off x="360000" y="6084000"/>
            <a:ext cx="360000" cy="667148"/>
          </a:xfrm>
          <a:prstGeom prst="rect">
            <a:avLst/>
          </a:prstGeom>
          <a:solidFill>
            <a:srgbClr val="00A0AE"/>
          </a:solidFill>
        </p:spPr>
        <p:txBody>
          <a:bodyPr vert="horz" wrap="none" lIns="0" tIns="108000" rIns="0" bIns="0" rtlCol="0" anchor="ctr" anchorCtr="0">
            <a:noAutofit/>
          </a:bodyPr>
          <a:lstStyle>
            <a:lvl1pPr algn="ctr">
              <a:defRPr sz="2000" b="0">
                <a:solidFill>
                  <a:schemeClr val="bg1"/>
                </a:solidFill>
                <a:latin typeface="Trebuchet MS" pitchFamily="34" charset="0"/>
              </a:defRPr>
            </a:lvl1pPr>
          </a:lstStyle>
          <a:p>
            <a:fld id="{B6F15528-21DE-4FAA-801E-634DDDAF4B2B}" type="slidenum">
              <a:rPr lang="en-US" smtClean="0"/>
              <a:t>‹#›</a:t>
            </a:fld>
            <a:endParaRPr lang="en-US" dirty="0"/>
          </a:p>
        </p:txBody>
      </p:sp>
      <p:sp>
        <p:nvSpPr>
          <p:cNvPr id="2" name="Title Placeholder 1"/>
          <p:cNvSpPr>
            <a:spLocks noGrp="1"/>
          </p:cNvSpPr>
          <p:nvPr>
            <p:ph type="title"/>
          </p:nvPr>
        </p:nvSpPr>
        <p:spPr>
          <a:xfrm>
            <a:off x="0" y="0"/>
            <a:ext cx="9144000" cy="1142984"/>
          </a:xfrm>
          <a:prstGeom prst="rect">
            <a:avLst/>
          </a:prstGeom>
          <a:ln w="0">
            <a:noFill/>
          </a:ln>
        </p:spPr>
        <p:txBody>
          <a:bodyPr vert="horz" lIns="360000" tIns="180000" rIns="360000" bIns="144000" rtlCol="0" anchor="ctr">
            <a:noAutofit/>
          </a:bodyPr>
          <a:lstStyle/>
          <a:p>
            <a:r>
              <a:rPr lang="en-US"/>
              <a:t>Click to edit Master title style</a:t>
            </a:r>
            <a:endParaRPr lang="nl-BE" dirty="0"/>
          </a:p>
        </p:txBody>
      </p:sp>
      <p:sp>
        <p:nvSpPr>
          <p:cNvPr id="3" name="Text Placeholder 2"/>
          <p:cNvSpPr>
            <a:spLocks noGrp="1"/>
          </p:cNvSpPr>
          <p:nvPr>
            <p:ph type="body" idx="1"/>
          </p:nvPr>
        </p:nvSpPr>
        <p:spPr>
          <a:xfrm>
            <a:off x="0" y="1152000"/>
            <a:ext cx="9144000" cy="4428000"/>
          </a:xfrm>
          <a:prstGeom prst="rect">
            <a:avLst/>
          </a:prstGeom>
        </p:spPr>
        <p:txBody>
          <a:bodyPr vert="horz" lIns="432000" tIns="252000" rIns="43200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0" name="Date Placeholder 3"/>
          <p:cNvSpPr>
            <a:spLocks noGrp="1"/>
          </p:cNvSpPr>
          <p:nvPr>
            <p:ph type="dt" sz="half" idx="2"/>
          </p:nvPr>
        </p:nvSpPr>
        <p:spPr>
          <a:xfrm>
            <a:off x="755576" y="6570000"/>
            <a:ext cx="990706" cy="200055"/>
          </a:xfrm>
          <a:prstGeom prst="rect">
            <a:avLst/>
          </a:prstGeom>
          <a:solidFill>
            <a:srgbClr val="EC4B2F"/>
          </a:solidFill>
        </p:spPr>
        <p:txBody>
          <a:bodyPr wrap="none" lIns="108000" tIns="0" rIns="0" bIns="0" anchor="b" anchorCtr="0">
            <a:spAutoFit/>
          </a:bodyPr>
          <a:lstStyle>
            <a:lvl1pPr algn="r">
              <a:defRPr sz="1300">
                <a:solidFill>
                  <a:schemeClr val="bg1"/>
                </a:solidFill>
                <a:latin typeface="Trebuchet MS" pitchFamily="34" charset="0"/>
              </a:defRPr>
            </a:lvl1pPr>
          </a:lstStyle>
          <a:p>
            <a:fld id="{57C5DC5B-DC9C-47CE-8030-71E508B4C275}" type="datetime1">
              <a:rPr lang="en-US" smtClean="0"/>
              <a:t>2/18/2026</a:t>
            </a:fld>
            <a:endParaRPr lang="en-US" dirty="0"/>
          </a:p>
        </p:txBody>
      </p:sp>
      <p:pic>
        <p:nvPicPr>
          <p:cNvPr id="9" name="Picture 8" descr="tm_rgb.jpg"/>
          <p:cNvPicPr>
            <a:picLocks noChangeAspect="1"/>
          </p:cNvPicPr>
          <p:nvPr/>
        </p:nvPicPr>
        <p:blipFill>
          <a:blip r:embed="rId10" cstate="print"/>
          <a:stretch>
            <a:fillRect/>
          </a:stretch>
        </p:blipFill>
        <p:spPr>
          <a:xfrm>
            <a:off x="7236296" y="5976000"/>
            <a:ext cx="1652016" cy="862584"/>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hf hdr="0" ftr="0" dt="0"/>
  <p:txStyles>
    <p:titleStyle>
      <a:lvl1pPr algn="l" defTabSz="914400" rtl="0" eaLnBrk="1" latinLnBrk="0" hangingPunct="1">
        <a:lnSpc>
          <a:spcPct val="80000"/>
        </a:lnSpc>
        <a:spcBef>
          <a:spcPct val="0"/>
        </a:spcBef>
        <a:buNone/>
        <a:defRPr sz="3600" b="1" kern="1200" cap="all" baseline="0">
          <a:solidFill>
            <a:srgbClr val="EC4B2F"/>
          </a:solidFill>
          <a:latin typeface="Trebuchet MS" pitchFamily="34" charset="0"/>
          <a:ea typeface="+mj-ea"/>
          <a:cs typeface="+mj-cs"/>
        </a:defRPr>
      </a:lvl1pPr>
    </p:titleStyle>
    <p:bodyStyle>
      <a:lvl1pPr marL="355600" indent="-355600" algn="l" defTabSz="914400" rtl="0" eaLnBrk="1" latinLnBrk="0" hangingPunct="1">
        <a:lnSpc>
          <a:spcPct val="90000"/>
        </a:lnSpc>
        <a:spcBef>
          <a:spcPts val="400"/>
        </a:spcBef>
        <a:spcAft>
          <a:spcPts val="400"/>
        </a:spcAft>
        <a:buClrTx/>
        <a:buSzPct val="90000"/>
        <a:buFont typeface="Verdana" pitchFamily="34" charset="0"/>
        <a:buChar char="•"/>
        <a:defRPr sz="3000" kern="1200">
          <a:solidFill>
            <a:srgbClr val="000000"/>
          </a:solidFill>
          <a:latin typeface="Trebuchet MS" pitchFamily="34" charset="0"/>
          <a:ea typeface="+mn-ea"/>
          <a:cs typeface="+mn-cs"/>
        </a:defRPr>
      </a:lvl1pPr>
      <a:lvl2pPr marL="723900" indent="-368300" algn="l" defTabSz="914400" rtl="0" eaLnBrk="1" latinLnBrk="0" hangingPunct="1">
        <a:lnSpc>
          <a:spcPct val="90000"/>
        </a:lnSpc>
        <a:spcBef>
          <a:spcPts val="400"/>
        </a:spcBef>
        <a:spcAft>
          <a:spcPts val="400"/>
        </a:spcAft>
        <a:buClrTx/>
        <a:buFont typeface="Arial" pitchFamily="34" charset="0"/>
        <a:buChar char="−"/>
        <a:defRPr sz="2700" kern="1200">
          <a:solidFill>
            <a:srgbClr val="000000"/>
          </a:solidFill>
          <a:latin typeface="Trebuchet MS" pitchFamily="34" charset="0"/>
          <a:ea typeface="+mn-ea"/>
          <a:cs typeface="+mn-cs"/>
        </a:defRPr>
      </a:lvl2pPr>
      <a:lvl3pPr marL="982663" indent="-258763" algn="l" defTabSz="914400" rtl="0" eaLnBrk="1" latinLnBrk="0" hangingPunct="1">
        <a:lnSpc>
          <a:spcPct val="90000"/>
        </a:lnSpc>
        <a:spcBef>
          <a:spcPts val="400"/>
        </a:spcBef>
        <a:spcAft>
          <a:spcPts val="400"/>
        </a:spcAft>
        <a:buClrTx/>
        <a:buFont typeface="Arial" pitchFamily="34" charset="0"/>
        <a:buChar char="•"/>
        <a:defRPr sz="2400" kern="1200">
          <a:solidFill>
            <a:srgbClr val="000000"/>
          </a:solidFill>
          <a:latin typeface="Trebuchet MS" pitchFamily="34" charset="0"/>
          <a:ea typeface="+mn-ea"/>
          <a:cs typeface="+mn-cs"/>
        </a:defRPr>
      </a:lvl3pPr>
      <a:lvl4pPr marL="1255713" indent="-273050" algn="l" defTabSz="914400" rtl="0" eaLnBrk="1" latinLnBrk="0" hangingPunct="1">
        <a:lnSpc>
          <a:spcPct val="90000"/>
        </a:lnSpc>
        <a:spcBef>
          <a:spcPts val="400"/>
        </a:spcBef>
        <a:spcAft>
          <a:spcPts val="400"/>
        </a:spcAft>
        <a:buClrTx/>
        <a:buFont typeface="Arial" pitchFamily="34" charset="0"/>
        <a:buChar char="»"/>
        <a:defRPr sz="2100" kern="1200">
          <a:solidFill>
            <a:srgbClr val="000000"/>
          </a:solidFill>
          <a:latin typeface="Trebuchet MS" pitchFamily="34" charset="0"/>
          <a:ea typeface="+mn-ea"/>
          <a:cs typeface="+mn-cs"/>
        </a:defRPr>
      </a:lvl4pPr>
      <a:lvl5pPr marL="1609725" indent="-258763" algn="l" defTabSz="914400" rtl="0" eaLnBrk="1" latinLnBrk="0" hangingPunct="1">
        <a:lnSpc>
          <a:spcPct val="90000"/>
        </a:lnSpc>
        <a:spcBef>
          <a:spcPts val="400"/>
        </a:spcBef>
        <a:spcAft>
          <a:spcPts val="400"/>
        </a:spcAft>
        <a:buClr>
          <a:schemeClr val="tx1"/>
        </a:buClr>
        <a:buFont typeface="Arial" pitchFamily="34" charset="0"/>
        <a:buNone/>
        <a:defRPr sz="2000" kern="1200">
          <a:solidFill>
            <a:schemeClr val="accent4"/>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GB" noProof="0" dirty="0"/>
              <a:t>Chapter 3</a:t>
            </a:r>
          </a:p>
        </p:txBody>
      </p:sp>
      <p:sp>
        <p:nvSpPr>
          <p:cNvPr id="2" name="Title 1"/>
          <p:cNvSpPr>
            <a:spLocks noGrp="1"/>
          </p:cNvSpPr>
          <p:nvPr>
            <p:ph type="title"/>
          </p:nvPr>
        </p:nvSpPr>
        <p:spPr/>
        <p:txBody>
          <a:bodyPr/>
          <a:lstStyle/>
          <a:p>
            <a:r>
              <a:rPr lang="en-GB" noProof="0" dirty="0"/>
              <a:t>Software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27DAB3B7-B140-DBAA-AF82-26A3F69046BF}"/>
              </a:ext>
            </a:extLst>
          </p:cNvPr>
          <p:cNvSpPr>
            <a:spLocks noGrp="1"/>
          </p:cNvSpPr>
          <p:nvPr>
            <p:ph type="subTitle" idx="1"/>
          </p:nvPr>
        </p:nvSpPr>
        <p:spPr/>
        <p:txBody>
          <a:bodyPr/>
          <a:lstStyle/>
          <a:p>
            <a:r>
              <a:rPr lang="en-GB" noProof="0" dirty="0"/>
              <a:t>Requirements</a:t>
            </a:r>
          </a:p>
        </p:txBody>
      </p:sp>
      <p:sp>
        <p:nvSpPr>
          <p:cNvPr id="3" name="Title 2">
            <a:extLst>
              <a:ext uri="{FF2B5EF4-FFF2-40B4-BE49-F238E27FC236}">
                <a16:creationId xmlns:a16="http://schemas.microsoft.com/office/drawing/2014/main" id="{C07562AF-E94A-537B-70CC-F350D95F0FBD}"/>
              </a:ext>
            </a:extLst>
          </p:cNvPr>
          <p:cNvSpPr>
            <a:spLocks noGrp="1"/>
          </p:cNvSpPr>
          <p:nvPr>
            <p:ph type="title"/>
          </p:nvPr>
        </p:nvSpPr>
        <p:spPr/>
        <p:txBody>
          <a:bodyPr/>
          <a:lstStyle/>
          <a:p>
            <a:r>
              <a:rPr lang="en-GB" noProof="0" dirty="0"/>
              <a:t>SDLC</a:t>
            </a:r>
          </a:p>
        </p:txBody>
      </p:sp>
      <p:sp>
        <p:nvSpPr>
          <p:cNvPr id="4" name="Slide Number Placeholder 3">
            <a:extLst>
              <a:ext uri="{FF2B5EF4-FFF2-40B4-BE49-F238E27FC236}">
                <a16:creationId xmlns:a16="http://schemas.microsoft.com/office/drawing/2014/main" id="{65A2E471-CC23-E585-790D-6B37697F353B}"/>
              </a:ext>
            </a:extLst>
          </p:cNvPr>
          <p:cNvSpPr>
            <a:spLocks noGrp="1"/>
          </p:cNvSpPr>
          <p:nvPr>
            <p:ph type="sldNum" sz="quarter" idx="4294967295"/>
          </p:nvPr>
        </p:nvSpPr>
        <p:spPr>
          <a:xfrm>
            <a:off x="0" y="6083300"/>
            <a:ext cx="360363" cy="668338"/>
          </a:xfrm>
        </p:spPr>
        <p:txBody>
          <a:bodyPr/>
          <a:lstStyle/>
          <a:p>
            <a:fld id="{B6F15528-21DE-4FAA-801E-634DDDAF4B2B}" type="slidenum">
              <a:rPr lang="en-GB" noProof="0" smtClean="0"/>
              <a:pPr/>
              <a:t>2</a:t>
            </a:fld>
            <a:endParaRPr lang="en-GB" noProof="0" dirty="0"/>
          </a:p>
        </p:txBody>
      </p:sp>
      <p:pic>
        <p:nvPicPr>
          <p:cNvPr id="29" name="Picture 28">
            <a:extLst>
              <a:ext uri="{FF2B5EF4-FFF2-40B4-BE49-F238E27FC236}">
                <a16:creationId xmlns:a16="http://schemas.microsoft.com/office/drawing/2014/main" id="{A5922B45-97C7-0804-AC99-1A3A62E5C2FA}"/>
              </a:ext>
            </a:extLst>
          </p:cNvPr>
          <p:cNvPicPr>
            <a:picLocks noChangeAspect="1"/>
          </p:cNvPicPr>
          <p:nvPr/>
        </p:nvPicPr>
        <p:blipFill>
          <a:blip r:embed="rId3"/>
          <a:stretch>
            <a:fillRect/>
          </a:stretch>
        </p:blipFill>
        <p:spPr>
          <a:xfrm>
            <a:off x="3833613" y="3962400"/>
            <a:ext cx="1476773" cy="960643"/>
          </a:xfrm>
          <a:prstGeom prst="rect">
            <a:avLst/>
          </a:prstGeom>
        </p:spPr>
      </p:pic>
      <p:sp>
        <p:nvSpPr>
          <p:cNvPr id="2" name="Rectangle 1">
            <a:extLst>
              <a:ext uri="{FF2B5EF4-FFF2-40B4-BE49-F238E27FC236}">
                <a16:creationId xmlns:a16="http://schemas.microsoft.com/office/drawing/2014/main" id="{6C3B6251-C006-1F24-7F92-147B7CB03134}"/>
              </a:ext>
            </a:extLst>
          </p:cNvPr>
          <p:cNvSpPr/>
          <p:nvPr/>
        </p:nvSpPr>
        <p:spPr>
          <a:xfrm>
            <a:off x="4351020" y="3985060"/>
            <a:ext cx="304800" cy="228600"/>
          </a:xfrm>
          <a:prstGeom prst="rect">
            <a:avLst/>
          </a:prstGeom>
          <a:solidFill>
            <a:srgbClr val="FF0000">
              <a:alpha val="2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Tree>
    <p:extLst>
      <p:ext uri="{BB962C8B-B14F-4D97-AF65-F5344CB8AC3E}">
        <p14:creationId xmlns:p14="http://schemas.microsoft.com/office/powerpoint/2010/main" val="544604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GB" noProof="0" dirty="0"/>
              <a:t>WHAT should the software do</a:t>
            </a:r>
          </a:p>
          <a:p>
            <a:r>
              <a:rPr lang="en-GB" noProof="0" dirty="0"/>
              <a:t>(Typically) Says nothing about internal operation (HOW something should work)</a:t>
            </a:r>
          </a:p>
          <a:p>
            <a:pPr lvl="1"/>
            <a:r>
              <a:rPr lang="en-GB" b="1" noProof="0" dirty="0">
                <a:solidFill>
                  <a:srgbClr val="FF0000"/>
                </a:solidFill>
              </a:rPr>
              <a:t>No </a:t>
            </a:r>
            <a:r>
              <a:rPr lang="en-GB" b="1" u="sng" noProof="0" dirty="0">
                <a:solidFill>
                  <a:srgbClr val="FF0000"/>
                </a:solidFill>
              </a:rPr>
              <a:t>implementation</a:t>
            </a:r>
            <a:r>
              <a:rPr lang="en-GB" b="1" noProof="0" dirty="0">
                <a:solidFill>
                  <a:srgbClr val="FF0000"/>
                </a:solidFill>
              </a:rPr>
              <a:t> details</a:t>
            </a:r>
          </a:p>
          <a:p>
            <a:pPr lvl="1"/>
            <a:r>
              <a:rPr lang="en-GB" noProof="0" dirty="0"/>
              <a:t>When given a problem, most people will try to ‘solve’ the problem using their own background knowledge</a:t>
            </a:r>
          </a:p>
          <a:p>
            <a:pPr lvl="2"/>
            <a:r>
              <a:rPr lang="en-GB" noProof="0" dirty="0"/>
              <a:t>The solution proposed is NOT the requirement</a:t>
            </a:r>
          </a:p>
          <a:p>
            <a:endParaRPr lang="en-GB" noProof="0" dirty="0"/>
          </a:p>
          <a:p>
            <a:r>
              <a:rPr lang="en-GB" noProof="0" dirty="0"/>
              <a:t>FIRST STEP, but also consider the other SDLC steps</a:t>
            </a:r>
          </a:p>
        </p:txBody>
      </p:sp>
      <p:sp>
        <p:nvSpPr>
          <p:cNvPr id="3" name="Title 2"/>
          <p:cNvSpPr>
            <a:spLocks noGrp="1"/>
          </p:cNvSpPr>
          <p:nvPr>
            <p:ph type="title"/>
          </p:nvPr>
        </p:nvSpPr>
        <p:spPr/>
        <p:txBody>
          <a:bodyPr/>
          <a:lstStyle/>
          <a:p>
            <a:r>
              <a:rPr lang="en-GB" noProof="0" dirty="0"/>
              <a:t>What are requirements</a:t>
            </a:r>
          </a:p>
        </p:txBody>
      </p:sp>
      <p:sp>
        <p:nvSpPr>
          <p:cNvPr id="5" name="Tijdelijke aanduiding voor dianummer 4"/>
          <p:cNvSpPr>
            <a:spLocks noGrp="1"/>
          </p:cNvSpPr>
          <p:nvPr>
            <p:ph type="sldNum" sz="quarter" idx="11"/>
          </p:nvPr>
        </p:nvSpPr>
        <p:spPr/>
        <p:txBody>
          <a:bodyPr/>
          <a:lstStyle/>
          <a:p>
            <a:fld id="{B6F15528-21DE-4FAA-801E-634DDDAF4B2B}" type="slidenum">
              <a:rPr lang="en-GB" noProof="0" smtClean="0"/>
              <a:t>3</a:t>
            </a:fld>
            <a:endParaRPr lang="en-GB"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152000"/>
            <a:ext cx="9144000" cy="4791600"/>
          </a:xfrm>
        </p:spPr>
        <p:txBody>
          <a:bodyPr>
            <a:normAutofit fontScale="70000" lnSpcReduction="20000"/>
          </a:bodyPr>
          <a:lstStyle/>
          <a:p>
            <a:r>
              <a:rPr lang="en-GB" noProof="0" dirty="0"/>
              <a:t>The customer is king: He/She owns the budget and will pay at the end.</a:t>
            </a:r>
          </a:p>
          <a:p>
            <a:r>
              <a:rPr lang="en-GB" noProof="0" dirty="0"/>
              <a:t>Developer: Uses SW skills and wants to be paid</a:t>
            </a:r>
          </a:p>
          <a:p>
            <a:endParaRPr lang="en-GB" noProof="0" dirty="0"/>
          </a:p>
          <a:p>
            <a:pPr marL="0" indent="0">
              <a:buNone/>
            </a:pPr>
            <a:r>
              <a:rPr lang="en-GB" noProof="0" dirty="0"/>
              <a:t>A ‘contract’ is needed on what software to build so that the customer will pay the developer.</a:t>
            </a:r>
          </a:p>
          <a:p>
            <a:pPr marL="400050" lvl="1" indent="0">
              <a:lnSpc>
                <a:spcPct val="120000"/>
              </a:lnSpc>
              <a:buNone/>
            </a:pPr>
            <a:r>
              <a:rPr lang="en-GB" noProof="0" dirty="0"/>
              <a:t>Scope -  the what - is important: Customer will pay for what was asked for</a:t>
            </a:r>
          </a:p>
          <a:p>
            <a:pPr marL="0" indent="0">
              <a:buNone/>
            </a:pPr>
            <a:endParaRPr lang="en-GB" noProof="0" dirty="0"/>
          </a:p>
          <a:p>
            <a:pPr marL="0" indent="0">
              <a:buNone/>
            </a:pPr>
            <a:r>
              <a:rPr lang="en-GB" b="1" noProof="0" dirty="0"/>
              <a:t>Academic</a:t>
            </a:r>
            <a:r>
              <a:rPr lang="en-GB" noProof="0" dirty="0"/>
              <a:t> approach: ONLY specify the WHAT, not the HOW</a:t>
            </a:r>
          </a:p>
          <a:p>
            <a:pPr marL="0" indent="0">
              <a:buNone/>
            </a:pPr>
            <a:r>
              <a:rPr lang="en-GB" b="1" noProof="0" dirty="0"/>
              <a:t>Industry</a:t>
            </a:r>
            <a:r>
              <a:rPr lang="en-GB" noProof="0" dirty="0"/>
              <a:t> approach: mixture of both, with focus on WHAT.</a:t>
            </a:r>
          </a:p>
          <a:p>
            <a:pPr marL="0" indent="0">
              <a:buNone/>
            </a:pPr>
            <a:endParaRPr lang="en-GB" noProof="0" dirty="0"/>
          </a:p>
          <a:p>
            <a:pPr marL="0" indent="0">
              <a:buNone/>
            </a:pPr>
            <a:r>
              <a:rPr lang="en-GB" noProof="0" dirty="0"/>
              <a:t>+ Iterative process: Discussions of Developers/stakeholders will lead to focus more on ‘HOW’ the more they meet</a:t>
            </a:r>
          </a:p>
          <a:p>
            <a:pPr marL="0" indent="0">
              <a:buNone/>
            </a:pPr>
            <a:endParaRPr lang="en-GB" noProof="0" dirty="0"/>
          </a:p>
          <a:p>
            <a:endParaRPr lang="en-GB" noProof="0" dirty="0"/>
          </a:p>
        </p:txBody>
      </p:sp>
      <p:sp>
        <p:nvSpPr>
          <p:cNvPr id="3" name="Title 2"/>
          <p:cNvSpPr>
            <a:spLocks noGrp="1"/>
          </p:cNvSpPr>
          <p:nvPr>
            <p:ph type="title"/>
          </p:nvPr>
        </p:nvSpPr>
        <p:spPr/>
        <p:txBody>
          <a:bodyPr/>
          <a:lstStyle/>
          <a:p>
            <a:r>
              <a:rPr lang="en-GB" noProof="0" dirty="0"/>
              <a:t>Establishing requirements</a:t>
            </a:r>
          </a:p>
        </p:txBody>
      </p:sp>
      <p:sp>
        <p:nvSpPr>
          <p:cNvPr id="5" name="Tijdelijke aanduiding voor dianummer 4"/>
          <p:cNvSpPr>
            <a:spLocks noGrp="1"/>
          </p:cNvSpPr>
          <p:nvPr>
            <p:ph type="sldNum" sz="quarter" idx="11"/>
          </p:nvPr>
        </p:nvSpPr>
        <p:spPr/>
        <p:txBody>
          <a:bodyPr/>
          <a:lstStyle/>
          <a:p>
            <a:fld id="{B6F15528-21DE-4FAA-801E-634DDDAF4B2B}" type="slidenum">
              <a:rPr lang="en-GB" noProof="0" smtClean="0"/>
              <a:t>4</a:t>
            </a:fld>
            <a:endParaRPr lang="en-GB" noProof="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4FBBCB-2364-B1C1-8516-C19E5ED27890}"/>
              </a:ext>
            </a:extLst>
          </p:cNvPr>
          <p:cNvSpPr>
            <a:spLocks noGrp="1"/>
          </p:cNvSpPr>
          <p:nvPr>
            <p:ph type="title"/>
          </p:nvPr>
        </p:nvSpPr>
        <p:spPr/>
        <p:txBody>
          <a:bodyPr/>
          <a:lstStyle/>
          <a:p>
            <a:r>
              <a:rPr lang="en-GB" noProof="0" dirty="0"/>
              <a:t>What to describe</a:t>
            </a:r>
          </a:p>
        </p:txBody>
      </p:sp>
      <p:sp>
        <p:nvSpPr>
          <p:cNvPr id="4" name="Slide Number Placeholder 3">
            <a:extLst>
              <a:ext uri="{FF2B5EF4-FFF2-40B4-BE49-F238E27FC236}">
                <a16:creationId xmlns:a16="http://schemas.microsoft.com/office/drawing/2014/main" id="{D1186EEB-093A-719B-1771-643962CA0F46}"/>
              </a:ext>
            </a:extLst>
          </p:cNvPr>
          <p:cNvSpPr>
            <a:spLocks noGrp="1"/>
          </p:cNvSpPr>
          <p:nvPr>
            <p:ph type="sldNum" sz="quarter" idx="11"/>
          </p:nvPr>
        </p:nvSpPr>
        <p:spPr/>
        <p:txBody>
          <a:bodyPr/>
          <a:lstStyle/>
          <a:p>
            <a:fld id="{B6F15528-21DE-4FAA-801E-634DDDAF4B2B}" type="slidenum">
              <a:rPr lang="en-GB" noProof="0" smtClean="0"/>
              <a:pPr/>
              <a:t>5</a:t>
            </a:fld>
            <a:endParaRPr lang="en-GB" noProof="0" dirty="0"/>
          </a:p>
        </p:txBody>
      </p:sp>
      <p:graphicFrame>
        <p:nvGraphicFramePr>
          <p:cNvPr id="7" name="Content Placeholder 6">
            <a:extLst>
              <a:ext uri="{FF2B5EF4-FFF2-40B4-BE49-F238E27FC236}">
                <a16:creationId xmlns:a16="http://schemas.microsoft.com/office/drawing/2014/main" id="{A269744D-4D36-71BC-42FD-E587B7277487}"/>
              </a:ext>
            </a:extLst>
          </p:cNvPr>
          <p:cNvGraphicFramePr>
            <a:graphicFrameLocks noGrp="1"/>
          </p:cNvGraphicFramePr>
          <p:nvPr>
            <p:ph idx="1"/>
            <p:extLst>
              <p:ext uri="{D42A27DB-BD31-4B8C-83A1-F6EECF244321}">
                <p14:modId xmlns:p14="http://schemas.microsoft.com/office/powerpoint/2010/main" val="1225899087"/>
              </p:ext>
            </p:extLst>
          </p:nvPr>
        </p:nvGraphicFramePr>
        <p:xfrm>
          <a:off x="838200" y="1600200"/>
          <a:ext cx="7467600" cy="2677160"/>
        </p:xfrm>
        <a:graphic>
          <a:graphicData uri="http://schemas.openxmlformats.org/drawingml/2006/table">
            <a:tbl>
              <a:tblPr firstRow="1" bandRow="1">
                <a:tableStyleId>{5C22544A-7EE6-4342-B048-85BDC9FD1C3A}</a:tableStyleId>
              </a:tblPr>
              <a:tblGrid>
                <a:gridCol w="4167962">
                  <a:extLst>
                    <a:ext uri="{9D8B030D-6E8A-4147-A177-3AD203B41FA5}">
                      <a16:colId xmlns:a16="http://schemas.microsoft.com/office/drawing/2014/main" val="143210967"/>
                    </a:ext>
                  </a:extLst>
                </a:gridCol>
                <a:gridCol w="3299638">
                  <a:extLst>
                    <a:ext uri="{9D8B030D-6E8A-4147-A177-3AD203B41FA5}">
                      <a16:colId xmlns:a16="http://schemas.microsoft.com/office/drawing/2014/main" val="1885422227"/>
                    </a:ext>
                  </a:extLst>
                </a:gridCol>
              </a:tblGrid>
              <a:tr h="370840">
                <a:tc>
                  <a:txBody>
                    <a:bodyPr/>
                    <a:lstStyle/>
                    <a:p>
                      <a:r>
                        <a:rPr lang="en-GB" noProof="0" dirty="0"/>
                        <a:t>REQUIREMENTS</a:t>
                      </a:r>
                    </a:p>
                  </a:txBody>
                  <a:tcPr/>
                </a:tc>
                <a:tc>
                  <a:txBody>
                    <a:bodyPr/>
                    <a:lstStyle/>
                    <a:p>
                      <a:r>
                        <a:rPr lang="en-GB" noProof="0" dirty="0"/>
                        <a:t>WHAT / HOW</a:t>
                      </a:r>
                    </a:p>
                  </a:txBody>
                  <a:tcPr/>
                </a:tc>
                <a:extLst>
                  <a:ext uri="{0D108BD9-81ED-4DB2-BD59-A6C34878D82A}">
                    <a16:rowId xmlns:a16="http://schemas.microsoft.com/office/drawing/2014/main" val="3264490101"/>
                  </a:ext>
                </a:extLst>
              </a:tr>
              <a:tr h="467360">
                <a:tc>
                  <a:txBody>
                    <a:bodyPr/>
                    <a:lstStyle/>
                    <a:p>
                      <a:r>
                        <a:rPr lang="en-GB" noProof="0" dirty="0"/>
                        <a:t>Functional requirements</a:t>
                      </a:r>
                    </a:p>
                  </a:txBody>
                  <a:tcPr/>
                </a:tc>
                <a:tc>
                  <a:txBody>
                    <a:bodyPr/>
                    <a:lstStyle/>
                    <a:p>
                      <a:r>
                        <a:rPr lang="en-GB" noProof="0" dirty="0"/>
                        <a:t>WHAT          + (NO HOW)</a:t>
                      </a:r>
                    </a:p>
                  </a:txBody>
                  <a:tcPr/>
                </a:tc>
                <a:extLst>
                  <a:ext uri="{0D108BD9-81ED-4DB2-BD59-A6C34878D82A}">
                    <a16:rowId xmlns:a16="http://schemas.microsoft.com/office/drawing/2014/main" val="3636681426"/>
                  </a:ext>
                </a:extLst>
              </a:tr>
              <a:tr h="185420">
                <a:tc>
                  <a:txBody>
                    <a:bodyPr/>
                    <a:lstStyle/>
                    <a:p>
                      <a:pPr lvl="0"/>
                      <a:r>
                        <a:rPr lang="en-GB" noProof="0" dirty="0"/>
                        <a:t>Data requirements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a:t>WHAT          + (NO HOW)</a:t>
                      </a:r>
                    </a:p>
                  </a:txBody>
                  <a:tcPr/>
                </a:tc>
                <a:extLst>
                  <a:ext uri="{0D108BD9-81ED-4DB2-BD59-A6C34878D82A}">
                    <a16:rowId xmlns:a16="http://schemas.microsoft.com/office/drawing/2014/main" val="2985003738"/>
                  </a:ext>
                </a:extLst>
              </a:tr>
              <a:tr h="185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a:t>Non-functional requirements</a:t>
                      </a:r>
                    </a:p>
                  </a:txBody>
                  <a:tcPr/>
                </a:tc>
                <a:tc>
                  <a:txBody>
                    <a:bodyPr/>
                    <a:lstStyle/>
                    <a:p>
                      <a:endParaRPr lang="en-GB" noProof="0" dirty="0"/>
                    </a:p>
                  </a:txBody>
                  <a:tcPr/>
                </a:tc>
                <a:extLst>
                  <a:ext uri="{0D108BD9-81ED-4DB2-BD59-A6C34878D82A}">
                    <a16:rowId xmlns:a16="http://schemas.microsoft.com/office/drawing/2014/main" val="613003785"/>
                  </a:ext>
                </a:extLst>
              </a:tr>
              <a:tr h="335280">
                <a:tc>
                  <a:txBody>
                    <a:bodyPr/>
                    <a:lstStyle/>
                    <a:p>
                      <a:pPr lvl="1"/>
                      <a:r>
                        <a:rPr lang="en-GB" noProof="0" dirty="0"/>
                        <a:t>Performance requirements</a:t>
                      </a:r>
                    </a:p>
                  </a:txBody>
                  <a:tcPr/>
                </a:tc>
                <a:tc>
                  <a:txBody>
                    <a:bodyPr/>
                    <a:lstStyle/>
                    <a:p>
                      <a:pPr algn="just"/>
                      <a:r>
                        <a:rPr lang="en-GB" noProof="0" dirty="0"/>
                        <a:t>WHAT          + Some HOW</a:t>
                      </a:r>
                    </a:p>
                  </a:txBody>
                  <a:tcPr/>
                </a:tc>
                <a:extLst>
                  <a:ext uri="{0D108BD9-81ED-4DB2-BD59-A6C34878D82A}">
                    <a16:rowId xmlns:a16="http://schemas.microsoft.com/office/drawing/2014/main" val="776729415"/>
                  </a:ext>
                </a:extLst>
              </a:tr>
              <a:tr h="370840">
                <a:tc>
                  <a:txBody>
                    <a:bodyPr/>
                    <a:lstStyle/>
                    <a:p>
                      <a:pPr lvl="1"/>
                      <a:r>
                        <a:rPr lang="en-GB" noProof="0" dirty="0"/>
                        <a:t>Constraints</a:t>
                      </a:r>
                    </a:p>
                  </a:txBody>
                  <a:tcPr/>
                </a:tc>
                <a:tc>
                  <a:txBody>
                    <a:bodyPr/>
                    <a:lstStyle/>
                    <a:p>
                      <a:pPr algn="just"/>
                      <a:r>
                        <a:rPr lang="en-GB" noProof="0" dirty="0"/>
                        <a:t>WHAT          + HOW</a:t>
                      </a:r>
                    </a:p>
                  </a:txBody>
                  <a:tcPr/>
                </a:tc>
                <a:extLst>
                  <a:ext uri="{0D108BD9-81ED-4DB2-BD59-A6C34878D82A}">
                    <a16:rowId xmlns:a16="http://schemas.microsoft.com/office/drawing/2014/main" val="205458175"/>
                  </a:ext>
                </a:extLst>
              </a:tr>
              <a:tr h="370840">
                <a:tc>
                  <a:txBody>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lang="en-GB" noProof="0" dirty="0"/>
                        <a:t>Guidelines</a:t>
                      </a:r>
                    </a:p>
                  </a:txBody>
                  <a:tcPr/>
                </a:tc>
                <a:tc>
                  <a:txBody>
                    <a:bodyPr/>
                    <a:lstStyle/>
                    <a:p>
                      <a:pPr algn="just"/>
                      <a:r>
                        <a:rPr lang="en-GB" noProof="0" dirty="0"/>
                        <a:t>Some WHAT + HOW</a:t>
                      </a:r>
                    </a:p>
                  </a:txBody>
                  <a:tcPr/>
                </a:tc>
                <a:extLst>
                  <a:ext uri="{0D108BD9-81ED-4DB2-BD59-A6C34878D82A}">
                    <a16:rowId xmlns:a16="http://schemas.microsoft.com/office/drawing/2014/main" val="1021113658"/>
                  </a:ext>
                </a:extLst>
              </a:tr>
            </a:tbl>
          </a:graphicData>
        </a:graphic>
      </p:graphicFrame>
    </p:spTree>
    <p:extLst>
      <p:ext uri="{BB962C8B-B14F-4D97-AF65-F5344CB8AC3E}">
        <p14:creationId xmlns:p14="http://schemas.microsoft.com/office/powerpoint/2010/main" val="1347893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0F6B7-1ED7-AFAD-5665-D4F6A50308F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7B795A-470C-1681-33EB-FDAC20138792}"/>
              </a:ext>
            </a:extLst>
          </p:cNvPr>
          <p:cNvSpPr>
            <a:spLocks noGrp="1"/>
          </p:cNvSpPr>
          <p:nvPr>
            <p:ph idx="1"/>
          </p:nvPr>
        </p:nvSpPr>
        <p:spPr/>
        <p:txBody>
          <a:bodyPr>
            <a:normAutofit fontScale="70000" lnSpcReduction="20000"/>
          </a:bodyPr>
          <a:lstStyle/>
          <a:p>
            <a:r>
              <a:rPr lang="en-GB" noProof="0" dirty="0"/>
              <a:t>What exactly does the customer want?</a:t>
            </a:r>
          </a:p>
          <a:p>
            <a:r>
              <a:rPr lang="en-GB" noProof="0" dirty="0"/>
              <a:t>Functional requirements: </a:t>
            </a:r>
            <a:r>
              <a:rPr lang="en-GB" sz="2300" noProof="0" dirty="0">
                <a:solidFill>
                  <a:srgbClr val="FF0000"/>
                </a:solidFill>
              </a:rPr>
              <a:t>WHAT Only</a:t>
            </a:r>
          </a:p>
          <a:p>
            <a:pPr lvl="1"/>
            <a:r>
              <a:rPr lang="en-GB" noProof="0" dirty="0"/>
              <a:t>Something the SW needs to do (actions)</a:t>
            </a:r>
          </a:p>
          <a:p>
            <a:r>
              <a:rPr lang="en-GB" noProof="0" dirty="0"/>
              <a:t>Data requirements: </a:t>
            </a:r>
            <a:r>
              <a:rPr lang="en-GB" sz="2300" noProof="0" dirty="0">
                <a:solidFill>
                  <a:srgbClr val="FF0000"/>
                </a:solidFill>
              </a:rPr>
              <a:t>WHAT only</a:t>
            </a:r>
            <a:endParaRPr lang="en-GB" noProof="0" dirty="0">
              <a:solidFill>
                <a:srgbClr val="FF0000"/>
              </a:solidFill>
            </a:endParaRPr>
          </a:p>
          <a:p>
            <a:pPr lvl="1"/>
            <a:r>
              <a:rPr lang="en-GB" noProof="0" dirty="0"/>
              <a:t>Define inputs and outputs (from/to the end-users and other systems)</a:t>
            </a:r>
          </a:p>
          <a:p>
            <a:r>
              <a:rPr lang="en-GB" noProof="0" dirty="0"/>
              <a:t>Performance requirements: </a:t>
            </a:r>
            <a:r>
              <a:rPr lang="en-GB" sz="2300" noProof="0" dirty="0">
                <a:solidFill>
                  <a:srgbClr val="FF0000"/>
                </a:solidFill>
              </a:rPr>
              <a:t>WHAT and some HOW</a:t>
            </a:r>
            <a:endParaRPr lang="en-GB" noProof="0" dirty="0">
              <a:solidFill>
                <a:srgbClr val="FF0000"/>
              </a:solidFill>
            </a:endParaRPr>
          </a:p>
          <a:p>
            <a:pPr lvl="1"/>
            <a:r>
              <a:rPr lang="en-GB" noProof="0" dirty="0"/>
              <a:t>Budget, Delivery date, </a:t>
            </a:r>
          </a:p>
          <a:p>
            <a:pPr lvl="1"/>
            <a:r>
              <a:rPr lang="en-GB" noProof="0" dirty="0"/>
              <a:t>Response times, throughput, </a:t>
            </a:r>
          </a:p>
          <a:p>
            <a:pPr lvl="1"/>
            <a:r>
              <a:rPr lang="en-GB" noProof="0" dirty="0"/>
              <a:t>Communication speed, processing speed,</a:t>
            </a:r>
          </a:p>
          <a:p>
            <a:pPr lvl="1"/>
            <a:r>
              <a:rPr lang="en-GB" noProof="0" dirty="0"/>
              <a:t>Integration with legacy systems, …</a:t>
            </a:r>
          </a:p>
          <a:p>
            <a:r>
              <a:rPr lang="en-GB" noProof="0" dirty="0"/>
              <a:t>Constraints: </a:t>
            </a:r>
            <a:r>
              <a:rPr lang="en-GB" sz="2300" noProof="0" dirty="0">
                <a:solidFill>
                  <a:srgbClr val="FF0000"/>
                </a:solidFill>
              </a:rPr>
              <a:t>WHAT + HOW</a:t>
            </a:r>
            <a:endParaRPr lang="en-GB" noProof="0" dirty="0">
              <a:solidFill>
                <a:srgbClr val="FF0000"/>
              </a:solidFill>
            </a:endParaRPr>
          </a:p>
          <a:p>
            <a:pPr lvl="1"/>
            <a:r>
              <a:rPr lang="en-GB" noProof="0" dirty="0"/>
              <a:t>Available processing power and available memory,</a:t>
            </a:r>
          </a:p>
          <a:p>
            <a:pPr lvl="1"/>
            <a:r>
              <a:rPr lang="en-GB" noProof="0" dirty="0"/>
              <a:t>Budget, </a:t>
            </a:r>
          </a:p>
          <a:p>
            <a:pPr lvl="1"/>
            <a:r>
              <a:rPr lang="en-GB" noProof="0" dirty="0"/>
              <a:t>Size of the team,</a:t>
            </a:r>
          </a:p>
          <a:p>
            <a:pPr lvl="1"/>
            <a:r>
              <a:rPr lang="en-GB" noProof="0" dirty="0"/>
              <a:t>Availability of testing capabilities,</a:t>
            </a:r>
          </a:p>
          <a:p>
            <a:pPr lvl="1"/>
            <a:r>
              <a:rPr lang="en-GB" noProof="0" dirty="0"/>
              <a:t>Language to use, </a:t>
            </a:r>
          </a:p>
          <a:p>
            <a:pPr lvl="1"/>
            <a:r>
              <a:rPr lang="en-GB" noProof="0" dirty="0"/>
              <a:t>Interfacing with other systems</a:t>
            </a:r>
          </a:p>
          <a:p>
            <a:r>
              <a:rPr lang="en-GB" noProof="0" dirty="0"/>
              <a:t>Guideline: </a:t>
            </a:r>
            <a:r>
              <a:rPr lang="en-GB" sz="2300" noProof="0" dirty="0">
                <a:solidFill>
                  <a:srgbClr val="FF0000"/>
                </a:solidFill>
              </a:rPr>
              <a:t>Some WHAT + More HOW</a:t>
            </a:r>
            <a:endParaRPr lang="en-GB" noProof="0" dirty="0">
              <a:solidFill>
                <a:srgbClr val="FF0000"/>
              </a:solidFill>
            </a:endParaRPr>
          </a:p>
          <a:p>
            <a:pPr lvl="1"/>
            <a:r>
              <a:rPr lang="en-GB" noProof="0" dirty="0"/>
              <a:t>Guidance on choosing 1 option if there are multiple options known upfront</a:t>
            </a:r>
          </a:p>
        </p:txBody>
      </p:sp>
      <p:sp>
        <p:nvSpPr>
          <p:cNvPr id="3" name="Title 2">
            <a:extLst>
              <a:ext uri="{FF2B5EF4-FFF2-40B4-BE49-F238E27FC236}">
                <a16:creationId xmlns:a16="http://schemas.microsoft.com/office/drawing/2014/main" id="{E32FFAD6-B3A9-2CC3-9A26-F73B6531CC3C}"/>
              </a:ext>
            </a:extLst>
          </p:cNvPr>
          <p:cNvSpPr>
            <a:spLocks noGrp="1"/>
          </p:cNvSpPr>
          <p:nvPr>
            <p:ph type="title"/>
          </p:nvPr>
        </p:nvSpPr>
        <p:spPr/>
        <p:txBody>
          <a:bodyPr/>
          <a:lstStyle/>
          <a:p>
            <a:r>
              <a:rPr lang="en-GB" noProof="0" dirty="0"/>
              <a:t>Establishing requirements: Requirements Engineering</a:t>
            </a:r>
          </a:p>
        </p:txBody>
      </p:sp>
      <p:sp>
        <p:nvSpPr>
          <p:cNvPr id="5" name="Tijdelijke aanduiding voor dianummer 4">
            <a:extLst>
              <a:ext uri="{FF2B5EF4-FFF2-40B4-BE49-F238E27FC236}">
                <a16:creationId xmlns:a16="http://schemas.microsoft.com/office/drawing/2014/main" id="{F2968D9A-356C-ED4A-CC37-BA7C029F2923}"/>
              </a:ext>
            </a:extLst>
          </p:cNvPr>
          <p:cNvSpPr>
            <a:spLocks noGrp="1"/>
          </p:cNvSpPr>
          <p:nvPr>
            <p:ph type="sldNum" sz="quarter" idx="11"/>
          </p:nvPr>
        </p:nvSpPr>
        <p:spPr/>
        <p:txBody>
          <a:bodyPr/>
          <a:lstStyle/>
          <a:p>
            <a:fld id="{B6F15528-21DE-4FAA-801E-634DDDAF4B2B}" type="slidenum">
              <a:rPr lang="en-GB" noProof="0" smtClean="0"/>
              <a:t>6</a:t>
            </a:fld>
            <a:endParaRPr lang="en-GB" noProof="0" dirty="0"/>
          </a:p>
        </p:txBody>
      </p:sp>
    </p:spTree>
    <p:extLst>
      <p:ext uri="{BB962C8B-B14F-4D97-AF65-F5344CB8AC3E}">
        <p14:creationId xmlns:p14="http://schemas.microsoft.com/office/powerpoint/2010/main" val="881245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
                                            <p:txEl>
                                              <p:pRg st="14" end="14"/>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2">
                                            <p:txEl>
                                              <p:pRg st="15" end="15"/>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2">
                                            <p:txEl>
                                              <p:pRg st="16" end="16"/>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2">
                                            <p:txEl>
                                              <p:pRg st="17" end="17"/>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2">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p:cNvSpPr>
            <a:spLocks noGrp="1"/>
          </p:cNvSpPr>
          <p:nvPr>
            <p:ph idx="1"/>
          </p:nvPr>
        </p:nvSpPr>
        <p:spPr/>
        <p:txBody>
          <a:bodyPr/>
          <a:lstStyle/>
          <a:p>
            <a:pPr marL="0" indent="0">
              <a:buNone/>
            </a:pPr>
            <a:r>
              <a:rPr lang="en-GB" sz="2600" i="1" noProof="0" dirty="0"/>
              <a:t>"On a dry track, the train of maximum 100 tons should be able to depart on a gradient of up to 30 degrees with an acceleration of at least 30km/h/h."</a:t>
            </a:r>
          </a:p>
          <a:p>
            <a:pPr lvl="1"/>
            <a:endParaRPr lang="en-GB" noProof="0" dirty="0"/>
          </a:p>
          <a:p>
            <a:r>
              <a:rPr lang="en-GB" noProof="0" dirty="0"/>
              <a:t>Says nothing about </a:t>
            </a:r>
            <a:r>
              <a:rPr lang="en-GB" noProof="0" dirty="0">
                <a:solidFill>
                  <a:srgbClr val="FF0000"/>
                </a:solidFill>
              </a:rPr>
              <a:t>how</a:t>
            </a:r>
            <a:r>
              <a:rPr lang="en-GB" noProof="0" dirty="0"/>
              <a:t> to build the train</a:t>
            </a:r>
          </a:p>
          <a:p>
            <a:pPr lvl="1"/>
            <a:r>
              <a:rPr lang="en-GB" noProof="0" dirty="0"/>
              <a:t>Engine</a:t>
            </a:r>
          </a:p>
          <a:p>
            <a:pPr lvl="1"/>
            <a:r>
              <a:rPr lang="en-GB" noProof="0" dirty="0"/>
              <a:t>Form</a:t>
            </a:r>
          </a:p>
          <a:p>
            <a:pPr lvl="1"/>
            <a:r>
              <a:rPr lang="en-GB" noProof="0" dirty="0"/>
              <a:t>Number of wheels</a:t>
            </a:r>
          </a:p>
        </p:txBody>
      </p:sp>
      <p:sp>
        <p:nvSpPr>
          <p:cNvPr id="3" name="Titel 2"/>
          <p:cNvSpPr>
            <a:spLocks noGrp="1"/>
          </p:cNvSpPr>
          <p:nvPr>
            <p:ph type="title"/>
          </p:nvPr>
        </p:nvSpPr>
        <p:spPr/>
        <p:txBody>
          <a:bodyPr/>
          <a:lstStyle/>
          <a:p>
            <a:r>
              <a:rPr lang="en-GB" noProof="0" dirty="0"/>
              <a:t>Sample requirement</a:t>
            </a:r>
          </a:p>
        </p:txBody>
      </p:sp>
      <p:sp>
        <p:nvSpPr>
          <p:cNvPr id="5" name="Tijdelijke aanduiding voor dianummer 4"/>
          <p:cNvSpPr>
            <a:spLocks noGrp="1"/>
          </p:cNvSpPr>
          <p:nvPr>
            <p:ph type="sldNum" sz="quarter" idx="11"/>
          </p:nvPr>
        </p:nvSpPr>
        <p:spPr/>
        <p:txBody>
          <a:bodyPr/>
          <a:lstStyle/>
          <a:p>
            <a:fld id="{B6F15528-21DE-4FAA-801E-634DDDAF4B2B}" type="slidenum">
              <a:rPr lang="en-GB" noProof="0" smtClean="0"/>
              <a:t>7</a:t>
            </a:fld>
            <a:endParaRPr lang="en-GB" noProof="0" dirty="0"/>
          </a:p>
        </p:txBody>
      </p:sp>
    </p:spTree>
    <p:extLst>
      <p:ext uri="{BB962C8B-B14F-4D97-AF65-F5344CB8AC3E}">
        <p14:creationId xmlns:p14="http://schemas.microsoft.com/office/powerpoint/2010/main" val="857369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GB" noProof="0" dirty="0"/>
              <a:t>Specification and implementation are inseparable</a:t>
            </a:r>
          </a:p>
          <a:p>
            <a:r>
              <a:rPr lang="en-GB" noProof="0" dirty="0"/>
              <a:t>Specification may depend on implementation of an existing system</a:t>
            </a:r>
          </a:p>
          <a:p>
            <a:r>
              <a:rPr lang="en-GB" noProof="0" dirty="0"/>
              <a:t>E.g. a library that works with a paper-based lending system</a:t>
            </a:r>
          </a:p>
          <a:p>
            <a:pPr lvl="1"/>
            <a:r>
              <a:rPr lang="en-GB" noProof="0" dirty="0"/>
              <a:t>Implementation of existing system</a:t>
            </a:r>
          </a:p>
          <a:p>
            <a:pPr lvl="2"/>
            <a:r>
              <a:rPr lang="en-GB" noProof="0" dirty="0"/>
              <a:t>Cards with customer data</a:t>
            </a:r>
          </a:p>
          <a:p>
            <a:pPr lvl="2"/>
            <a:r>
              <a:rPr lang="en-GB" noProof="0" dirty="0"/>
              <a:t>Cards with book data</a:t>
            </a:r>
          </a:p>
          <a:p>
            <a:pPr lvl="1"/>
            <a:r>
              <a:rPr lang="en-GB" noProof="0" dirty="0"/>
              <a:t>Specification new system</a:t>
            </a:r>
          </a:p>
          <a:p>
            <a:pPr lvl="2"/>
            <a:r>
              <a:rPr lang="en-GB" noProof="0" dirty="0"/>
              <a:t>Be able to maintain customer records</a:t>
            </a:r>
          </a:p>
          <a:p>
            <a:pPr lvl="2"/>
            <a:r>
              <a:rPr lang="en-GB" noProof="0" dirty="0"/>
              <a:t>Be able to maintain book records</a:t>
            </a:r>
          </a:p>
        </p:txBody>
      </p:sp>
      <p:sp>
        <p:nvSpPr>
          <p:cNvPr id="3" name="Title 2"/>
          <p:cNvSpPr>
            <a:spLocks noGrp="1"/>
          </p:cNvSpPr>
          <p:nvPr>
            <p:ph type="title"/>
          </p:nvPr>
        </p:nvSpPr>
        <p:spPr/>
        <p:txBody>
          <a:bodyPr/>
          <a:lstStyle/>
          <a:p>
            <a:r>
              <a:rPr lang="en-GB" noProof="0" dirty="0"/>
              <a:t>Specification vs implementation</a:t>
            </a:r>
          </a:p>
        </p:txBody>
      </p:sp>
      <p:sp>
        <p:nvSpPr>
          <p:cNvPr id="5" name="Tijdelijke aanduiding voor dianummer 4"/>
          <p:cNvSpPr>
            <a:spLocks noGrp="1"/>
          </p:cNvSpPr>
          <p:nvPr>
            <p:ph type="sldNum" sz="quarter" idx="11"/>
          </p:nvPr>
        </p:nvSpPr>
        <p:spPr/>
        <p:txBody>
          <a:bodyPr/>
          <a:lstStyle/>
          <a:p>
            <a:fld id="{B6F15528-21DE-4FAA-801E-634DDDAF4B2B}" type="slidenum">
              <a:rPr lang="en-GB" noProof="0" smtClean="0"/>
              <a:t>8</a:t>
            </a:fld>
            <a:endParaRPr lang="en-GB"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GB" noProof="0" dirty="0"/>
              <a:t>Implementation may be impossible because of technical reasons</a:t>
            </a:r>
          </a:p>
          <a:p>
            <a:pPr lvl="1"/>
            <a:r>
              <a:rPr lang="en-GB" noProof="0" dirty="0"/>
              <a:t>Is it possible to retrieve, recalculate and display data within 0.1 seconds</a:t>
            </a:r>
          </a:p>
          <a:p>
            <a:r>
              <a:rPr lang="en-GB" noProof="0" dirty="0"/>
              <a:t>Implementation must be taken into account to estimate cost and completion date</a:t>
            </a:r>
          </a:p>
        </p:txBody>
      </p:sp>
      <p:sp>
        <p:nvSpPr>
          <p:cNvPr id="3" name="Title 2"/>
          <p:cNvSpPr>
            <a:spLocks noGrp="1"/>
          </p:cNvSpPr>
          <p:nvPr>
            <p:ph type="title"/>
          </p:nvPr>
        </p:nvSpPr>
        <p:spPr/>
        <p:txBody>
          <a:bodyPr/>
          <a:lstStyle/>
          <a:p>
            <a:r>
              <a:rPr lang="en-GB" noProof="0" dirty="0"/>
              <a:t>Specification vs implementation</a:t>
            </a:r>
          </a:p>
        </p:txBody>
      </p:sp>
      <p:sp>
        <p:nvSpPr>
          <p:cNvPr id="5" name="Tijdelijke aanduiding voor dianummer 4"/>
          <p:cNvSpPr>
            <a:spLocks noGrp="1"/>
          </p:cNvSpPr>
          <p:nvPr>
            <p:ph type="sldNum" sz="quarter" idx="11"/>
          </p:nvPr>
        </p:nvSpPr>
        <p:spPr/>
        <p:txBody>
          <a:bodyPr/>
          <a:lstStyle/>
          <a:p>
            <a:fld id="{B6F15528-21DE-4FAA-801E-634DDDAF4B2B}" type="slidenum">
              <a:rPr lang="en-GB" noProof="0" smtClean="0"/>
              <a:t>9</a:t>
            </a:fld>
            <a:endParaRPr lang="en-GB" noProof="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GB" noProof="0" dirty="0"/>
              <a:t>Implementation free</a:t>
            </a:r>
          </a:p>
          <a:p>
            <a:pPr lvl="1"/>
            <a:r>
              <a:rPr lang="en-GB" noProof="0" dirty="0"/>
              <a:t>No implementation details are required</a:t>
            </a:r>
          </a:p>
          <a:p>
            <a:r>
              <a:rPr lang="en-GB" noProof="0" dirty="0"/>
              <a:t>Complete</a:t>
            </a:r>
          </a:p>
          <a:p>
            <a:pPr lvl="1"/>
            <a:r>
              <a:rPr lang="en-GB" noProof="0" dirty="0"/>
              <a:t>Each requirement is listed</a:t>
            </a:r>
          </a:p>
          <a:p>
            <a:r>
              <a:rPr lang="en-GB" noProof="0" dirty="0"/>
              <a:t>Consistent</a:t>
            </a:r>
          </a:p>
          <a:p>
            <a:pPr lvl="1"/>
            <a:r>
              <a:rPr lang="en-GB" noProof="0" dirty="0"/>
              <a:t>Requirements should not contradict each other</a:t>
            </a:r>
          </a:p>
          <a:p>
            <a:r>
              <a:rPr lang="en-GB" noProof="0" dirty="0"/>
              <a:t>Unambiguous</a:t>
            </a:r>
          </a:p>
          <a:p>
            <a:pPr lvl="1"/>
            <a:r>
              <a:rPr lang="en-GB" noProof="0" dirty="0"/>
              <a:t>Each requirement can only be interpreted in one way</a:t>
            </a:r>
          </a:p>
          <a:p>
            <a:r>
              <a:rPr lang="en-GB" noProof="0" dirty="0"/>
              <a:t>Concise</a:t>
            </a:r>
          </a:p>
          <a:p>
            <a:pPr lvl="1"/>
            <a:r>
              <a:rPr lang="en-GB" noProof="0" dirty="0"/>
              <a:t>Each requirement occurs only once</a:t>
            </a:r>
          </a:p>
        </p:txBody>
      </p:sp>
      <p:sp>
        <p:nvSpPr>
          <p:cNvPr id="3" name="Title 2"/>
          <p:cNvSpPr>
            <a:spLocks noGrp="1"/>
          </p:cNvSpPr>
          <p:nvPr>
            <p:ph type="title"/>
          </p:nvPr>
        </p:nvSpPr>
        <p:spPr/>
        <p:txBody>
          <a:bodyPr/>
          <a:lstStyle/>
          <a:p>
            <a:r>
              <a:rPr lang="en-GB" noProof="0" dirty="0"/>
              <a:t>Good Specification SHOULD BE</a:t>
            </a:r>
          </a:p>
        </p:txBody>
      </p:sp>
      <p:sp>
        <p:nvSpPr>
          <p:cNvPr id="5" name="Tijdelijke aanduiding voor dianummer 4"/>
          <p:cNvSpPr>
            <a:spLocks noGrp="1"/>
          </p:cNvSpPr>
          <p:nvPr>
            <p:ph type="sldNum" sz="quarter" idx="11"/>
          </p:nvPr>
        </p:nvSpPr>
        <p:spPr/>
        <p:txBody>
          <a:bodyPr/>
          <a:lstStyle/>
          <a:p>
            <a:fld id="{B6F15528-21DE-4FAA-801E-634DDDAF4B2B}" type="slidenum">
              <a:rPr lang="en-GB" noProof="0" smtClean="0"/>
              <a:t>10</a:t>
            </a:fld>
            <a:endParaRPr lang="en-GB" noProof="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GB" noProof="0" dirty="0"/>
              <a:t>Minimal</a:t>
            </a:r>
          </a:p>
          <a:p>
            <a:pPr lvl="1"/>
            <a:r>
              <a:rPr lang="en-GB" noProof="0" dirty="0"/>
              <a:t>There are no unnecessary requirements, which are e.g. already contained in other requirements</a:t>
            </a:r>
          </a:p>
          <a:p>
            <a:r>
              <a:rPr lang="en-GB" noProof="0" dirty="0"/>
              <a:t>Understanding</a:t>
            </a:r>
          </a:p>
          <a:p>
            <a:pPr lvl="1"/>
            <a:r>
              <a:rPr lang="en-GB" noProof="0" dirty="0"/>
              <a:t>Everything is clear to both client and developers</a:t>
            </a:r>
          </a:p>
          <a:p>
            <a:r>
              <a:rPr lang="en-GB" noProof="0" dirty="0"/>
              <a:t>Feasible</a:t>
            </a:r>
          </a:p>
          <a:p>
            <a:pPr lvl="1"/>
            <a:r>
              <a:rPr lang="en-GB" noProof="0" dirty="0"/>
              <a:t>All requirements are technically and economically feasible</a:t>
            </a:r>
          </a:p>
          <a:p>
            <a:r>
              <a:rPr lang="en-GB" noProof="0" dirty="0"/>
              <a:t>Testable</a:t>
            </a:r>
          </a:p>
          <a:p>
            <a:pPr lvl="1"/>
            <a:r>
              <a:rPr lang="en-GB" noProof="0" dirty="0"/>
              <a:t>All requirements are testable</a:t>
            </a:r>
          </a:p>
        </p:txBody>
      </p:sp>
      <p:sp>
        <p:nvSpPr>
          <p:cNvPr id="3" name="Title 2"/>
          <p:cNvSpPr>
            <a:spLocks noGrp="1"/>
          </p:cNvSpPr>
          <p:nvPr>
            <p:ph type="title"/>
          </p:nvPr>
        </p:nvSpPr>
        <p:spPr/>
        <p:txBody>
          <a:bodyPr/>
          <a:lstStyle/>
          <a:p>
            <a:r>
              <a:rPr lang="en-GB" noProof="0" dirty="0"/>
              <a:t>Good Specification SHOULD BE</a:t>
            </a:r>
          </a:p>
        </p:txBody>
      </p:sp>
      <p:sp>
        <p:nvSpPr>
          <p:cNvPr id="5" name="Tijdelijke aanduiding voor dianummer 4"/>
          <p:cNvSpPr>
            <a:spLocks noGrp="1"/>
          </p:cNvSpPr>
          <p:nvPr>
            <p:ph type="sldNum" sz="quarter" idx="11"/>
          </p:nvPr>
        </p:nvSpPr>
        <p:spPr/>
        <p:txBody>
          <a:bodyPr/>
          <a:lstStyle/>
          <a:p>
            <a:fld id="{B6F15528-21DE-4FAA-801E-634DDDAF4B2B}" type="slidenum">
              <a:rPr lang="en-GB" noProof="0" smtClean="0"/>
              <a:t>11</a:t>
            </a:fld>
            <a:endParaRPr lang="en-GB" noProof="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p:cNvSpPr>
            <a:spLocks noGrp="1"/>
          </p:cNvSpPr>
          <p:nvPr>
            <p:ph idx="1"/>
          </p:nvPr>
        </p:nvSpPr>
        <p:spPr/>
        <p:txBody>
          <a:bodyPr>
            <a:normAutofit/>
          </a:bodyPr>
          <a:lstStyle/>
          <a:p>
            <a:r>
              <a:rPr lang="en-GB" sz="2600" i="1" noProof="0" dirty="0"/>
              <a:t>"Write a program in Java for a personal phone book. The program should include functions for looking up a number and for adding a number. The program should also have a user-friendly interface."</a:t>
            </a:r>
          </a:p>
        </p:txBody>
      </p:sp>
      <p:sp>
        <p:nvSpPr>
          <p:cNvPr id="3" name="Titel 2"/>
          <p:cNvSpPr>
            <a:spLocks noGrp="1"/>
          </p:cNvSpPr>
          <p:nvPr>
            <p:ph type="title"/>
          </p:nvPr>
        </p:nvSpPr>
        <p:spPr/>
        <p:txBody>
          <a:bodyPr/>
          <a:lstStyle/>
          <a:p>
            <a:r>
              <a:rPr lang="en-GB" noProof="0" dirty="0"/>
              <a:t>(Incorrect) Example: Phone book APP</a:t>
            </a:r>
          </a:p>
        </p:txBody>
      </p:sp>
      <p:sp>
        <p:nvSpPr>
          <p:cNvPr id="5" name="Tijdelijke aanduiding voor dianummer 4"/>
          <p:cNvSpPr>
            <a:spLocks noGrp="1"/>
          </p:cNvSpPr>
          <p:nvPr>
            <p:ph type="sldNum" sz="quarter" idx="11"/>
          </p:nvPr>
        </p:nvSpPr>
        <p:spPr/>
        <p:txBody>
          <a:bodyPr/>
          <a:lstStyle/>
          <a:p>
            <a:fld id="{B6F15528-21DE-4FAA-801E-634DDDAF4B2B}" type="slidenum">
              <a:rPr lang="en-GB" noProof="0" smtClean="0"/>
              <a:t>12</a:t>
            </a:fld>
            <a:endParaRPr lang="en-GB" noProof="0" dirty="0"/>
          </a:p>
        </p:txBody>
      </p:sp>
    </p:spTree>
    <p:extLst>
      <p:ext uri="{BB962C8B-B14F-4D97-AF65-F5344CB8AC3E}">
        <p14:creationId xmlns:p14="http://schemas.microsoft.com/office/powerpoint/2010/main" val="2772247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4BD87D-7972-C2EF-F5C8-FFBC44993D92}"/>
              </a:ext>
            </a:extLst>
          </p:cNvPr>
          <p:cNvSpPr>
            <a:spLocks noGrp="1"/>
          </p:cNvSpPr>
          <p:nvPr>
            <p:ph idx="1"/>
          </p:nvPr>
        </p:nvSpPr>
        <p:spPr/>
        <p:txBody>
          <a:bodyPr>
            <a:normAutofit fontScale="47500" lnSpcReduction="20000"/>
          </a:bodyPr>
          <a:lstStyle/>
          <a:p>
            <a:r>
              <a:rPr lang="en-GB" b="1" noProof="0" dirty="0"/>
              <a:t>Specifies </a:t>
            </a:r>
            <a:r>
              <a:rPr lang="en-GB" b="1" i="1" noProof="0" dirty="0"/>
              <a:t>how</a:t>
            </a:r>
            <a:r>
              <a:rPr lang="en-GB" b="1" noProof="0" dirty="0"/>
              <a:t>, not </a:t>
            </a:r>
            <a:r>
              <a:rPr lang="en-GB" b="1" i="1" noProof="0" dirty="0"/>
              <a:t>what</a:t>
            </a:r>
            <a:endParaRPr lang="en-GB" noProof="0" dirty="0"/>
          </a:p>
          <a:p>
            <a:pPr lvl="1"/>
            <a:r>
              <a:rPr lang="en-GB" noProof="0" dirty="0"/>
              <a:t>The requirement says “</a:t>
            </a:r>
            <a:r>
              <a:rPr lang="en-GB" b="1" noProof="0" dirty="0"/>
              <a:t>write a program in Java</a:t>
            </a:r>
            <a:r>
              <a:rPr lang="en-GB" noProof="0" dirty="0"/>
              <a:t>.”</a:t>
            </a:r>
          </a:p>
          <a:p>
            <a:pPr lvl="1"/>
            <a:r>
              <a:rPr lang="en-GB" noProof="0" dirty="0"/>
              <a:t>This dictates an </a:t>
            </a:r>
            <a:r>
              <a:rPr lang="en-GB" i="1" noProof="0" dirty="0"/>
              <a:t>implementation detail</a:t>
            </a:r>
            <a:r>
              <a:rPr lang="en-GB" noProof="0" dirty="0"/>
              <a:t>, not a </a:t>
            </a:r>
            <a:r>
              <a:rPr lang="en-GB" i="1" noProof="0" dirty="0"/>
              <a:t>user need</a:t>
            </a:r>
            <a:r>
              <a:rPr lang="en-GB" noProof="0" dirty="0"/>
              <a:t>.</a:t>
            </a:r>
          </a:p>
          <a:p>
            <a:pPr lvl="1"/>
            <a:r>
              <a:rPr lang="en-GB" noProof="0" dirty="0"/>
              <a:t>Requirements should describe </a:t>
            </a:r>
            <a:r>
              <a:rPr lang="en-GB" i="1" noProof="0" dirty="0"/>
              <a:t>what</a:t>
            </a:r>
            <a:r>
              <a:rPr lang="en-GB" noProof="0" dirty="0"/>
              <a:t> the system must do, not </a:t>
            </a:r>
            <a:r>
              <a:rPr lang="en-GB" i="1" noProof="0" dirty="0"/>
              <a:t>how</a:t>
            </a:r>
            <a:r>
              <a:rPr lang="en-GB" noProof="0" dirty="0"/>
              <a:t> it will be built.</a:t>
            </a:r>
          </a:p>
          <a:p>
            <a:pPr lvl="1"/>
            <a:r>
              <a:rPr lang="en-GB" noProof="0" dirty="0"/>
              <a:t>Example of a better phrasing:</a:t>
            </a:r>
          </a:p>
          <a:p>
            <a:pPr lvl="1"/>
            <a:r>
              <a:rPr lang="en-GB" noProof="0" dirty="0"/>
              <a:t>“The system shall provide functionality for users to store and retrieve contact information.”</a:t>
            </a:r>
          </a:p>
          <a:p>
            <a:r>
              <a:rPr lang="en-GB" b="1" noProof="0" dirty="0"/>
              <a:t>Too vague / subjective language</a:t>
            </a:r>
            <a:endParaRPr lang="en-GB" noProof="0" dirty="0"/>
          </a:p>
          <a:p>
            <a:pPr lvl="1"/>
            <a:r>
              <a:rPr lang="en-GB" noProof="0" dirty="0"/>
              <a:t>The phrase “</a:t>
            </a:r>
            <a:r>
              <a:rPr lang="en-GB" b="1" noProof="0" dirty="0"/>
              <a:t>user-friendly interface</a:t>
            </a:r>
            <a:r>
              <a:rPr lang="en-GB" noProof="0" dirty="0"/>
              <a:t>” is subjective — what’s “friendly” to one user might not be to another.</a:t>
            </a:r>
          </a:p>
          <a:p>
            <a:pPr lvl="1"/>
            <a:r>
              <a:rPr lang="en-GB" noProof="0" dirty="0"/>
              <a:t>Good requirements must be </a:t>
            </a:r>
            <a:r>
              <a:rPr lang="en-GB" i="1" noProof="0" dirty="0"/>
              <a:t>measurable</a:t>
            </a:r>
            <a:r>
              <a:rPr lang="en-GB" noProof="0" dirty="0"/>
              <a:t> or </a:t>
            </a:r>
            <a:r>
              <a:rPr lang="en-GB" i="1" noProof="0" dirty="0"/>
              <a:t>testable</a:t>
            </a:r>
            <a:r>
              <a:rPr lang="en-GB" noProof="0" dirty="0"/>
              <a:t>.</a:t>
            </a:r>
          </a:p>
          <a:p>
            <a:pPr lvl="1"/>
            <a:r>
              <a:rPr lang="en-GB" noProof="0" dirty="0"/>
              <a:t>Better:</a:t>
            </a:r>
          </a:p>
          <a:p>
            <a:pPr lvl="2"/>
            <a:r>
              <a:rPr lang="en-GB" noProof="0" dirty="0"/>
              <a:t>“The system’s interface shall allow a user to perform add or lookup operations with no more than three clicks.”</a:t>
            </a:r>
            <a:br>
              <a:rPr lang="en-GB" noProof="0" dirty="0"/>
            </a:br>
            <a:r>
              <a:rPr lang="en-GB" noProof="0" dirty="0"/>
              <a:t>or</a:t>
            </a:r>
            <a:br>
              <a:rPr lang="en-GB" noProof="0" dirty="0"/>
            </a:br>
            <a:r>
              <a:rPr lang="en-GB" noProof="0" dirty="0"/>
              <a:t>“The system shall pass usability testing with a minimum score of 80% satisfaction.”</a:t>
            </a:r>
          </a:p>
          <a:p>
            <a:r>
              <a:rPr lang="en-GB" b="1" noProof="0" dirty="0"/>
              <a:t>Incomplete functionality description</a:t>
            </a:r>
            <a:endParaRPr lang="en-GB" noProof="0" dirty="0"/>
          </a:p>
          <a:p>
            <a:pPr lvl="1"/>
            <a:r>
              <a:rPr lang="en-GB" noProof="0" dirty="0"/>
              <a:t>Only two functions are listed: lookup and add.</a:t>
            </a:r>
          </a:p>
          <a:p>
            <a:pPr lvl="1"/>
            <a:r>
              <a:rPr lang="en-GB" noProof="0" dirty="0"/>
              <a:t>What about deleting, editing, or saving data? Are there limits on the number of entries? Persistence?</a:t>
            </a:r>
          </a:p>
          <a:p>
            <a:pPr lvl="1"/>
            <a:r>
              <a:rPr lang="en-GB" noProof="0" dirty="0"/>
              <a:t>Requirements should cover the full expected behaviour or clearly define scope.</a:t>
            </a:r>
          </a:p>
          <a:p>
            <a:r>
              <a:rPr lang="en-GB" b="1" noProof="0" dirty="0"/>
              <a:t>Mixes requirements and design</a:t>
            </a:r>
            <a:endParaRPr lang="en-GB" noProof="0" dirty="0"/>
          </a:p>
          <a:p>
            <a:pPr lvl="1"/>
            <a:r>
              <a:rPr lang="en-GB" noProof="0" dirty="0"/>
              <a:t>“Program in Java” and “user-friendly interface” are design-level details, not requirement-level.</a:t>
            </a:r>
          </a:p>
          <a:p>
            <a:pPr lvl="1"/>
            <a:r>
              <a:rPr lang="en-GB" noProof="0" dirty="0"/>
              <a:t>Requirements should remain implementation-independent so that later design choices remain flexible.</a:t>
            </a:r>
          </a:p>
          <a:p>
            <a:r>
              <a:rPr lang="en-GB" b="1" noProof="0" dirty="0"/>
              <a:t>Not traceable or testable</a:t>
            </a:r>
            <a:endParaRPr lang="en-GB" noProof="0" dirty="0"/>
          </a:p>
          <a:p>
            <a:pPr lvl="1"/>
            <a:r>
              <a:rPr lang="en-GB" noProof="0" dirty="0"/>
              <a:t>It’s unclear how one would verify that “user-friendly” or “functions for looking up a number” have been implemented correctly — the requirement lacks measurable acceptance criteria.</a:t>
            </a:r>
          </a:p>
          <a:p>
            <a:endParaRPr lang="en-GB" noProof="0" dirty="0"/>
          </a:p>
        </p:txBody>
      </p:sp>
      <p:sp>
        <p:nvSpPr>
          <p:cNvPr id="3" name="Title 2">
            <a:extLst>
              <a:ext uri="{FF2B5EF4-FFF2-40B4-BE49-F238E27FC236}">
                <a16:creationId xmlns:a16="http://schemas.microsoft.com/office/drawing/2014/main" id="{55062426-B909-3F73-AC1D-B4A6D34BD5B3}"/>
              </a:ext>
            </a:extLst>
          </p:cNvPr>
          <p:cNvSpPr>
            <a:spLocks noGrp="1"/>
          </p:cNvSpPr>
          <p:nvPr>
            <p:ph type="title"/>
          </p:nvPr>
        </p:nvSpPr>
        <p:spPr/>
        <p:txBody>
          <a:bodyPr/>
          <a:lstStyle/>
          <a:p>
            <a:r>
              <a:rPr lang="en-GB" noProof="0" dirty="0"/>
              <a:t>Problems (I)</a:t>
            </a:r>
          </a:p>
        </p:txBody>
      </p:sp>
      <p:sp>
        <p:nvSpPr>
          <p:cNvPr id="4" name="Slide Number Placeholder 3">
            <a:extLst>
              <a:ext uri="{FF2B5EF4-FFF2-40B4-BE49-F238E27FC236}">
                <a16:creationId xmlns:a16="http://schemas.microsoft.com/office/drawing/2014/main" id="{49377681-4EB5-A072-D26D-A6E3DC3BB1BB}"/>
              </a:ext>
            </a:extLst>
          </p:cNvPr>
          <p:cNvSpPr>
            <a:spLocks noGrp="1"/>
          </p:cNvSpPr>
          <p:nvPr>
            <p:ph type="sldNum" sz="quarter" idx="11"/>
          </p:nvPr>
        </p:nvSpPr>
        <p:spPr/>
        <p:txBody>
          <a:bodyPr/>
          <a:lstStyle/>
          <a:p>
            <a:fld id="{B6F15528-21DE-4FAA-801E-634DDDAF4B2B}" type="slidenum">
              <a:rPr lang="en-GB" noProof="0" smtClean="0"/>
              <a:pPr/>
              <a:t>13</a:t>
            </a:fld>
            <a:endParaRPr lang="en-GB" noProof="0" dirty="0"/>
          </a:p>
        </p:txBody>
      </p:sp>
    </p:spTree>
    <p:extLst>
      <p:ext uri="{BB962C8B-B14F-4D97-AF65-F5344CB8AC3E}">
        <p14:creationId xmlns:p14="http://schemas.microsoft.com/office/powerpoint/2010/main" val="1223004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
                                            <p:txEl>
                                              <p:pRg st="12" end="12"/>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
                                            <p:txEl>
                                              <p:pRg st="13" end="13"/>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
                                            <p:txEl>
                                              <p:pRg st="14" end="14"/>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
                                            <p:txEl>
                                              <p:pRg st="15" end="15"/>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
                                            <p:txEl>
                                              <p:pRg st="16" end="16"/>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
                                            <p:txEl>
                                              <p:pRg st="17" end="17"/>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
                                            <p:txEl>
                                              <p:pRg st="18" end="18"/>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5AF679-1C0C-774B-9A74-4762A39DC3AD}"/>
              </a:ext>
            </a:extLst>
          </p:cNvPr>
          <p:cNvSpPr>
            <a:spLocks noGrp="1"/>
          </p:cNvSpPr>
          <p:nvPr>
            <p:ph idx="1"/>
          </p:nvPr>
        </p:nvSpPr>
        <p:spPr/>
        <p:txBody>
          <a:bodyPr>
            <a:normAutofit fontScale="92500"/>
          </a:bodyPr>
          <a:lstStyle/>
          <a:p>
            <a:pPr marL="0" indent="0">
              <a:buNone/>
            </a:pPr>
            <a:r>
              <a:rPr lang="en-GB" noProof="0" dirty="0"/>
              <a:t>“The system shall allow a user to store contact names and associated phone numbers, and to retrieve a phone number by searching for the contact’s name.</a:t>
            </a:r>
            <a:br>
              <a:rPr lang="en-GB" noProof="0" dirty="0"/>
            </a:br>
            <a:r>
              <a:rPr lang="en-GB" noProof="0" dirty="0"/>
              <a:t>The system shall allow users to add new contacts.</a:t>
            </a:r>
            <a:br>
              <a:rPr lang="en-GB" noProof="0" dirty="0"/>
            </a:br>
            <a:r>
              <a:rPr lang="en-GB" noProof="0" dirty="0"/>
              <a:t>All contact data shall be retained between sessions.</a:t>
            </a:r>
            <a:br>
              <a:rPr lang="en-GB" noProof="0" dirty="0"/>
            </a:br>
            <a:r>
              <a:rPr lang="en-GB" noProof="0" dirty="0"/>
              <a:t>The user interface shall allow these operations to be performed with no more than three user actions.”</a:t>
            </a:r>
          </a:p>
          <a:p>
            <a:endParaRPr lang="en-GB" noProof="0" dirty="0"/>
          </a:p>
        </p:txBody>
      </p:sp>
      <p:sp>
        <p:nvSpPr>
          <p:cNvPr id="5" name="Title 4">
            <a:extLst>
              <a:ext uri="{FF2B5EF4-FFF2-40B4-BE49-F238E27FC236}">
                <a16:creationId xmlns:a16="http://schemas.microsoft.com/office/drawing/2014/main" id="{DB6BFD50-C912-396B-89E5-D36F7EB38E6F}"/>
              </a:ext>
            </a:extLst>
          </p:cNvPr>
          <p:cNvSpPr>
            <a:spLocks noGrp="1"/>
          </p:cNvSpPr>
          <p:nvPr>
            <p:ph type="title"/>
          </p:nvPr>
        </p:nvSpPr>
        <p:spPr/>
        <p:txBody>
          <a:bodyPr/>
          <a:lstStyle/>
          <a:p>
            <a:r>
              <a:rPr lang="en-GB" noProof="0" dirty="0"/>
              <a:t>A Better Version (Iteration 2)</a:t>
            </a:r>
          </a:p>
        </p:txBody>
      </p:sp>
      <p:sp>
        <p:nvSpPr>
          <p:cNvPr id="4" name="Slide Number Placeholder 3">
            <a:extLst>
              <a:ext uri="{FF2B5EF4-FFF2-40B4-BE49-F238E27FC236}">
                <a16:creationId xmlns:a16="http://schemas.microsoft.com/office/drawing/2014/main" id="{507BA936-546F-FB7D-C40A-7A4410B143C7}"/>
              </a:ext>
            </a:extLst>
          </p:cNvPr>
          <p:cNvSpPr>
            <a:spLocks noGrp="1"/>
          </p:cNvSpPr>
          <p:nvPr>
            <p:ph type="sldNum" sz="quarter" idx="11"/>
          </p:nvPr>
        </p:nvSpPr>
        <p:spPr/>
        <p:txBody>
          <a:bodyPr/>
          <a:lstStyle/>
          <a:p>
            <a:fld id="{B6F15528-21DE-4FAA-801E-634DDDAF4B2B}" type="slidenum">
              <a:rPr lang="en-GB" noProof="0" smtClean="0"/>
              <a:pPr/>
              <a:t>14</a:t>
            </a:fld>
            <a:endParaRPr lang="en-GB" noProof="0" dirty="0"/>
          </a:p>
        </p:txBody>
      </p:sp>
    </p:spTree>
    <p:extLst>
      <p:ext uri="{BB962C8B-B14F-4D97-AF65-F5344CB8AC3E}">
        <p14:creationId xmlns:p14="http://schemas.microsoft.com/office/powerpoint/2010/main" val="703232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97ED19-1666-73C2-5A68-3A3B3A07868F}"/>
              </a:ext>
            </a:extLst>
          </p:cNvPr>
          <p:cNvSpPr>
            <a:spLocks noGrp="1"/>
          </p:cNvSpPr>
          <p:nvPr>
            <p:ph idx="1"/>
          </p:nvPr>
        </p:nvSpPr>
        <p:spPr/>
        <p:txBody>
          <a:bodyPr>
            <a:normAutofit fontScale="92500"/>
          </a:bodyPr>
          <a:lstStyle/>
          <a:p>
            <a:r>
              <a:rPr lang="en-GB" noProof="0" dirty="0"/>
              <a:t>“</a:t>
            </a:r>
            <a:r>
              <a:rPr lang="en-GB" dirty="0"/>
              <a:t>The system shall allow a user to store contact names and associated phone numbers, and to retrieve a phone number …</a:t>
            </a:r>
            <a:r>
              <a:rPr lang="en-GB" noProof="0" dirty="0"/>
              <a:t>”</a:t>
            </a:r>
          </a:p>
          <a:p>
            <a:pPr lvl="1"/>
            <a:r>
              <a:rPr lang="en-GB" noProof="0" dirty="0"/>
              <a:t>That’s too limited &amp; ambiguous — it doesn’t define:</a:t>
            </a:r>
          </a:p>
          <a:p>
            <a:pPr lvl="2"/>
            <a:r>
              <a:rPr lang="en-GB" noProof="0" dirty="0"/>
              <a:t>What happens if a number already exists?</a:t>
            </a:r>
          </a:p>
          <a:p>
            <a:pPr lvl="2"/>
            <a:r>
              <a:rPr lang="en-GB" noProof="0" dirty="0"/>
              <a:t>Can users delete or edit contacts?</a:t>
            </a:r>
          </a:p>
          <a:p>
            <a:pPr lvl="2"/>
            <a:r>
              <a:rPr lang="en-GB" noProof="0" dirty="0"/>
              <a:t>Is data saved permanently or only while the program runs?</a:t>
            </a:r>
          </a:p>
          <a:p>
            <a:pPr lvl="2"/>
            <a:r>
              <a:rPr lang="en-GB" noProof="0" dirty="0"/>
              <a:t>How should errors be handled?</a:t>
            </a:r>
          </a:p>
          <a:p>
            <a:pPr lvl="1"/>
            <a:r>
              <a:rPr lang="en-GB" noProof="0" dirty="0"/>
              <a:t>This makes it impossible to tell if the program meets user expectations or business goals.</a:t>
            </a:r>
          </a:p>
          <a:p>
            <a:endParaRPr lang="en-GB" noProof="0" dirty="0"/>
          </a:p>
        </p:txBody>
      </p:sp>
      <p:sp>
        <p:nvSpPr>
          <p:cNvPr id="3" name="Title 2">
            <a:extLst>
              <a:ext uri="{FF2B5EF4-FFF2-40B4-BE49-F238E27FC236}">
                <a16:creationId xmlns:a16="http://schemas.microsoft.com/office/drawing/2014/main" id="{DFD76340-6183-43D4-162C-3E48913F0D19}"/>
              </a:ext>
            </a:extLst>
          </p:cNvPr>
          <p:cNvSpPr>
            <a:spLocks noGrp="1"/>
          </p:cNvSpPr>
          <p:nvPr>
            <p:ph type="title"/>
          </p:nvPr>
        </p:nvSpPr>
        <p:spPr/>
        <p:txBody>
          <a:bodyPr/>
          <a:lstStyle/>
          <a:p>
            <a:r>
              <a:rPr lang="en-GB" noProof="0" dirty="0">
                <a:solidFill>
                  <a:srgbClr val="FF0000"/>
                </a:solidFill>
              </a:rPr>
              <a:t>Problems (II): Incomplete Functionality Description</a:t>
            </a:r>
          </a:p>
        </p:txBody>
      </p:sp>
      <p:sp>
        <p:nvSpPr>
          <p:cNvPr id="4" name="Slide Number Placeholder 3">
            <a:extLst>
              <a:ext uri="{FF2B5EF4-FFF2-40B4-BE49-F238E27FC236}">
                <a16:creationId xmlns:a16="http://schemas.microsoft.com/office/drawing/2014/main" id="{2038E6BA-47BD-8D43-7D08-8C3E665AEE61}"/>
              </a:ext>
            </a:extLst>
          </p:cNvPr>
          <p:cNvSpPr>
            <a:spLocks noGrp="1"/>
          </p:cNvSpPr>
          <p:nvPr>
            <p:ph type="sldNum" sz="quarter" idx="11"/>
          </p:nvPr>
        </p:nvSpPr>
        <p:spPr/>
        <p:txBody>
          <a:bodyPr/>
          <a:lstStyle/>
          <a:p>
            <a:fld id="{B6F15528-21DE-4FAA-801E-634DDDAF4B2B}" type="slidenum">
              <a:rPr lang="en-GB" noProof="0" smtClean="0"/>
              <a:pPr/>
              <a:t>15</a:t>
            </a:fld>
            <a:endParaRPr lang="en-GB" noProof="0" dirty="0"/>
          </a:p>
        </p:txBody>
      </p:sp>
    </p:spTree>
    <p:extLst>
      <p:ext uri="{BB962C8B-B14F-4D97-AF65-F5344CB8AC3E}">
        <p14:creationId xmlns:p14="http://schemas.microsoft.com/office/powerpoint/2010/main" val="526235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5AF679-1C0C-774B-9A74-4762A39DC3AD}"/>
              </a:ext>
            </a:extLst>
          </p:cNvPr>
          <p:cNvSpPr>
            <a:spLocks noGrp="1"/>
          </p:cNvSpPr>
          <p:nvPr>
            <p:ph idx="1"/>
          </p:nvPr>
        </p:nvSpPr>
        <p:spPr>
          <a:xfrm>
            <a:off x="0" y="1152000"/>
            <a:ext cx="9144000" cy="4715400"/>
          </a:xfrm>
        </p:spPr>
        <p:txBody>
          <a:bodyPr>
            <a:normAutofit fontScale="92500" lnSpcReduction="20000"/>
          </a:bodyPr>
          <a:lstStyle/>
          <a:p>
            <a:r>
              <a:rPr lang="en-GB" b="1" noProof="0" dirty="0"/>
              <a:t>Functional Requirements</a:t>
            </a:r>
            <a:endParaRPr lang="en-GB" noProof="0" dirty="0"/>
          </a:p>
          <a:p>
            <a:pPr lvl="1"/>
            <a:r>
              <a:rPr lang="en-GB" noProof="0" dirty="0"/>
              <a:t>The system shall allow users to add new contacts consisting of a name and a phone number.</a:t>
            </a:r>
          </a:p>
          <a:p>
            <a:pPr lvl="1"/>
            <a:r>
              <a:rPr lang="en-GB" noProof="0" dirty="0"/>
              <a:t>The system shall prevent the creation of duplicate contact names.</a:t>
            </a:r>
          </a:p>
          <a:p>
            <a:pPr lvl="1"/>
            <a:r>
              <a:rPr lang="en-GB" noProof="0" dirty="0"/>
              <a:t>The system shall allow users to retrieve a phone number by searching for a contact name.</a:t>
            </a:r>
          </a:p>
          <a:p>
            <a:pPr lvl="1"/>
            <a:r>
              <a:rPr lang="en-GB" noProof="0" dirty="0"/>
              <a:t>The system shall allow users to modify or delete existing contacts.</a:t>
            </a:r>
          </a:p>
          <a:p>
            <a:pPr lvl="1"/>
            <a:r>
              <a:rPr lang="en-GB" noProof="0" dirty="0"/>
              <a:t>The system shall store all contact information persistently so that data remains available after program restart.</a:t>
            </a:r>
          </a:p>
          <a:p>
            <a:r>
              <a:rPr lang="en-GB" noProof="0" dirty="0"/>
              <a:t>Look at : “Example requirements document-v1.md”</a:t>
            </a:r>
          </a:p>
        </p:txBody>
      </p:sp>
      <p:sp>
        <p:nvSpPr>
          <p:cNvPr id="5" name="Title 4">
            <a:extLst>
              <a:ext uri="{FF2B5EF4-FFF2-40B4-BE49-F238E27FC236}">
                <a16:creationId xmlns:a16="http://schemas.microsoft.com/office/drawing/2014/main" id="{DB6BFD50-C912-396B-89E5-D36F7EB38E6F}"/>
              </a:ext>
            </a:extLst>
          </p:cNvPr>
          <p:cNvSpPr>
            <a:spLocks noGrp="1"/>
          </p:cNvSpPr>
          <p:nvPr>
            <p:ph type="title"/>
          </p:nvPr>
        </p:nvSpPr>
        <p:spPr/>
        <p:txBody>
          <a:bodyPr/>
          <a:lstStyle/>
          <a:p>
            <a:r>
              <a:rPr lang="en-GB" noProof="0" dirty="0"/>
              <a:t>A Better Version (Iteration 3)</a:t>
            </a:r>
          </a:p>
        </p:txBody>
      </p:sp>
      <p:sp>
        <p:nvSpPr>
          <p:cNvPr id="4" name="Slide Number Placeholder 3">
            <a:extLst>
              <a:ext uri="{FF2B5EF4-FFF2-40B4-BE49-F238E27FC236}">
                <a16:creationId xmlns:a16="http://schemas.microsoft.com/office/drawing/2014/main" id="{507BA936-546F-FB7D-C40A-7A4410B143C7}"/>
              </a:ext>
            </a:extLst>
          </p:cNvPr>
          <p:cNvSpPr>
            <a:spLocks noGrp="1"/>
          </p:cNvSpPr>
          <p:nvPr>
            <p:ph type="sldNum" sz="quarter" idx="11"/>
          </p:nvPr>
        </p:nvSpPr>
        <p:spPr/>
        <p:txBody>
          <a:bodyPr/>
          <a:lstStyle/>
          <a:p>
            <a:fld id="{B6F15528-21DE-4FAA-801E-634DDDAF4B2B}" type="slidenum">
              <a:rPr lang="en-GB" noProof="0" smtClean="0"/>
              <a:pPr/>
              <a:t>16</a:t>
            </a:fld>
            <a:endParaRPr lang="en-GB" noProof="0" dirty="0"/>
          </a:p>
        </p:txBody>
      </p:sp>
    </p:spTree>
    <p:extLst>
      <p:ext uri="{BB962C8B-B14F-4D97-AF65-F5344CB8AC3E}">
        <p14:creationId xmlns:p14="http://schemas.microsoft.com/office/powerpoint/2010/main" val="296026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0F15F-10F5-239B-4194-3D3A309A2DB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E1C60E-32EA-CD56-01C1-18426411C804}"/>
              </a:ext>
            </a:extLst>
          </p:cNvPr>
          <p:cNvSpPr>
            <a:spLocks noGrp="1"/>
          </p:cNvSpPr>
          <p:nvPr>
            <p:ph idx="1"/>
          </p:nvPr>
        </p:nvSpPr>
        <p:spPr/>
        <p:txBody>
          <a:bodyPr>
            <a:normAutofit/>
          </a:bodyPr>
          <a:lstStyle/>
          <a:p>
            <a:r>
              <a:rPr lang="en-GB" noProof="0" dirty="0"/>
              <a:t>The original requirement includes :</a:t>
            </a:r>
          </a:p>
          <a:p>
            <a:pPr lvl="1"/>
            <a:r>
              <a:rPr lang="en-GB" noProof="0" dirty="0"/>
              <a:t>“The program should also have a user-friendly interface.”</a:t>
            </a:r>
          </a:p>
          <a:p>
            <a:r>
              <a:rPr lang="en-GB" noProof="0" dirty="0"/>
              <a:t>How do you test “user-friendly”? It’s subjective — there’s no pass/fail criterion.</a:t>
            </a:r>
          </a:p>
          <a:p>
            <a:endParaRPr lang="en-GB" noProof="0" dirty="0"/>
          </a:p>
        </p:txBody>
      </p:sp>
      <p:sp>
        <p:nvSpPr>
          <p:cNvPr id="3" name="Title 2">
            <a:extLst>
              <a:ext uri="{FF2B5EF4-FFF2-40B4-BE49-F238E27FC236}">
                <a16:creationId xmlns:a16="http://schemas.microsoft.com/office/drawing/2014/main" id="{A42AC493-B63E-88EB-083E-293E07198A39}"/>
              </a:ext>
            </a:extLst>
          </p:cNvPr>
          <p:cNvSpPr>
            <a:spLocks noGrp="1"/>
          </p:cNvSpPr>
          <p:nvPr>
            <p:ph type="title"/>
          </p:nvPr>
        </p:nvSpPr>
        <p:spPr/>
        <p:txBody>
          <a:bodyPr/>
          <a:lstStyle/>
          <a:p>
            <a:r>
              <a:rPr lang="en-GB" noProof="0" dirty="0">
                <a:solidFill>
                  <a:srgbClr val="FF0000"/>
                </a:solidFill>
              </a:rPr>
              <a:t>Problems (III) : little validation criteria</a:t>
            </a:r>
          </a:p>
        </p:txBody>
      </p:sp>
      <p:sp>
        <p:nvSpPr>
          <p:cNvPr id="4" name="Slide Number Placeholder 3">
            <a:extLst>
              <a:ext uri="{FF2B5EF4-FFF2-40B4-BE49-F238E27FC236}">
                <a16:creationId xmlns:a16="http://schemas.microsoft.com/office/drawing/2014/main" id="{B297D876-38CB-324F-EFDB-1E10AA002A03}"/>
              </a:ext>
            </a:extLst>
          </p:cNvPr>
          <p:cNvSpPr>
            <a:spLocks noGrp="1"/>
          </p:cNvSpPr>
          <p:nvPr>
            <p:ph type="sldNum" sz="quarter" idx="11"/>
          </p:nvPr>
        </p:nvSpPr>
        <p:spPr/>
        <p:txBody>
          <a:bodyPr/>
          <a:lstStyle/>
          <a:p>
            <a:fld id="{B6F15528-21DE-4FAA-801E-634DDDAF4B2B}" type="slidenum">
              <a:rPr lang="en-GB" noProof="0" smtClean="0"/>
              <a:pPr/>
              <a:t>17</a:t>
            </a:fld>
            <a:endParaRPr lang="en-GB" noProof="0" dirty="0"/>
          </a:p>
        </p:txBody>
      </p:sp>
    </p:spTree>
    <p:extLst>
      <p:ext uri="{BB962C8B-B14F-4D97-AF65-F5344CB8AC3E}">
        <p14:creationId xmlns:p14="http://schemas.microsoft.com/office/powerpoint/2010/main" val="28952733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C076F-B802-9C2F-031D-C0AD6BC2CCF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5F493BB-7240-5CB2-7A59-71E2DA303D70}"/>
              </a:ext>
            </a:extLst>
          </p:cNvPr>
          <p:cNvSpPr>
            <a:spLocks noGrp="1"/>
          </p:cNvSpPr>
          <p:nvPr>
            <p:ph idx="1"/>
          </p:nvPr>
        </p:nvSpPr>
        <p:spPr/>
        <p:txBody>
          <a:bodyPr>
            <a:normAutofit fontScale="77500" lnSpcReduction="20000"/>
          </a:bodyPr>
          <a:lstStyle/>
          <a:p>
            <a:r>
              <a:rPr lang="en-GB" b="1" noProof="0" dirty="0"/>
              <a:t>Better, Testable Requirements (Non-Functional Requirements)</a:t>
            </a:r>
            <a:endParaRPr lang="en-GB" noProof="0" dirty="0"/>
          </a:p>
          <a:p>
            <a:pPr lvl="1"/>
            <a:r>
              <a:rPr lang="en-GB" noProof="0" dirty="0"/>
              <a:t>The system’s user interface shall allow a user to add, delete, or search for a contact within 3 or fewer actions.</a:t>
            </a:r>
          </a:p>
          <a:p>
            <a:pPr lvl="1"/>
            <a:r>
              <a:rPr lang="en-GB" noProof="0" dirty="0"/>
              <a:t>Lookup operations shall return results within 1 second for databases of up to 10,000 contacts.</a:t>
            </a:r>
          </a:p>
          <a:p>
            <a:pPr lvl="1"/>
            <a:r>
              <a:rPr lang="en-GB" noProof="0" dirty="0"/>
              <a:t>The system shall be usable by a first-time user with less than 5 minutes of training.</a:t>
            </a:r>
          </a:p>
          <a:p>
            <a:pPr lvl="1"/>
            <a:r>
              <a:rPr lang="en-GB" noProof="0" dirty="0"/>
              <a:t>The system shall pass usability testing with at least 80% satisfaction among 10 or more test users.</a:t>
            </a:r>
          </a:p>
          <a:p>
            <a:pPr lvl="1"/>
            <a:endParaRPr lang="en-GB" noProof="0" dirty="0"/>
          </a:p>
          <a:p>
            <a:r>
              <a:rPr lang="en-GB" noProof="0" dirty="0"/>
              <a:t>Each requirement can be </a:t>
            </a:r>
            <a:r>
              <a:rPr lang="en-GB" b="1" noProof="0" dirty="0"/>
              <a:t>traced</a:t>
            </a:r>
            <a:r>
              <a:rPr lang="en-GB" noProof="0" dirty="0"/>
              <a:t> to a </a:t>
            </a:r>
            <a:r>
              <a:rPr lang="en-GB" b="1" noProof="0" dirty="0"/>
              <a:t>test</a:t>
            </a:r>
            <a:r>
              <a:rPr lang="en-GB" noProof="0" dirty="0"/>
              <a:t> (performance test, usability test, functional test, etc.).</a:t>
            </a:r>
          </a:p>
          <a:p>
            <a:r>
              <a:rPr lang="en-GB" noProof="0" dirty="0"/>
              <a:t>Each one can be </a:t>
            </a:r>
            <a:r>
              <a:rPr lang="en-GB" b="1" noProof="0" dirty="0"/>
              <a:t>verified</a:t>
            </a:r>
            <a:r>
              <a:rPr lang="en-GB" noProof="0" dirty="0"/>
              <a:t> objectively.</a:t>
            </a:r>
          </a:p>
        </p:txBody>
      </p:sp>
      <p:sp>
        <p:nvSpPr>
          <p:cNvPr id="5" name="Title 4">
            <a:extLst>
              <a:ext uri="{FF2B5EF4-FFF2-40B4-BE49-F238E27FC236}">
                <a16:creationId xmlns:a16="http://schemas.microsoft.com/office/drawing/2014/main" id="{E878ABF2-86BB-0FCE-EB27-481C4E30F6EA}"/>
              </a:ext>
            </a:extLst>
          </p:cNvPr>
          <p:cNvSpPr>
            <a:spLocks noGrp="1"/>
          </p:cNvSpPr>
          <p:nvPr>
            <p:ph type="title"/>
          </p:nvPr>
        </p:nvSpPr>
        <p:spPr/>
        <p:txBody>
          <a:bodyPr/>
          <a:lstStyle/>
          <a:p>
            <a:r>
              <a:rPr lang="en-GB" noProof="0" dirty="0"/>
              <a:t>A Better Version (Iteration 4)</a:t>
            </a:r>
          </a:p>
        </p:txBody>
      </p:sp>
      <p:sp>
        <p:nvSpPr>
          <p:cNvPr id="4" name="Slide Number Placeholder 3">
            <a:extLst>
              <a:ext uri="{FF2B5EF4-FFF2-40B4-BE49-F238E27FC236}">
                <a16:creationId xmlns:a16="http://schemas.microsoft.com/office/drawing/2014/main" id="{ACB21C64-EF64-E9CA-F737-814E72561D85}"/>
              </a:ext>
            </a:extLst>
          </p:cNvPr>
          <p:cNvSpPr>
            <a:spLocks noGrp="1"/>
          </p:cNvSpPr>
          <p:nvPr>
            <p:ph type="sldNum" sz="quarter" idx="11"/>
          </p:nvPr>
        </p:nvSpPr>
        <p:spPr/>
        <p:txBody>
          <a:bodyPr/>
          <a:lstStyle/>
          <a:p>
            <a:fld id="{B6F15528-21DE-4FAA-801E-634DDDAF4B2B}" type="slidenum">
              <a:rPr lang="en-GB" noProof="0" smtClean="0"/>
              <a:pPr/>
              <a:t>18</a:t>
            </a:fld>
            <a:endParaRPr lang="en-GB" noProof="0" dirty="0"/>
          </a:p>
        </p:txBody>
      </p:sp>
    </p:spTree>
    <p:extLst>
      <p:ext uri="{BB962C8B-B14F-4D97-AF65-F5344CB8AC3E}">
        <p14:creationId xmlns:p14="http://schemas.microsoft.com/office/powerpoint/2010/main" val="2381369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0F15F-10F5-239B-4194-3D3A309A2DB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E1C60E-32EA-CD56-01C1-18426411C804}"/>
              </a:ext>
            </a:extLst>
          </p:cNvPr>
          <p:cNvSpPr>
            <a:spLocks noGrp="1"/>
          </p:cNvSpPr>
          <p:nvPr>
            <p:ph idx="1"/>
          </p:nvPr>
        </p:nvSpPr>
        <p:spPr/>
        <p:txBody>
          <a:bodyPr>
            <a:normAutofit/>
          </a:bodyPr>
          <a:lstStyle/>
          <a:p>
            <a:r>
              <a:rPr lang="en-GB" noProof="0" dirty="0"/>
              <a:t>Add whatever makes the requirements document clearer</a:t>
            </a:r>
          </a:p>
          <a:p>
            <a:pPr marL="355600" lvl="1" indent="0">
              <a:buNone/>
            </a:pPr>
            <a:r>
              <a:rPr lang="en-GB" sz="2000" noProof="0" dirty="0"/>
              <a:t>=&gt;Look at the SRS-template: “Requirements template.md”</a:t>
            </a:r>
          </a:p>
        </p:txBody>
      </p:sp>
      <p:sp>
        <p:nvSpPr>
          <p:cNvPr id="3" name="Title 2">
            <a:extLst>
              <a:ext uri="{FF2B5EF4-FFF2-40B4-BE49-F238E27FC236}">
                <a16:creationId xmlns:a16="http://schemas.microsoft.com/office/drawing/2014/main" id="{A42AC493-B63E-88EB-083E-293E07198A39}"/>
              </a:ext>
            </a:extLst>
          </p:cNvPr>
          <p:cNvSpPr>
            <a:spLocks noGrp="1"/>
          </p:cNvSpPr>
          <p:nvPr>
            <p:ph type="title"/>
          </p:nvPr>
        </p:nvSpPr>
        <p:spPr/>
        <p:txBody>
          <a:bodyPr/>
          <a:lstStyle/>
          <a:p>
            <a:r>
              <a:rPr lang="en-GB" noProof="0" dirty="0">
                <a:solidFill>
                  <a:srgbClr val="FF0000"/>
                </a:solidFill>
              </a:rPr>
              <a:t>Problems (IV)</a:t>
            </a:r>
          </a:p>
        </p:txBody>
      </p:sp>
      <p:sp>
        <p:nvSpPr>
          <p:cNvPr id="4" name="Slide Number Placeholder 3">
            <a:extLst>
              <a:ext uri="{FF2B5EF4-FFF2-40B4-BE49-F238E27FC236}">
                <a16:creationId xmlns:a16="http://schemas.microsoft.com/office/drawing/2014/main" id="{B297D876-38CB-324F-EFDB-1E10AA002A03}"/>
              </a:ext>
            </a:extLst>
          </p:cNvPr>
          <p:cNvSpPr>
            <a:spLocks noGrp="1"/>
          </p:cNvSpPr>
          <p:nvPr>
            <p:ph type="sldNum" sz="quarter" idx="11"/>
          </p:nvPr>
        </p:nvSpPr>
        <p:spPr/>
        <p:txBody>
          <a:bodyPr/>
          <a:lstStyle/>
          <a:p>
            <a:fld id="{B6F15528-21DE-4FAA-801E-634DDDAF4B2B}" type="slidenum">
              <a:rPr lang="en-GB" noProof="0" smtClean="0"/>
              <a:pPr/>
              <a:t>19</a:t>
            </a:fld>
            <a:endParaRPr lang="en-GB" noProof="0" dirty="0"/>
          </a:p>
        </p:txBody>
      </p:sp>
    </p:spTree>
    <p:extLst>
      <p:ext uri="{BB962C8B-B14F-4D97-AF65-F5344CB8AC3E}">
        <p14:creationId xmlns:p14="http://schemas.microsoft.com/office/powerpoint/2010/main" val="13235114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B12E838-C601-BB2B-A784-F1E88A50C666}"/>
              </a:ext>
            </a:extLst>
          </p:cNvPr>
          <p:cNvSpPr>
            <a:spLocks noGrp="1"/>
          </p:cNvSpPr>
          <p:nvPr>
            <p:ph idx="1"/>
          </p:nvPr>
        </p:nvSpPr>
        <p:spPr/>
        <p:txBody>
          <a:bodyPr/>
          <a:lstStyle/>
          <a:p>
            <a:r>
              <a:rPr lang="en-GB" noProof="0" dirty="0"/>
              <a:t>Example requirements document-v2.md</a:t>
            </a:r>
          </a:p>
          <a:p>
            <a:endParaRPr lang="en-GB" noProof="0" dirty="0"/>
          </a:p>
          <a:p>
            <a:r>
              <a:rPr lang="en-GB" noProof="0" dirty="0"/>
              <a:t>Final version = the version that everybody agrees upon</a:t>
            </a:r>
          </a:p>
          <a:p>
            <a:pPr lvl="1"/>
            <a:r>
              <a:rPr lang="en-GB" noProof="0" dirty="0"/>
              <a:t>Developer(s), including Designers, Testers, Delivery</a:t>
            </a:r>
          </a:p>
          <a:p>
            <a:pPr lvl="1"/>
            <a:r>
              <a:rPr lang="en-GB" noProof="0" dirty="0"/>
              <a:t>Customer(s)</a:t>
            </a:r>
          </a:p>
          <a:p>
            <a:pPr lvl="1"/>
            <a:r>
              <a:rPr lang="en-GB" dirty="0"/>
              <a:t>(And management)</a:t>
            </a:r>
            <a:endParaRPr lang="en-GB" noProof="0" dirty="0"/>
          </a:p>
        </p:txBody>
      </p:sp>
      <p:sp>
        <p:nvSpPr>
          <p:cNvPr id="3" name="Title 2">
            <a:extLst>
              <a:ext uri="{FF2B5EF4-FFF2-40B4-BE49-F238E27FC236}">
                <a16:creationId xmlns:a16="http://schemas.microsoft.com/office/drawing/2014/main" id="{4447BEB9-C0AB-73CD-01CD-32EDFF0D7971}"/>
              </a:ext>
            </a:extLst>
          </p:cNvPr>
          <p:cNvSpPr>
            <a:spLocks noGrp="1"/>
          </p:cNvSpPr>
          <p:nvPr>
            <p:ph type="title"/>
          </p:nvPr>
        </p:nvSpPr>
        <p:spPr/>
        <p:txBody>
          <a:bodyPr/>
          <a:lstStyle/>
          <a:p>
            <a:r>
              <a:rPr lang="en-GB" noProof="0" dirty="0"/>
              <a:t>A final version for our APP</a:t>
            </a:r>
          </a:p>
        </p:txBody>
      </p:sp>
      <p:sp>
        <p:nvSpPr>
          <p:cNvPr id="4" name="Slide Number Placeholder 3">
            <a:extLst>
              <a:ext uri="{FF2B5EF4-FFF2-40B4-BE49-F238E27FC236}">
                <a16:creationId xmlns:a16="http://schemas.microsoft.com/office/drawing/2014/main" id="{5C038CC1-7182-CFDA-0B29-8DB77D79336B}"/>
              </a:ext>
            </a:extLst>
          </p:cNvPr>
          <p:cNvSpPr>
            <a:spLocks noGrp="1"/>
          </p:cNvSpPr>
          <p:nvPr>
            <p:ph type="sldNum" sz="quarter" idx="11"/>
          </p:nvPr>
        </p:nvSpPr>
        <p:spPr/>
        <p:txBody>
          <a:bodyPr/>
          <a:lstStyle/>
          <a:p>
            <a:fld id="{B6F15528-21DE-4FAA-801E-634DDDAF4B2B}" type="slidenum">
              <a:rPr lang="en-GB" noProof="0" smtClean="0"/>
              <a:pPr/>
              <a:t>20</a:t>
            </a:fld>
            <a:endParaRPr lang="en-GB" noProof="0" dirty="0"/>
          </a:p>
        </p:txBody>
      </p:sp>
    </p:spTree>
    <p:extLst>
      <p:ext uri="{BB962C8B-B14F-4D97-AF65-F5344CB8AC3E}">
        <p14:creationId xmlns:p14="http://schemas.microsoft.com/office/powerpoint/2010/main" val="3698859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F472E412-1A2B-BBA3-4CC3-A3BB1CB5C65C}"/>
              </a:ext>
            </a:extLst>
          </p:cNvPr>
          <p:cNvSpPr>
            <a:spLocks noGrp="1"/>
          </p:cNvSpPr>
          <p:nvPr>
            <p:ph type="subTitle" idx="1"/>
          </p:nvPr>
        </p:nvSpPr>
        <p:spPr/>
        <p:txBody>
          <a:bodyPr/>
          <a:lstStyle/>
          <a:p>
            <a:endParaRPr lang="en-GB" noProof="0" dirty="0"/>
          </a:p>
        </p:txBody>
      </p:sp>
      <p:sp>
        <p:nvSpPr>
          <p:cNvPr id="3" name="Title 2">
            <a:extLst>
              <a:ext uri="{FF2B5EF4-FFF2-40B4-BE49-F238E27FC236}">
                <a16:creationId xmlns:a16="http://schemas.microsoft.com/office/drawing/2014/main" id="{D5AE4EA9-B256-C691-DC71-188DDEC9098F}"/>
              </a:ext>
            </a:extLst>
          </p:cNvPr>
          <p:cNvSpPr>
            <a:spLocks noGrp="1"/>
          </p:cNvSpPr>
          <p:nvPr>
            <p:ph type="title"/>
          </p:nvPr>
        </p:nvSpPr>
        <p:spPr/>
        <p:txBody>
          <a:bodyPr/>
          <a:lstStyle/>
          <a:p>
            <a:r>
              <a:rPr lang="en-GB" noProof="0" dirty="0"/>
              <a:t>rECAP</a:t>
            </a:r>
          </a:p>
        </p:txBody>
      </p:sp>
      <p:sp>
        <p:nvSpPr>
          <p:cNvPr id="4" name="Slide Number Placeholder 3">
            <a:extLst>
              <a:ext uri="{FF2B5EF4-FFF2-40B4-BE49-F238E27FC236}">
                <a16:creationId xmlns:a16="http://schemas.microsoft.com/office/drawing/2014/main" id="{DE81E6A7-68FA-F9A7-A503-CE162B485B1F}"/>
              </a:ext>
            </a:extLst>
          </p:cNvPr>
          <p:cNvSpPr>
            <a:spLocks noGrp="1"/>
          </p:cNvSpPr>
          <p:nvPr>
            <p:ph type="sldNum" sz="quarter" idx="4294967295"/>
          </p:nvPr>
        </p:nvSpPr>
        <p:spPr>
          <a:xfrm>
            <a:off x="0" y="6083300"/>
            <a:ext cx="360363" cy="668338"/>
          </a:xfrm>
        </p:spPr>
        <p:txBody>
          <a:bodyPr/>
          <a:lstStyle/>
          <a:p>
            <a:fld id="{B6F15528-21DE-4FAA-801E-634DDDAF4B2B}" type="slidenum">
              <a:rPr lang="en-GB" noProof="0" smtClean="0"/>
              <a:pPr/>
              <a:t>21</a:t>
            </a:fld>
            <a:endParaRPr lang="en-GB" noProof="0" dirty="0"/>
          </a:p>
        </p:txBody>
      </p:sp>
    </p:spTree>
    <p:extLst>
      <p:ext uri="{BB962C8B-B14F-4D97-AF65-F5344CB8AC3E}">
        <p14:creationId xmlns:p14="http://schemas.microsoft.com/office/powerpoint/2010/main" val="9668595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GB" noProof="0" dirty="0"/>
              <a:t>A whole process preceded before the requirement specification is finalised</a:t>
            </a:r>
          </a:p>
          <a:p>
            <a:pPr lvl="1"/>
            <a:r>
              <a:rPr lang="en-GB" noProof="0" dirty="0"/>
              <a:t>Listening to the customer</a:t>
            </a:r>
          </a:p>
          <a:p>
            <a:pPr lvl="1"/>
            <a:r>
              <a:rPr lang="en-GB" noProof="0" dirty="0"/>
              <a:t>Putting everything on paper</a:t>
            </a:r>
          </a:p>
          <a:p>
            <a:pPr lvl="1"/>
            <a:r>
              <a:rPr lang="en-GB" noProof="0" dirty="0"/>
              <a:t>Negotiating with the customer</a:t>
            </a:r>
          </a:p>
          <a:p>
            <a:pPr lvl="1"/>
            <a:endParaRPr lang="en-GB" noProof="0" dirty="0"/>
          </a:p>
          <a:p>
            <a:r>
              <a:rPr lang="en-GB" noProof="0" dirty="0"/>
              <a:t>Very important document</a:t>
            </a:r>
          </a:p>
        </p:txBody>
      </p:sp>
      <p:sp>
        <p:nvSpPr>
          <p:cNvPr id="3" name="Title 2"/>
          <p:cNvSpPr>
            <a:spLocks noGrp="1"/>
          </p:cNvSpPr>
          <p:nvPr>
            <p:ph type="title"/>
          </p:nvPr>
        </p:nvSpPr>
        <p:spPr/>
        <p:txBody>
          <a:bodyPr/>
          <a:lstStyle/>
          <a:p>
            <a:r>
              <a:rPr lang="en-GB" noProof="0" dirty="0"/>
              <a:t>The actual requirement specification</a:t>
            </a:r>
          </a:p>
        </p:txBody>
      </p:sp>
      <p:sp>
        <p:nvSpPr>
          <p:cNvPr id="5" name="Tijdelijke aanduiding voor dianummer 4"/>
          <p:cNvSpPr>
            <a:spLocks noGrp="1"/>
          </p:cNvSpPr>
          <p:nvPr>
            <p:ph type="sldNum" sz="quarter" idx="11"/>
          </p:nvPr>
        </p:nvSpPr>
        <p:spPr/>
        <p:txBody>
          <a:bodyPr/>
          <a:lstStyle/>
          <a:p>
            <a:fld id="{B6F15528-21DE-4FAA-801E-634DDDAF4B2B}" type="slidenum">
              <a:rPr lang="en-GB" noProof="0" smtClean="0"/>
              <a:t>22</a:t>
            </a:fld>
            <a:endParaRPr lang="en-GB" noProof="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r>
              <a:rPr lang="en-GB" noProof="0" dirty="0"/>
              <a:t>Listen</a:t>
            </a:r>
          </a:p>
          <a:p>
            <a:pPr lvl="1"/>
            <a:r>
              <a:rPr lang="en-GB" noProof="0" dirty="0"/>
              <a:t>Conversations between client and developer</a:t>
            </a:r>
          </a:p>
          <a:p>
            <a:pPr lvl="1"/>
            <a:r>
              <a:rPr lang="en-GB" noProof="0" dirty="0"/>
              <a:t>What the customer asks</a:t>
            </a:r>
          </a:p>
          <a:p>
            <a:pPr lvl="1"/>
            <a:r>
              <a:rPr lang="en-GB" noProof="0" dirty="0"/>
              <a:t>What the customer needs</a:t>
            </a:r>
          </a:p>
          <a:p>
            <a:pPr lvl="2"/>
            <a:r>
              <a:rPr lang="en-GB" noProof="0" dirty="0"/>
              <a:t>NOT: What you THINK the customer needs.</a:t>
            </a:r>
          </a:p>
          <a:p>
            <a:pPr lvl="1"/>
            <a:r>
              <a:rPr lang="en-GB" noProof="0" dirty="0"/>
              <a:t>Ambiguity =&gt; state context and ask more questions.</a:t>
            </a:r>
          </a:p>
          <a:p>
            <a:r>
              <a:rPr lang="en-GB" noProof="0" dirty="0"/>
              <a:t>Thinking</a:t>
            </a:r>
          </a:p>
          <a:p>
            <a:pPr lvl="1"/>
            <a:r>
              <a:rPr lang="en-GB" noProof="0" dirty="0"/>
              <a:t>Developer considers requirements</a:t>
            </a:r>
          </a:p>
          <a:p>
            <a:pPr lvl="1"/>
            <a:r>
              <a:rPr lang="en-GB" noProof="0" dirty="0"/>
              <a:t>Converting the customer's point of view to system specifications</a:t>
            </a:r>
          </a:p>
          <a:p>
            <a:r>
              <a:rPr lang="en-GB" noProof="0" dirty="0"/>
              <a:t>Writing</a:t>
            </a:r>
          </a:p>
          <a:p>
            <a:pPr lvl="1"/>
            <a:r>
              <a:rPr lang="en-GB" noProof="0" dirty="0"/>
              <a:t>The developer describes what the system should be able to do</a:t>
            </a:r>
          </a:p>
          <a:p>
            <a:pPr lvl="1"/>
            <a:r>
              <a:rPr lang="en-GB" noProof="0" dirty="0"/>
              <a:t>Everything is broken down into customer requirements</a:t>
            </a:r>
          </a:p>
          <a:p>
            <a:pPr lvl="1"/>
            <a:r>
              <a:rPr lang="en-GB" noProof="0" dirty="0"/>
              <a:t>Culminates in a requirement specification document</a:t>
            </a:r>
          </a:p>
        </p:txBody>
      </p:sp>
      <p:sp>
        <p:nvSpPr>
          <p:cNvPr id="3" name="Title 2"/>
          <p:cNvSpPr>
            <a:spLocks noGrp="1"/>
          </p:cNvSpPr>
          <p:nvPr>
            <p:ph type="title"/>
          </p:nvPr>
        </p:nvSpPr>
        <p:spPr/>
        <p:txBody>
          <a:bodyPr/>
          <a:lstStyle/>
          <a:p>
            <a:r>
              <a:rPr lang="en-GB" noProof="0" dirty="0"/>
              <a:t>Steps to good specification</a:t>
            </a:r>
          </a:p>
        </p:txBody>
      </p:sp>
      <p:sp>
        <p:nvSpPr>
          <p:cNvPr id="5" name="Tijdelijke aanduiding voor dianummer 4"/>
          <p:cNvSpPr>
            <a:spLocks noGrp="1"/>
          </p:cNvSpPr>
          <p:nvPr>
            <p:ph type="sldNum" sz="quarter" idx="11"/>
          </p:nvPr>
        </p:nvSpPr>
        <p:spPr/>
        <p:txBody>
          <a:bodyPr/>
          <a:lstStyle/>
          <a:p>
            <a:fld id="{B6F15528-21DE-4FAA-801E-634DDDAF4B2B}" type="slidenum">
              <a:rPr lang="en-GB" noProof="0" smtClean="0"/>
              <a:t>23</a:t>
            </a:fld>
            <a:endParaRPr lang="en-GB" noProof="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GB" noProof="0" dirty="0"/>
              <a:t>Two possible approaches</a:t>
            </a:r>
          </a:p>
          <a:p>
            <a:pPr lvl="1"/>
            <a:r>
              <a:rPr lang="en-GB" noProof="0" dirty="0"/>
              <a:t>Natural language supplemented by use case diagram</a:t>
            </a:r>
          </a:p>
          <a:p>
            <a:pPr lvl="1"/>
            <a:r>
              <a:rPr lang="en-GB" noProof="0" dirty="0"/>
              <a:t>Two documents</a:t>
            </a:r>
          </a:p>
          <a:p>
            <a:pPr lvl="2"/>
            <a:r>
              <a:rPr lang="en-GB" noProof="0" dirty="0"/>
              <a:t>Requirement specification in natural language as contract between client and developers</a:t>
            </a:r>
          </a:p>
          <a:p>
            <a:pPr lvl="2"/>
            <a:r>
              <a:rPr lang="en-GB" noProof="0" dirty="0"/>
              <a:t>Technical specification in a more formal language for developers (UML)</a:t>
            </a:r>
          </a:p>
          <a:p>
            <a:r>
              <a:rPr lang="en-GB" noProof="0" dirty="0"/>
              <a:t>Both methods still have shortcomings</a:t>
            </a:r>
          </a:p>
        </p:txBody>
      </p:sp>
      <p:sp>
        <p:nvSpPr>
          <p:cNvPr id="3" name="Title 2"/>
          <p:cNvSpPr>
            <a:spLocks noGrp="1"/>
          </p:cNvSpPr>
          <p:nvPr>
            <p:ph type="title"/>
          </p:nvPr>
        </p:nvSpPr>
        <p:spPr/>
        <p:txBody>
          <a:bodyPr/>
          <a:lstStyle/>
          <a:p>
            <a:r>
              <a:rPr lang="en-GB" noProof="0" dirty="0"/>
              <a:t>Form of specification</a:t>
            </a:r>
          </a:p>
        </p:txBody>
      </p:sp>
      <p:sp>
        <p:nvSpPr>
          <p:cNvPr id="5" name="Tijdelijke aanduiding voor dianummer 4"/>
          <p:cNvSpPr>
            <a:spLocks noGrp="1"/>
          </p:cNvSpPr>
          <p:nvPr>
            <p:ph type="sldNum" sz="quarter" idx="11"/>
          </p:nvPr>
        </p:nvSpPr>
        <p:spPr/>
        <p:txBody>
          <a:bodyPr/>
          <a:lstStyle/>
          <a:p>
            <a:fld id="{B6F15528-21DE-4FAA-801E-634DDDAF4B2B}" type="slidenum">
              <a:rPr lang="en-GB" noProof="0" smtClean="0"/>
              <a:t>24</a:t>
            </a:fld>
            <a:endParaRPr lang="en-GB" noProof="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id="{5E4BC280-6566-BCFA-06AC-C5B26899249E}"/>
              </a:ext>
            </a:extLst>
          </p:cNvPr>
          <p:cNvSpPr>
            <a:spLocks noGrp="1"/>
          </p:cNvSpPr>
          <p:nvPr>
            <p:ph type="subTitle" idx="1"/>
          </p:nvPr>
        </p:nvSpPr>
        <p:spPr/>
        <p:txBody>
          <a:bodyPr/>
          <a:lstStyle/>
          <a:p>
            <a:endParaRPr lang="nl-BE"/>
          </a:p>
        </p:txBody>
      </p:sp>
      <p:sp>
        <p:nvSpPr>
          <p:cNvPr id="5" name="Title 4">
            <a:extLst>
              <a:ext uri="{FF2B5EF4-FFF2-40B4-BE49-F238E27FC236}">
                <a16:creationId xmlns:a16="http://schemas.microsoft.com/office/drawing/2014/main" id="{657C9D16-BC1F-422E-C65D-3A501296084D}"/>
              </a:ext>
            </a:extLst>
          </p:cNvPr>
          <p:cNvSpPr>
            <a:spLocks noGrp="1"/>
          </p:cNvSpPr>
          <p:nvPr>
            <p:ph type="title"/>
          </p:nvPr>
        </p:nvSpPr>
        <p:spPr/>
        <p:txBody>
          <a:bodyPr/>
          <a:lstStyle/>
          <a:p>
            <a:r>
              <a:rPr lang="nl-BE" dirty="0"/>
              <a:t>Issues </a:t>
            </a:r>
            <a:r>
              <a:rPr lang="nl-BE" dirty="0" err="1"/>
              <a:t>with</a:t>
            </a:r>
            <a:r>
              <a:rPr lang="nl-BE" dirty="0"/>
              <a:t> </a:t>
            </a:r>
            <a:r>
              <a:rPr lang="nl-BE" dirty="0" err="1"/>
              <a:t>Requirements</a:t>
            </a:r>
            <a:r>
              <a:rPr lang="nl-BE" dirty="0"/>
              <a:t> </a:t>
            </a:r>
            <a:r>
              <a:rPr lang="nl-BE" dirty="0" err="1"/>
              <a:t>doc</a:t>
            </a:r>
            <a:endParaRPr lang="nl-BE" dirty="0"/>
          </a:p>
        </p:txBody>
      </p:sp>
      <p:sp>
        <p:nvSpPr>
          <p:cNvPr id="4" name="Slide Number Placeholder 3">
            <a:extLst>
              <a:ext uri="{FF2B5EF4-FFF2-40B4-BE49-F238E27FC236}">
                <a16:creationId xmlns:a16="http://schemas.microsoft.com/office/drawing/2014/main" id="{8CA8F926-394F-318F-9CAB-56D2257650BC}"/>
              </a:ext>
            </a:extLst>
          </p:cNvPr>
          <p:cNvSpPr>
            <a:spLocks noGrp="1"/>
          </p:cNvSpPr>
          <p:nvPr>
            <p:ph type="sldNum" sz="quarter" idx="4294967295"/>
          </p:nvPr>
        </p:nvSpPr>
        <p:spPr>
          <a:xfrm>
            <a:off x="0" y="6083300"/>
            <a:ext cx="360363" cy="668338"/>
          </a:xfrm>
        </p:spPr>
        <p:txBody>
          <a:bodyPr/>
          <a:lstStyle/>
          <a:p>
            <a:fld id="{B6F15528-21DE-4FAA-801E-634DDDAF4B2B}" type="slidenum">
              <a:rPr lang="en-US" smtClean="0"/>
              <a:pPr/>
              <a:t>25</a:t>
            </a:fld>
            <a:endParaRPr lang="en-US" dirty="0"/>
          </a:p>
        </p:txBody>
      </p:sp>
    </p:spTree>
    <p:extLst>
      <p:ext uri="{BB962C8B-B14F-4D97-AF65-F5344CB8AC3E}">
        <p14:creationId xmlns:p14="http://schemas.microsoft.com/office/powerpoint/2010/main" val="6628154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GB" noProof="0" dirty="0"/>
              <a:t>Different end users have different views</a:t>
            </a:r>
          </a:p>
          <a:p>
            <a:pPr lvl="1"/>
            <a:r>
              <a:rPr lang="en-GB" noProof="0" dirty="0"/>
              <a:t>Management wants low cost, good performance and be able to monitor usage</a:t>
            </a:r>
          </a:p>
          <a:p>
            <a:pPr lvl="1"/>
            <a:r>
              <a:rPr lang="en-GB" noProof="0" dirty="0"/>
              <a:t>Operators want ease of use, to transfer some of their work, but not that usage is logged or that they get more work</a:t>
            </a:r>
          </a:p>
          <a:p>
            <a:r>
              <a:rPr lang="en-GB" noProof="0" dirty="0"/>
              <a:t>The user wants more than budget and time allows</a:t>
            </a:r>
          </a:p>
          <a:p>
            <a:pPr lvl="1"/>
            <a:r>
              <a:rPr lang="en-GB" noProof="0" dirty="0"/>
              <a:t>Negotiations are necessary to reach an agreement</a:t>
            </a:r>
          </a:p>
        </p:txBody>
      </p:sp>
      <p:sp>
        <p:nvSpPr>
          <p:cNvPr id="3" name="Title 2"/>
          <p:cNvSpPr>
            <a:spLocks noGrp="1"/>
          </p:cNvSpPr>
          <p:nvPr>
            <p:ph type="title"/>
          </p:nvPr>
        </p:nvSpPr>
        <p:spPr/>
        <p:txBody>
          <a:bodyPr/>
          <a:lstStyle/>
          <a:p>
            <a:r>
              <a:rPr lang="en-GB" noProof="0" dirty="0"/>
              <a:t>Possible problems (I)</a:t>
            </a:r>
          </a:p>
        </p:txBody>
      </p:sp>
      <p:sp>
        <p:nvSpPr>
          <p:cNvPr id="5" name="Tijdelijke aanduiding voor dianummer 4"/>
          <p:cNvSpPr>
            <a:spLocks noGrp="1"/>
          </p:cNvSpPr>
          <p:nvPr>
            <p:ph type="sldNum" sz="quarter" idx="11"/>
          </p:nvPr>
        </p:nvSpPr>
        <p:spPr/>
        <p:txBody>
          <a:bodyPr/>
          <a:lstStyle/>
          <a:p>
            <a:fld id="{B6F15528-21DE-4FAA-801E-634DDDAF4B2B}" type="slidenum">
              <a:rPr lang="en-GB" noProof="0" smtClean="0"/>
              <a:t>26</a:t>
            </a:fld>
            <a:endParaRPr lang="en-GB" noProof="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GB" noProof="0" dirty="0"/>
              <a:t>Users and developers speak different languages</a:t>
            </a:r>
          </a:p>
          <a:p>
            <a:pPr lvl="1"/>
            <a:r>
              <a:rPr lang="en-GB" noProof="0" dirty="0"/>
              <a:t>A developer's technical language is not always understandable to the customer</a:t>
            </a:r>
          </a:p>
          <a:p>
            <a:pPr lvl="1"/>
            <a:r>
              <a:rPr lang="en-GB" noProof="0" dirty="0"/>
              <a:t>The customer often uses vague terms such as "fast," "flexible," "fault-tolerant," ...</a:t>
            </a:r>
          </a:p>
          <a:p>
            <a:pPr lvl="1"/>
            <a:r>
              <a:rPr lang="en-GB" noProof="0" dirty="0"/>
              <a:t>Customer demands that are not always compatible</a:t>
            </a:r>
          </a:p>
          <a:p>
            <a:pPr lvl="1"/>
            <a:r>
              <a:rPr lang="en-GB" noProof="0" dirty="0"/>
              <a:t>Customer is SME in his domain (slang usage)</a:t>
            </a:r>
          </a:p>
          <a:p>
            <a:r>
              <a:rPr lang="en-GB" noProof="0" dirty="0"/>
              <a:t>The customer forgets important aspects</a:t>
            </a:r>
          </a:p>
          <a:p>
            <a:pPr lvl="1"/>
            <a:r>
              <a:rPr lang="en-GB" noProof="0" dirty="0"/>
              <a:t>What to do when an error occurs</a:t>
            </a:r>
          </a:p>
          <a:p>
            <a:pPr lvl="2"/>
            <a:r>
              <a:rPr lang="en-GB" noProof="0" dirty="0"/>
              <a:t>A user who enters incorrect data</a:t>
            </a:r>
          </a:p>
          <a:p>
            <a:pPr lvl="2"/>
            <a:r>
              <a:rPr lang="en-GB" noProof="0" dirty="0"/>
              <a:t>Connecting to a server that is unavailable</a:t>
            </a:r>
          </a:p>
        </p:txBody>
      </p:sp>
      <p:sp>
        <p:nvSpPr>
          <p:cNvPr id="3" name="Title 2"/>
          <p:cNvSpPr>
            <a:spLocks noGrp="1"/>
          </p:cNvSpPr>
          <p:nvPr>
            <p:ph type="title"/>
          </p:nvPr>
        </p:nvSpPr>
        <p:spPr/>
        <p:txBody>
          <a:bodyPr/>
          <a:lstStyle/>
          <a:p>
            <a:r>
              <a:rPr lang="en-GB" noProof="0" dirty="0"/>
              <a:t>Possible problems (II)</a:t>
            </a:r>
          </a:p>
        </p:txBody>
      </p:sp>
      <p:sp>
        <p:nvSpPr>
          <p:cNvPr id="5" name="Tijdelijke aanduiding voor dianummer 4"/>
          <p:cNvSpPr>
            <a:spLocks noGrp="1"/>
          </p:cNvSpPr>
          <p:nvPr>
            <p:ph type="sldNum" sz="quarter" idx="11"/>
          </p:nvPr>
        </p:nvSpPr>
        <p:spPr/>
        <p:txBody>
          <a:bodyPr/>
          <a:lstStyle/>
          <a:p>
            <a:fld id="{B6F15528-21DE-4FAA-801E-634DDDAF4B2B}" type="slidenum">
              <a:rPr lang="en-GB" noProof="0" smtClean="0"/>
              <a:t>27</a:t>
            </a:fld>
            <a:endParaRPr lang="en-GB" noProof="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GB" noProof="0" dirty="0"/>
              <a:t>Customer makes unreasonable demands</a:t>
            </a:r>
          </a:p>
          <a:p>
            <a:pPr lvl="1"/>
            <a:r>
              <a:rPr lang="en-GB" noProof="0" dirty="0"/>
              <a:t>Asks impossible things of the system</a:t>
            </a:r>
          </a:p>
          <a:p>
            <a:pPr lvl="1"/>
            <a:r>
              <a:rPr lang="en-GB" noProof="0" dirty="0"/>
              <a:t>Asks very simple things of the system</a:t>
            </a:r>
          </a:p>
        </p:txBody>
      </p:sp>
      <p:sp>
        <p:nvSpPr>
          <p:cNvPr id="3" name="Title 2"/>
          <p:cNvSpPr>
            <a:spLocks noGrp="1"/>
          </p:cNvSpPr>
          <p:nvPr>
            <p:ph type="title"/>
          </p:nvPr>
        </p:nvSpPr>
        <p:spPr/>
        <p:txBody>
          <a:bodyPr/>
          <a:lstStyle/>
          <a:p>
            <a:r>
              <a:rPr lang="en-GB" noProof="0" dirty="0"/>
              <a:t>Possible problems (III)</a:t>
            </a:r>
          </a:p>
        </p:txBody>
      </p:sp>
      <p:sp>
        <p:nvSpPr>
          <p:cNvPr id="5" name="Tijdelijke aanduiding voor dianummer 4"/>
          <p:cNvSpPr>
            <a:spLocks noGrp="1"/>
          </p:cNvSpPr>
          <p:nvPr>
            <p:ph type="sldNum" sz="quarter" idx="11"/>
          </p:nvPr>
        </p:nvSpPr>
        <p:spPr/>
        <p:txBody>
          <a:bodyPr/>
          <a:lstStyle/>
          <a:p>
            <a:fld id="{B6F15528-21DE-4FAA-801E-634DDDAF4B2B}" type="slidenum">
              <a:rPr lang="en-GB" noProof="0" smtClean="0"/>
              <a:t>28</a:t>
            </a:fld>
            <a:endParaRPr lang="en-GB" noProof="0" dirty="0"/>
          </a:p>
        </p:txBody>
      </p:sp>
    </p:spTree>
    <p:extLst>
      <p:ext uri="{BB962C8B-B14F-4D97-AF65-F5344CB8AC3E}">
        <p14:creationId xmlns:p14="http://schemas.microsoft.com/office/powerpoint/2010/main" val="14037050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GB" noProof="0" dirty="0"/>
              <a:t>Consider the following factors</a:t>
            </a:r>
          </a:p>
          <a:p>
            <a:pPr lvl="1"/>
            <a:r>
              <a:rPr lang="en-GB" noProof="0" dirty="0"/>
              <a:t>How detailed is the document formatted</a:t>
            </a:r>
          </a:p>
          <a:p>
            <a:pPr lvl="2"/>
            <a:r>
              <a:rPr lang="en-GB" noProof="0" dirty="0"/>
              <a:t>Only what, not how</a:t>
            </a:r>
          </a:p>
          <a:p>
            <a:pPr lvl="1"/>
            <a:r>
              <a:rPr lang="en-GB" noProof="0" dirty="0"/>
              <a:t>For whom the document is intended</a:t>
            </a:r>
          </a:p>
          <a:p>
            <a:pPr lvl="2"/>
            <a:r>
              <a:rPr lang="en-GB" noProof="0" dirty="0"/>
              <a:t>User/customer</a:t>
            </a:r>
          </a:p>
          <a:p>
            <a:pPr lvl="2"/>
            <a:r>
              <a:rPr lang="en-GB" noProof="0" dirty="0"/>
              <a:t>Developers</a:t>
            </a:r>
          </a:p>
          <a:p>
            <a:pPr lvl="1"/>
            <a:r>
              <a:rPr lang="en-GB" noProof="0" dirty="0"/>
              <a:t>What notations are used</a:t>
            </a:r>
          </a:p>
          <a:p>
            <a:pPr lvl="2"/>
            <a:r>
              <a:rPr lang="en-GB" noProof="0" dirty="0"/>
              <a:t>Informal: natural language</a:t>
            </a:r>
          </a:p>
          <a:p>
            <a:pPr lvl="2"/>
            <a:r>
              <a:rPr lang="en-GB" noProof="0" dirty="0"/>
              <a:t>Formal: mathematical and scientific</a:t>
            </a:r>
          </a:p>
          <a:p>
            <a:pPr lvl="2"/>
            <a:r>
              <a:rPr lang="en-GB" noProof="0" dirty="0"/>
              <a:t>Mix of both: natural language supplemented by diagrams, tables, ...</a:t>
            </a:r>
          </a:p>
        </p:txBody>
      </p:sp>
      <p:sp>
        <p:nvSpPr>
          <p:cNvPr id="3" name="Title 2"/>
          <p:cNvSpPr>
            <a:spLocks noGrp="1"/>
          </p:cNvSpPr>
          <p:nvPr>
            <p:ph type="title"/>
          </p:nvPr>
        </p:nvSpPr>
        <p:spPr/>
        <p:txBody>
          <a:bodyPr/>
          <a:lstStyle/>
          <a:p>
            <a:r>
              <a:rPr lang="en-GB" noProof="0" dirty="0"/>
              <a:t>Form of specification</a:t>
            </a:r>
          </a:p>
        </p:txBody>
      </p:sp>
      <p:sp>
        <p:nvSpPr>
          <p:cNvPr id="5" name="Tijdelijke aanduiding voor dianummer 4"/>
          <p:cNvSpPr>
            <a:spLocks noGrp="1"/>
          </p:cNvSpPr>
          <p:nvPr>
            <p:ph type="sldNum" sz="quarter" idx="11"/>
          </p:nvPr>
        </p:nvSpPr>
        <p:spPr/>
        <p:txBody>
          <a:bodyPr/>
          <a:lstStyle/>
          <a:p>
            <a:fld id="{B6F15528-21DE-4FAA-801E-634DDDAF4B2B}" type="slidenum">
              <a:rPr lang="en-GB" noProof="0" smtClean="0"/>
              <a:t>29</a:t>
            </a:fld>
            <a:endParaRPr lang="en-GB" noProof="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22EA70D7-F926-B41C-E240-0EECC6A622A5}"/>
              </a:ext>
            </a:extLst>
          </p:cNvPr>
          <p:cNvSpPr>
            <a:spLocks noGrp="1"/>
          </p:cNvSpPr>
          <p:nvPr>
            <p:ph type="subTitle" idx="1"/>
          </p:nvPr>
        </p:nvSpPr>
        <p:spPr/>
        <p:txBody>
          <a:bodyPr/>
          <a:lstStyle/>
          <a:p>
            <a:r>
              <a:rPr lang="nl-BE" dirty="0"/>
              <a:t>USE CASES </a:t>
            </a:r>
          </a:p>
          <a:p>
            <a:r>
              <a:rPr lang="nl-BE" dirty="0"/>
              <a:t>USER STORIES AND USER STORY MAP</a:t>
            </a:r>
          </a:p>
        </p:txBody>
      </p:sp>
      <p:sp>
        <p:nvSpPr>
          <p:cNvPr id="3" name="Title 2">
            <a:extLst>
              <a:ext uri="{FF2B5EF4-FFF2-40B4-BE49-F238E27FC236}">
                <a16:creationId xmlns:a16="http://schemas.microsoft.com/office/drawing/2014/main" id="{5F1E4AE1-51A4-C898-787A-CCCDA8A97DEA}"/>
              </a:ext>
            </a:extLst>
          </p:cNvPr>
          <p:cNvSpPr>
            <a:spLocks noGrp="1"/>
          </p:cNvSpPr>
          <p:nvPr>
            <p:ph type="title"/>
          </p:nvPr>
        </p:nvSpPr>
        <p:spPr/>
        <p:txBody>
          <a:bodyPr/>
          <a:lstStyle/>
          <a:p>
            <a:r>
              <a:rPr lang="nl-BE" dirty="0" err="1"/>
              <a:t>Functional</a:t>
            </a:r>
            <a:r>
              <a:rPr lang="nl-BE" dirty="0"/>
              <a:t> </a:t>
            </a:r>
            <a:r>
              <a:rPr lang="nl-BE" dirty="0" err="1"/>
              <a:t>Requirements</a:t>
            </a:r>
            <a:r>
              <a:rPr lang="nl-BE" dirty="0"/>
              <a:t> </a:t>
            </a:r>
          </a:p>
        </p:txBody>
      </p:sp>
      <p:sp>
        <p:nvSpPr>
          <p:cNvPr id="4" name="Slide Number Placeholder 3">
            <a:extLst>
              <a:ext uri="{FF2B5EF4-FFF2-40B4-BE49-F238E27FC236}">
                <a16:creationId xmlns:a16="http://schemas.microsoft.com/office/drawing/2014/main" id="{5E7CFD76-7F4E-6C09-9AFE-53CD19FD23B0}"/>
              </a:ext>
            </a:extLst>
          </p:cNvPr>
          <p:cNvSpPr>
            <a:spLocks noGrp="1"/>
          </p:cNvSpPr>
          <p:nvPr>
            <p:ph type="sldNum" sz="quarter" idx="4294967295"/>
          </p:nvPr>
        </p:nvSpPr>
        <p:spPr>
          <a:xfrm>
            <a:off x="0" y="6083300"/>
            <a:ext cx="360363" cy="668338"/>
          </a:xfrm>
        </p:spPr>
        <p:txBody>
          <a:bodyPr/>
          <a:lstStyle/>
          <a:p>
            <a:fld id="{B6F15528-21DE-4FAA-801E-634DDDAF4B2B}" type="slidenum">
              <a:rPr lang="en-US" smtClean="0"/>
              <a:pPr/>
              <a:t>30</a:t>
            </a:fld>
            <a:endParaRPr lang="en-US" dirty="0"/>
          </a:p>
        </p:txBody>
      </p:sp>
    </p:spTree>
    <p:extLst>
      <p:ext uri="{BB962C8B-B14F-4D97-AF65-F5344CB8AC3E}">
        <p14:creationId xmlns:p14="http://schemas.microsoft.com/office/powerpoint/2010/main" val="31718536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GB" noProof="0" dirty="0"/>
              <a:t>Textual description of a user interaction with the system</a:t>
            </a:r>
          </a:p>
          <a:p>
            <a:r>
              <a:rPr lang="en-GB" noProof="0" dirty="0"/>
              <a:t>Used frequently in functional requirements</a:t>
            </a:r>
          </a:p>
          <a:p>
            <a:pPr lvl="1"/>
            <a:r>
              <a:rPr lang="en-GB" noProof="0" dirty="0"/>
              <a:t>Identify common actions</a:t>
            </a:r>
          </a:p>
          <a:p>
            <a:r>
              <a:rPr lang="en-GB" noProof="0" dirty="0"/>
              <a:t>Is often supplemented with use case diagram</a:t>
            </a:r>
          </a:p>
        </p:txBody>
      </p:sp>
      <p:sp>
        <p:nvSpPr>
          <p:cNvPr id="3" name="Title 2"/>
          <p:cNvSpPr>
            <a:spLocks noGrp="1"/>
          </p:cNvSpPr>
          <p:nvPr>
            <p:ph type="title"/>
          </p:nvPr>
        </p:nvSpPr>
        <p:spPr/>
        <p:txBody>
          <a:bodyPr/>
          <a:lstStyle/>
          <a:p>
            <a:r>
              <a:rPr lang="en-GB" noProof="0" dirty="0"/>
              <a:t>Use</a:t>
            </a:r>
            <a:r>
              <a:rPr lang="en-GB" dirty="0"/>
              <a:t>r</a:t>
            </a:r>
            <a:r>
              <a:rPr lang="en-GB" noProof="0" dirty="0"/>
              <a:t> Stories/USE CASES</a:t>
            </a:r>
          </a:p>
        </p:txBody>
      </p:sp>
      <p:sp>
        <p:nvSpPr>
          <p:cNvPr id="5" name="Tijdelijke aanduiding voor dianummer 4"/>
          <p:cNvSpPr>
            <a:spLocks noGrp="1"/>
          </p:cNvSpPr>
          <p:nvPr>
            <p:ph type="sldNum" sz="quarter" idx="11"/>
          </p:nvPr>
        </p:nvSpPr>
        <p:spPr/>
        <p:txBody>
          <a:bodyPr/>
          <a:lstStyle/>
          <a:p>
            <a:fld id="{B6F15528-21DE-4FAA-801E-634DDDAF4B2B}" type="slidenum">
              <a:rPr lang="en-GB" noProof="0" smtClean="0"/>
              <a:t>31</a:t>
            </a:fld>
            <a:endParaRPr lang="en-GB" noProof="0" dirty="0"/>
          </a:p>
        </p:txBody>
      </p:sp>
    </p:spTree>
    <p:extLst>
      <p:ext uri="{BB962C8B-B14F-4D97-AF65-F5344CB8AC3E}">
        <p14:creationId xmlns:p14="http://schemas.microsoft.com/office/powerpoint/2010/main" val="18465717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GB" dirty="0"/>
              <a:t>“</a:t>
            </a:r>
            <a:r>
              <a:rPr lang="en-US" dirty="0"/>
              <a:t>As a </a:t>
            </a:r>
            <a:r>
              <a:rPr lang="en-US" b="1" dirty="0"/>
              <a:t>[type of user]</a:t>
            </a:r>
            <a:r>
              <a:rPr lang="en-US" dirty="0"/>
              <a:t> I want </a:t>
            </a:r>
            <a:r>
              <a:rPr lang="en-US" b="1" dirty="0"/>
              <a:t>[some particular feature]</a:t>
            </a:r>
            <a:r>
              <a:rPr lang="en-US" dirty="0"/>
              <a:t> so that </a:t>
            </a:r>
            <a:r>
              <a:rPr lang="en-US" b="1" dirty="0"/>
              <a:t>[some benefit]</a:t>
            </a:r>
            <a:r>
              <a:rPr lang="en-US" dirty="0"/>
              <a:t> is received.</a:t>
            </a:r>
            <a:r>
              <a:rPr lang="en-GB" dirty="0"/>
              <a:t>“</a:t>
            </a:r>
          </a:p>
          <a:p>
            <a:r>
              <a:rPr lang="en-GB" noProof="0" dirty="0"/>
              <a:t>Consist of</a:t>
            </a:r>
          </a:p>
          <a:p>
            <a:pPr lvl="1"/>
            <a:r>
              <a:rPr lang="en-GB" noProof="0" dirty="0"/>
              <a:t>Name of the use case</a:t>
            </a:r>
          </a:p>
          <a:p>
            <a:pPr lvl="1"/>
            <a:r>
              <a:rPr lang="en-GB" noProof="0" dirty="0"/>
              <a:t>Actor or user of the use case</a:t>
            </a:r>
          </a:p>
          <a:p>
            <a:pPr lvl="1"/>
            <a:r>
              <a:rPr lang="en-GB" noProof="0" dirty="0"/>
              <a:t>Description of the use case</a:t>
            </a:r>
          </a:p>
          <a:p>
            <a:pPr lvl="1"/>
            <a:r>
              <a:rPr lang="en-GB" noProof="0" dirty="0"/>
              <a:t>Result</a:t>
            </a:r>
          </a:p>
          <a:p>
            <a:pPr lvl="2"/>
            <a:r>
              <a:rPr lang="en-GB" noProof="0" dirty="0"/>
              <a:t>What are the results of this use case</a:t>
            </a:r>
          </a:p>
          <a:p>
            <a:pPr lvl="2"/>
            <a:r>
              <a:rPr lang="en-GB" noProof="0" dirty="0"/>
              <a:t>Can be divided into minimum and success outcomes</a:t>
            </a:r>
          </a:p>
        </p:txBody>
      </p:sp>
      <p:sp>
        <p:nvSpPr>
          <p:cNvPr id="3" name="Title 2"/>
          <p:cNvSpPr>
            <a:spLocks noGrp="1"/>
          </p:cNvSpPr>
          <p:nvPr>
            <p:ph type="title"/>
          </p:nvPr>
        </p:nvSpPr>
        <p:spPr/>
        <p:txBody>
          <a:bodyPr/>
          <a:lstStyle/>
          <a:p>
            <a:r>
              <a:rPr lang="en-GB" noProof="0" dirty="0" err="1"/>
              <a:t>UseR</a:t>
            </a:r>
            <a:r>
              <a:rPr lang="en-GB" noProof="0" dirty="0"/>
              <a:t> STORIES</a:t>
            </a:r>
          </a:p>
        </p:txBody>
      </p:sp>
      <p:sp>
        <p:nvSpPr>
          <p:cNvPr id="5" name="Tijdelijke aanduiding voor dianummer 4"/>
          <p:cNvSpPr>
            <a:spLocks noGrp="1"/>
          </p:cNvSpPr>
          <p:nvPr>
            <p:ph type="sldNum" sz="quarter" idx="11"/>
          </p:nvPr>
        </p:nvSpPr>
        <p:spPr/>
        <p:txBody>
          <a:bodyPr/>
          <a:lstStyle/>
          <a:p>
            <a:fld id="{B6F15528-21DE-4FAA-801E-634DDDAF4B2B}" type="slidenum">
              <a:rPr lang="en-GB" noProof="0" smtClean="0"/>
              <a:t>32</a:t>
            </a:fld>
            <a:endParaRPr lang="en-GB" noProof="0" dirty="0"/>
          </a:p>
        </p:txBody>
      </p:sp>
    </p:spTree>
    <p:extLst>
      <p:ext uri="{BB962C8B-B14F-4D97-AF65-F5344CB8AC3E}">
        <p14:creationId xmlns:p14="http://schemas.microsoft.com/office/powerpoint/2010/main" val="10732499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GB" noProof="0" dirty="0"/>
              <a:t>Consist of</a:t>
            </a:r>
          </a:p>
          <a:p>
            <a:pPr lvl="1"/>
            <a:r>
              <a:rPr lang="en-GB" noProof="0" dirty="0"/>
              <a:t>Trigger</a:t>
            </a:r>
          </a:p>
          <a:p>
            <a:pPr lvl="2"/>
            <a:r>
              <a:rPr lang="en-GB" noProof="0" dirty="0"/>
              <a:t>What brings one into this use case</a:t>
            </a:r>
          </a:p>
          <a:p>
            <a:pPr lvl="1"/>
            <a:r>
              <a:rPr lang="en-GB" noProof="0" dirty="0"/>
              <a:t>Roadmap</a:t>
            </a:r>
          </a:p>
          <a:p>
            <a:pPr lvl="2"/>
            <a:r>
              <a:rPr lang="en-GB" noProof="0" dirty="0"/>
              <a:t>What steps are completed at least from beginning to end of the use case</a:t>
            </a:r>
          </a:p>
          <a:p>
            <a:pPr lvl="1"/>
            <a:r>
              <a:rPr lang="en-GB" noProof="0" dirty="0"/>
              <a:t>Extensions or alternative paths</a:t>
            </a:r>
          </a:p>
          <a:p>
            <a:pPr lvl="2"/>
            <a:r>
              <a:rPr lang="en-GB" noProof="0" dirty="0"/>
              <a:t>What happens when the user performs a certain action that deviates from the normal roadmap</a:t>
            </a:r>
          </a:p>
        </p:txBody>
      </p:sp>
      <p:sp>
        <p:nvSpPr>
          <p:cNvPr id="3" name="Title 2"/>
          <p:cNvSpPr>
            <a:spLocks noGrp="1"/>
          </p:cNvSpPr>
          <p:nvPr>
            <p:ph type="title"/>
          </p:nvPr>
        </p:nvSpPr>
        <p:spPr/>
        <p:txBody>
          <a:bodyPr/>
          <a:lstStyle/>
          <a:p>
            <a:r>
              <a:rPr lang="en-GB" noProof="0" dirty="0"/>
              <a:t>Use Cases/USER STORIES</a:t>
            </a:r>
          </a:p>
        </p:txBody>
      </p:sp>
      <p:sp>
        <p:nvSpPr>
          <p:cNvPr id="5" name="Tijdelijke aanduiding voor dianummer 4"/>
          <p:cNvSpPr>
            <a:spLocks noGrp="1"/>
          </p:cNvSpPr>
          <p:nvPr>
            <p:ph type="sldNum" sz="quarter" idx="11"/>
          </p:nvPr>
        </p:nvSpPr>
        <p:spPr/>
        <p:txBody>
          <a:bodyPr/>
          <a:lstStyle/>
          <a:p>
            <a:fld id="{B6F15528-21DE-4FAA-801E-634DDDAF4B2B}" type="slidenum">
              <a:rPr lang="en-GB" noProof="0" smtClean="0"/>
              <a:t>33</a:t>
            </a:fld>
            <a:endParaRPr lang="en-GB" noProof="0" dirty="0"/>
          </a:p>
        </p:txBody>
      </p:sp>
    </p:spTree>
    <p:extLst>
      <p:ext uri="{BB962C8B-B14F-4D97-AF65-F5344CB8AC3E}">
        <p14:creationId xmlns:p14="http://schemas.microsoft.com/office/powerpoint/2010/main" val="25948996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GB" noProof="0" dirty="0"/>
              <a:t>Withdrawing money from ATM</a:t>
            </a:r>
          </a:p>
        </p:txBody>
      </p:sp>
      <p:sp>
        <p:nvSpPr>
          <p:cNvPr id="3" name="Title 2"/>
          <p:cNvSpPr>
            <a:spLocks noGrp="1"/>
          </p:cNvSpPr>
          <p:nvPr>
            <p:ph type="title"/>
          </p:nvPr>
        </p:nvSpPr>
        <p:spPr/>
        <p:txBody>
          <a:bodyPr/>
          <a:lstStyle/>
          <a:p>
            <a:r>
              <a:rPr lang="en-GB" noProof="0" dirty="0"/>
              <a:t>Example</a:t>
            </a:r>
          </a:p>
        </p:txBody>
      </p:sp>
      <p:graphicFrame>
        <p:nvGraphicFramePr>
          <p:cNvPr id="4" name="Content Placeholder 3"/>
          <p:cNvGraphicFramePr>
            <a:graphicFrameLocks/>
          </p:cNvGraphicFramePr>
          <p:nvPr/>
        </p:nvGraphicFramePr>
        <p:xfrm>
          <a:off x="432000" y="1905000"/>
          <a:ext cx="8280000" cy="2677443"/>
        </p:xfrm>
        <a:graphic>
          <a:graphicData uri="http://schemas.openxmlformats.org/drawingml/2006/table">
            <a:tbl>
              <a:tblPr firstRow="1" bandRow="1">
                <a:tableStyleId>{5C22544A-7EE6-4342-B048-85BDC9FD1C3A}</a:tableStyleId>
              </a:tblPr>
              <a:tblGrid>
                <a:gridCol w="2082600">
                  <a:extLst>
                    <a:ext uri="{9D8B030D-6E8A-4147-A177-3AD203B41FA5}">
                      <a16:colId xmlns:a16="http://schemas.microsoft.com/office/drawing/2014/main" val="20000"/>
                    </a:ext>
                  </a:extLst>
                </a:gridCol>
                <a:gridCol w="6197400">
                  <a:extLst>
                    <a:ext uri="{9D8B030D-6E8A-4147-A177-3AD203B41FA5}">
                      <a16:colId xmlns:a16="http://schemas.microsoft.com/office/drawing/2014/main" val="20001"/>
                    </a:ext>
                  </a:extLst>
                </a:gridCol>
              </a:tblGrid>
              <a:tr h="372091">
                <a:tc>
                  <a:txBody>
                    <a:bodyPr/>
                    <a:lstStyle/>
                    <a:p>
                      <a:r>
                        <a:rPr lang="en-GB" sz="1400" noProof="0" dirty="0"/>
                        <a:t>Use case step</a:t>
                      </a:r>
                    </a:p>
                  </a:txBody>
                  <a:tcPr marL="91749" marR="91749" marT="45874" marB="45874"/>
                </a:tc>
                <a:tc>
                  <a:txBody>
                    <a:bodyPr/>
                    <a:lstStyle/>
                    <a:p>
                      <a:r>
                        <a:rPr lang="en-GB" sz="1400" noProof="0" dirty="0"/>
                        <a:t>Elaboration</a:t>
                      </a:r>
                    </a:p>
                  </a:txBody>
                  <a:tcPr marL="91749" marR="91749" marT="45874" marB="45874"/>
                </a:tc>
                <a:extLst>
                  <a:ext uri="{0D108BD9-81ED-4DB2-BD59-A6C34878D82A}">
                    <a16:rowId xmlns:a16="http://schemas.microsoft.com/office/drawing/2014/main" val="10000"/>
                  </a:ext>
                </a:extLst>
              </a:tr>
              <a:tr h="372091">
                <a:tc>
                  <a:txBody>
                    <a:bodyPr/>
                    <a:lstStyle/>
                    <a:p>
                      <a:r>
                        <a:rPr lang="en-GB" sz="1400" noProof="0" dirty="0"/>
                        <a:t>Name</a:t>
                      </a:r>
                    </a:p>
                  </a:txBody>
                  <a:tcPr marL="91749" marR="91749" marT="45874" marB="45874"/>
                </a:tc>
                <a:tc>
                  <a:txBody>
                    <a:bodyPr/>
                    <a:lstStyle/>
                    <a:p>
                      <a:r>
                        <a:rPr lang="en-GB" sz="1400" noProof="0" dirty="0"/>
                        <a:t>Money Collection</a:t>
                      </a:r>
                    </a:p>
                  </a:txBody>
                  <a:tcPr marL="91749" marR="91749" marT="45874" marB="45874"/>
                </a:tc>
                <a:extLst>
                  <a:ext uri="{0D108BD9-81ED-4DB2-BD59-A6C34878D82A}">
                    <a16:rowId xmlns:a16="http://schemas.microsoft.com/office/drawing/2014/main" val="10001"/>
                  </a:ext>
                </a:extLst>
              </a:tr>
              <a:tr h="372091">
                <a:tc>
                  <a:txBody>
                    <a:bodyPr/>
                    <a:lstStyle/>
                    <a:p>
                      <a:r>
                        <a:rPr lang="en-GB" sz="1400" noProof="0" dirty="0"/>
                        <a:t>Actor</a:t>
                      </a:r>
                    </a:p>
                  </a:txBody>
                  <a:tcPr marL="91749" marR="91749" marT="45874" marB="45874"/>
                </a:tc>
                <a:tc>
                  <a:txBody>
                    <a:bodyPr/>
                    <a:lstStyle/>
                    <a:p>
                      <a:r>
                        <a:rPr lang="en-GB" sz="1400" noProof="0" dirty="0"/>
                        <a:t>Customer of bank, server of bank</a:t>
                      </a:r>
                    </a:p>
                  </a:txBody>
                  <a:tcPr marL="91749" marR="91749" marT="45874" marB="45874"/>
                </a:tc>
                <a:extLst>
                  <a:ext uri="{0D108BD9-81ED-4DB2-BD59-A6C34878D82A}">
                    <a16:rowId xmlns:a16="http://schemas.microsoft.com/office/drawing/2014/main" val="10002"/>
                  </a:ext>
                </a:extLst>
              </a:tr>
              <a:tr h="520390">
                <a:tc>
                  <a:txBody>
                    <a:bodyPr/>
                    <a:lstStyle/>
                    <a:p>
                      <a:r>
                        <a:rPr lang="en-GB" sz="1400" noProof="0" dirty="0"/>
                        <a:t>Description</a:t>
                      </a:r>
                    </a:p>
                  </a:txBody>
                  <a:tcPr marL="91749" marR="91749" marT="45874" marB="45874"/>
                </a:tc>
                <a:tc>
                  <a:txBody>
                    <a:bodyPr/>
                    <a:lstStyle/>
                    <a:p>
                      <a:r>
                        <a:rPr lang="en-GB" sz="1400" noProof="0" dirty="0"/>
                        <a:t>The customer withdraws money from the ATM and the bank server reduces </a:t>
                      </a:r>
                      <a:r>
                        <a:rPr lang="en-GB" sz="1400" baseline="0" noProof="0" dirty="0"/>
                        <a:t>the customer's account</a:t>
                      </a:r>
                      <a:endParaRPr lang="en-GB" sz="1400" noProof="0" dirty="0"/>
                    </a:p>
                  </a:txBody>
                  <a:tcPr marL="91749" marR="91749" marT="45874" marB="45874"/>
                </a:tc>
                <a:extLst>
                  <a:ext uri="{0D108BD9-81ED-4DB2-BD59-A6C34878D82A}">
                    <a16:rowId xmlns:a16="http://schemas.microsoft.com/office/drawing/2014/main" val="10003"/>
                  </a:ext>
                </a:extLst>
              </a:tr>
              <a:tr h="520390">
                <a:tc>
                  <a:txBody>
                    <a:bodyPr/>
                    <a:lstStyle/>
                    <a:p>
                      <a:r>
                        <a:rPr lang="en-GB" sz="1400" noProof="0" dirty="0"/>
                        <a:t>Result</a:t>
                      </a:r>
                    </a:p>
                  </a:txBody>
                  <a:tcPr marL="91749" marR="91749" marT="45874" marB="45874"/>
                </a:tc>
                <a:tc>
                  <a:txBody>
                    <a:bodyPr/>
                    <a:lstStyle/>
                    <a:p>
                      <a:r>
                        <a:rPr lang="en-GB" sz="1400" noProof="0" dirty="0"/>
                        <a:t>The customer received money.</a:t>
                      </a:r>
                    </a:p>
                    <a:p>
                      <a:r>
                        <a:rPr lang="en-GB" sz="1400" noProof="0" dirty="0"/>
                        <a:t>The customer's bill was reduced.</a:t>
                      </a:r>
                    </a:p>
                  </a:txBody>
                  <a:tcPr marL="91749" marR="91749" marT="45874" marB="45874"/>
                </a:tc>
                <a:extLst>
                  <a:ext uri="{0D108BD9-81ED-4DB2-BD59-A6C34878D82A}">
                    <a16:rowId xmlns:a16="http://schemas.microsoft.com/office/drawing/2014/main" val="10004"/>
                  </a:ext>
                </a:extLst>
              </a:tr>
              <a:tr h="520390">
                <a:tc>
                  <a:txBody>
                    <a:bodyPr/>
                    <a:lstStyle/>
                    <a:p>
                      <a:r>
                        <a:rPr lang="en-GB" sz="1400" noProof="0" dirty="0"/>
                        <a:t>Trigger</a:t>
                      </a:r>
                    </a:p>
                  </a:txBody>
                  <a:tcPr marL="91749" marR="91749" marT="45874" marB="45874"/>
                </a:tc>
                <a:tc>
                  <a:txBody>
                    <a:bodyPr/>
                    <a:lstStyle/>
                    <a:p>
                      <a:r>
                        <a:rPr lang="en-GB" sz="1400" noProof="0" dirty="0"/>
                        <a:t>The customer </a:t>
                      </a:r>
                      <a:r>
                        <a:rPr lang="en-GB" sz="1400" baseline="0" noProof="0" dirty="0"/>
                        <a:t>chose to withdraw cash from the ATM menu.</a:t>
                      </a:r>
                      <a:endParaRPr lang="en-GB" sz="1400" noProof="0" dirty="0"/>
                    </a:p>
                  </a:txBody>
                  <a:tcPr marL="91749" marR="91749" marT="45874" marB="45874"/>
                </a:tc>
                <a:extLst>
                  <a:ext uri="{0D108BD9-81ED-4DB2-BD59-A6C34878D82A}">
                    <a16:rowId xmlns:a16="http://schemas.microsoft.com/office/drawing/2014/main" val="10005"/>
                  </a:ext>
                </a:extLst>
              </a:tr>
            </a:tbl>
          </a:graphicData>
        </a:graphic>
      </p:graphicFrame>
      <p:sp>
        <p:nvSpPr>
          <p:cNvPr id="6" name="Tijdelijke aanduiding voor dianummer 5"/>
          <p:cNvSpPr>
            <a:spLocks noGrp="1"/>
          </p:cNvSpPr>
          <p:nvPr>
            <p:ph type="sldNum" sz="quarter" idx="11"/>
          </p:nvPr>
        </p:nvSpPr>
        <p:spPr/>
        <p:txBody>
          <a:bodyPr/>
          <a:lstStyle/>
          <a:p>
            <a:fld id="{B6F15528-21DE-4FAA-801E-634DDDAF4B2B}" type="slidenum">
              <a:rPr lang="en-GB" noProof="0" smtClean="0"/>
              <a:t>34</a:t>
            </a:fld>
            <a:endParaRPr lang="en-GB" noProof="0" dirty="0"/>
          </a:p>
        </p:txBody>
      </p:sp>
    </p:spTree>
    <p:extLst>
      <p:ext uri="{BB962C8B-B14F-4D97-AF65-F5344CB8AC3E}">
        <p14:creationId xmlns:p14="http://schemas.microsoft.com/office/powerpoint/2010/main" val="29759429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GB" noProof="0" dirty="0"/>
              <a:t>Withdrawing money from ATM</a:t>
            </a:r>
          </a:p>
        </p:txBody>
      </p:sp>
      <p:sp>
        <p:nvSpPr>
          <p:cNvPr id="3" name="Title 2"/>
          <p:cNvSpPr>
            <a:spLocks noGrp="1"/>
          </p:cNvSpPr>
          <p:nvPr>
            <p:ph type="title"/>
          </p:nvPr>
        </p:nvSpPr>
        <p:spPr/>
        <p:txBody>
          <a:bodyPr/>
          <a:lstStyle/>
          <a:p>
            <a:r>
              <a:rPr lang="en-GB" noProof="0" dirty="0"/>
              <a:t>Example</a:t>
            </a:r>
          </a:p>
        </p:txBody>
      </p:sp>
      <p:graphicFrame>
        <p:nvGraphicFramePr>
          <p:cNvPr id="4" name="Content Placeholder 3"/>
          <p:cNvGraphicFramePr>
            <a:graphicFrameLocks/>
          </p:cNvGraphicFramePr>
          <p:nvPr/>
        </p:nvGraphicFramePr>
        <p:xfrm>
          <a:off x="432000" y="1905000"/>
          <a:ext cx="8280000" cy="3235960"/>
        </p:xfrm>
        <a:graphic>
          <a:graphicData uri="http://schemas.openxmlformats.org/drawingml/2006/table">
            <a:tbl>
              <a:tblPr firstRow="1" bandRow="1">
                <a:tableStyleId>{5C22544A-7EE6-4342-B048-85BDC9FD1C3A}</a:tableStyleId>
              </a:tblPr>
              <a:tblGrid>
                <a:gridCol w="2082600">
                  <a:extLst>
                    <a:ext uri="{9D8B030D-6E8A-4147-A177-3AD203B41FA5}">
                      <a16:colId xmlns:a16="http://schemas.microsoft.com/office/drawing/2014/main" val="20000"/>
                    </a:ext>
                  </a:extLst>
                </a:gridCol>
                <a:gridCol w="6197400">
                  <a:extLst>
                    <a:ext uri="{9D8B030D-6E8A-4147-A177-3AD203B41FA5}">
                      <a16:colId xmlns:a16="http://schemas.microsoft.com/office/drawing/2014/main" val="20001"/>
                    </a:ext>
                  </a:extLst>
                </a:gridCol>
              </a:tblGrid>
              <a:tr h="370840">
                <a:tc>
                  <a:txBody>
                    <a:bodyPr/>
                    <a:lstStyle/>
                    <a:p>
                      <a:r>
                        <a:rPr lang="en-GB" sz="1400" noProof="0" dirty="0"/>
                        <a:t>Use case step</a:t>
                      </a:r>
                    </a:p>
                  </a:txBody>
                  <a:tcPr/>
                </a:tc>
                <a:tc>
                  <a:txBody>
                    <a:bodyPr/>
                    <a:lstStyle/>
                    <a:p>
                      <a:r>
                        <a:rPr lang="en-GB" sz="1400" noProof="0" dirty="0"/>
                        <a:t>Elaboration</a:t>
                      </a:r>
                    </a:p>
                  </a:txBody>
                  <a:tcPr/>
                </a:tc>
                <a:extLst>
                  <a:ext uri="{0D108BD9-81ED-4DB2-BD59-A6C34878D82A}">
                    <a16:rowId xmlns:a16="http://schemas.microsoft.com/office/drawing/2014/main" val="10000"/>
                  </a:ext>
                </a:extLst>
              </a:tr>
              <a:tr h="370840">
                <a:tc>
                  <a:txBody>
                    <a:bodyPr/>
                    <a:lstStyle/>
                    <a:p>
                      <a:r>
                        <a:rPr lang="en-GB" sz="1400" noProof="0" dirty="0"/>
                        <a:t>Roadmap</a:t>
                      </a:r>
                    </a:p>
                  </a:txBody>
                  <a:tcPr/>
                </a:tc>
                <a:tc>
                  <a:txBody>
                    <a:bodyPr/>
                    <a:lstStyle/>
                    <a:p>
                      <a:pPr marL="342900" indent="-342900">
                        <a:buAutoNum type="arabicPeriod"/>
                      </a:pPr>
                      <a:r>
                        <a:rPr lang="en-GB" sz="1400" baseline="0" noProof="0" dirty="0"/>
                        <a:t>The customer inserts his card into the vending machine</a:t>
                      </a:r>
                    </a:p>
                    <a:p>
                      <a:pPr marL="342900" indent="-342900">
                        <a:buAutoNum type="arabicPeriod"/>
                      </a:pPr>
                      <a:r>
                        <a:rPr lang="en-GB" sz="1400" baseline="0" noProof="0" dirty="0"/>
                        <a:t>The customer enters his pin code</a:t>
                      </a:r>
                    </a:p>
                    <a:p>
                      <a:pPr marL="342900" indent="-342900">
                        <a:buAutoNum type="arabicPeriod"/>
                      </a:pPr>
                      <a:r>
                        <a:rPr lang="en-GB" sz="1400" baseline="0" noProof="0" dirty="0"/>
                        <a:t>The machine checks the pin code</a:t>
                      </a:r>
                    </a:p>
                    <a:p>
                      <a:pPr marL="342900" indent="-342900">
                        <a:buAutoNum type="arabicPeriod"/>
                      </a:pPr>
                      <a:r>
                        <a:rPr lang="en-GB" sz="1400" baseline="0" noProof="0" dirty="0"/>
                        <a:t>The machine displays the selection menu</a:t>
                      </a:r>
                    </a:p>
                    <a:p>
                      <a:pPr marL="342900" indent="-342900">
                        <a:buAutoNum type="arabicPeriod"/>
                      </a:pPr>
                      <a:r>
                        <a:rPr lang="en-GB" sz="1400" baseline="0" noProof="0" dirty="0"/>
                        <a:t>Customer selects the cash pickup option</a:t>
                      </a:r>
                    </a:p>
                    <a:p>
                      <a:pPr marL="342900" indent="-342900">
                        <a:buAutoNum type="arabicPeriod"/>
                      </a:pPr>
                      <a:r>
                        <a:rPr lang="en-GB" sz="1400" baseline="0" noProof="0" dirty="0"/>
                        <a:t>The customer selects an amount</a:t>
                      </a:r>
                    </a:p>
                    <a:p>
                      <a:pPr marL="342900" indent="-342900">
                        <a:buAutoNum type="arabicPeriod"/>
                      </a:pPr>
                      <a:r>
                        <a:rPr lang="en-GB" sz="1400" baseline="0" noProof="0" dirty="0"/>
                        <a:t>The machine contacts the server to check the customer's account</a:t>
                      </a:r>
                    </a:p>
                    <a:p>
                      <a:pPr marL="342900" indent="-342900">
                        <a:buAutoNum type="arabicPeriod"/>
                      </a:pPr>
                      <a:r>
                        <a:rPr lang="en-GB" sz="1400" baseline="0" noProof="0" dirty="0"/>
                        <a:t>The machine gives the requested amount</a:t>
                      </a:r>
                    </a:p>
                    <a:p>
                      <a:pPr marL="342900" indent="-342900">
                        <a:buAutoNum type="arabicPeriod"/>
                      </a:pPr>
                      <a:r>
                        <a:rPr lang="en-GB" sz="1400" baseline="0" noProof="0" dirty="0"/>
                        <a:t>The machine contacts the server to withdraw the amount from the account</a:t>
                      </a:r>
                    </a:p>
                    <a:p>
                      <a:pPr marL="342900" indent="-342900">
                        <a:buAutoNum type="arabicPeriod"/>
                      </a:pPr>
                      <a:r>
                        <a:rPr lang="en-GB" sz="1400" baseline="0" noProof="0" dirty="0"/>
                        <a:t>Customer asks for his card back</a:t>
                      </a:r>
                    </a:p>
                    <a:p>
                      <a:pPr marL="342900" indent="-342900">
                        <a:buAutoNum type="arabicPeriod"/>
                      </a:pPr>
                      <a:r>
                        <a:rPr lang="en-GB" sz="1400" baseline="0" noProof="0" dirty="0"/>
                        <a:t>The vending machine returns the customer's card</a:t>
                      </a:r>
                      <a:endParaRPr lang="en-GB" sz="1400" noProof="0" dirty="0"/>
                    </a:p>
                  </a:txBody>
                  <a:tcPr/>
                </a:tc>
                <a:extLst>
                  <a:ext uri="{0D108BD9-81ED-4DB2-BD59-A6C34878D82A}">
                    <a16:rowId xmlns:a16="http://schemas.microsoft.com/office/drawing/2014/main" val="10001"/>
                  </a:ext>
                </a:extLst>
              </a:tr>
            </a:tbl>
          </a:graphicData>
        </a:graphic>
      </p:graphicFrame>
      <p:sp>
        <p:nvSpPr>
          <p:cNvPr id="6" name="Tijdelijke aanduiding voor dianummer 5"/>
          <p:cNvSpPr>
            <a:spLocks noGrp="1"/>
          </p:cNvSpPr>
          <p:nvPr>
            <p:ph type="sldNum" sz="quarter" idx="11"/>
          </p:nvPr>
        </p:nvSpPr>
        <p:spPr/>
        <p:txBody>
          <a:bodyPr/>
          <a:lstStyle/>
          <a:p>
            <a:fld id="{B6F15528-21DE-4FAA-801E-634DDDAF4B2B}" type="slidenum">
              <a:rPr lang="en-GB" noProof="0" smtClean="0"/>
              <a:t>35</a:t>
            </a:fld>
            <a:endParaRPr lang="en-GB" noProof="0" dirty="0"/>
          </a:p>
        </p:txBody>
      </p:sp>
    </p:spTree>
    <p:extLst>
      <p:ext uri="{BB962C8B-B14F-4D97-AF65-F5344CB8AC3E}">
        <p14:creationId xmlns:p14="http://schemas.microsoft.com/office/powerpoint/2010/main" val="36604323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GB" noProof="0" dirty="0"/>
              <a:t>Withdrawing money from ATM</a:t>
            </a:r>
          </a:p>
        </p:txBody>
      </p:sp>
      <p:sp>
        <p:nvSpPr>
          <p:cNvPr id="3" name="Title 2"/>
          <p:cNvSpPr>
            <a:spLocks noGrp="1"/>
          </p:cNvSpPr>
          <p:nvPr>
            <p:ph type="title"/>
          </p:nvPr>
        </p:nvSpPr>
        <p:spPr/>
        <p:txBody>
          <a:bodyPr/>
          <a:lstStyle/>
          <a:p>
            <a:r>
              <a:rPr lang="en-GB" noProof="0" dirty="0"/>
              <a:t>Example</a:t>
            </a:r>
            <a:r>
              <a:rPr lang="en-GB" dirty="0"/>
              <a:t> (Look at the notes)</a:t>
            </a:r>
            <a:endParaRPr lang="en-GB" noProof="0" dirty="0"/>
          </a:p>
        </p:txBody>
      </p:sp>
      <p:graphicFrame>
        <p:nvGraphicFramePr>
          <p:cNvPr id="4" name="Content Placeholder 3"/>
          <p:cNvGraphicFramePr>
            <a:graphicFrameLocks/>
          </p:cNvGraphicFramePr>
          <p:nvPr/>
        </p:nvGraphicFramePr>
        <p:xfrm>
          <a:off x="432000" y="1905000"/>
          <a:ext cx="8280000" cy="3876040"/>
        </p:xfrm>
        <a:graphic>
          <a:graphicData uri="http://schemas.openxmlformats.org/drawingml/2006/table">
            <a:tbl>
              <a:tblPr firstRow="1" bandRow="1">
                <a:tableStyleId>{5C22544A-7EE6-4342-B048-85BDC9FD1C3A}</a:tableStyleId>
              </a:tblPr>
              <a:tblGrid>
                <a:gridCol w="2082600">
                  <a:extLst>
                    <a:ext uri="{9D8B030D-6E8A-4147-A177-3AD203B41FA5}">
                      <a16:colId xmlns:a16="http://schemas.microsoft.com/office/drawing/2014/main" val="20000"/>
                    </a:ext>
                  </a:extLst>
                </a:gridCol>
                <a:gridCol w="6197400">
                  <a:extLst>
                    <a:ext uri="{9D8B030D-6E8A-4147-A177-3AD203B41FA5}">
                      <a16:colId xmlns:a16="http://schemas.microsoft.com/office/drawing/2014/main" val="20001"/>
                    </a:ext>
                  </a:extLst>
                </a:gridCol>
              </a:tblGrid>
              <a:tr h="370840">
                <a:tc>
                  <a:txBody>
                    <a:bodyPr/>
                    <a:lstStyle/>
                    <a:p>
                      <a:r>
                        <a:rPr lang="en-GB" sz="1400" noProof="0" dirty="0"/>
                        <a:t>Use case step</a:t>
                      </a:r>
                    </a:p>
                  </a:txBody>
                  <a:tcPr/>
                </a:tc>
                <a:tc>
                  <a:txBody>
                    <a:bodyPr/>
                    <a:lstStyle/>
                    <a:p>
                      <a:r>
                        <a:rPr lang="en-GB" sz="1400" noProof="0" dirty="0"/>
                        <a:t>Elaboration</a:t>
                      </a:r>
                    </a:p>
                  </a:txBody>
                  <a:tcPr/>
                </a:tc>
                <a:extLst>
                  <a:ext uri="{0D108BD9-81ED-4DB2-BD59-A6C34878D82A}">
                    <a16:rowId xmlns:a16="http://schemas.microsoft.com/office/drawing/2014/main" val="10000"/>
                  </a:ext>
                </a:extLst>
              </a:tr>
              <a:tr h="370840">
                <a:tc>
                  <a:txBody>
                    <a:bodyPr/>
                    <a:lstStyle/>
                    <a:p>
                      <a:r>
                        <a:rPr lang="en-GB" sz="1400" noProof="0" dirty="0"/>
                        <a:t>Alternative steps</a:t>
                      </a:r>
                    </a:p>
                  </a:txBody>
                  <a:tcPr/>
                </a:tc>
                <a:tc>
                  <a:txBody>
                    <a:bodyPr/>
                    <a:lstStyle/>
                    <a:p>
                      <a:r>
                        <a:rPr lang="en-GB" sz="1400" noProof="0" dirty="0"/>
                        <a:t>3a1. The pin code is wrong</a:t>
                      </a:r>
                    </a:p>
                    <a:p>
                      <a:r>
                        <a:rPr lang="en-GB" sz="1400" noProof="0" dirty="0"/>
                        <a:t>3a2. The machine asks the customer for the PIN code again</a:t>
                      </a:r>
                    </a:p>
                    <a:p>
                      <a:r>
                        <a:rPr lang="en-GB" sz="1400" noProof="0" dirty="0"/>
                        <a:t>8a1. The amount in the customer's account is too low</a:t>
                      </a:r>
                    </a:p>
                    <a:p>
                      <a:r>
                        <a:rPr lang="en-GB" sz="1400" noProof="0" dirty="0"/>
                        <a:t>8a2. The machine reports this </a:t>
                      </a:r>
                      <a:r>
                        <a:rPr lang="en-GB" sz="1400" baseline="0" noProof="0" dirty="0"/>
                        <a:t>on the screen</a:t>
                      </a:r>
                    </a:p>
                    <a:p>
                      <a:r>
                        <a:rPr lang="en-GB" sz="1400" baseline="0" noProof="0" dirty="0"/>
                        <a:t>8a3. The machine returns the customer's card</a:t>
                      </a:r>
                    </a:p>
                    <a:p>
                      <a:r>
                        <a:rPr lang="en-GB" sz="1400" baseline="0" noProof="0" dirty="0"/>
                        <a:t>8b1. The machine does not possess enough money</a:t>
                      </a:r>
                    </a:p>
                    <a:p>
                      <a:r>
                        <a:rPr lang="en-GB" sz="1400" baseline="0" noProof="0" dirty="0"/>
                        <a:t>8b2. The machine reports this to the customer</a:t>
                      </a:r>
                    </a:p>
                    <a:p>
                      <a:r>
                        <a:rPr lang="en-GB" sz="1400" baseline="0" noProof="0" dirty="0"/>
                        <a:t>8b3. The machine again displays the selection menu</a:t>
                      </a:r>
                    </a:p>
                    <a:p>
                      <a:r>
                        <a:rPr lang="en-GB" sz="1400" baseline="0" noProof="0" dirty="0"/>
                        <a:t>10a1. Customer forgets to ask for his card back</a:t>
                      </a:r>
                    </a:p>
                    <a:p>
                      <a:r>
                        <a:rPr lang="en-GB" sz="1400" baseline="0" noProof="0" dirty="0"/>
                        <a:t>10a2. The machine signals this on the screen</a:t>
                      </a:r>
                    </a:p>
                    <a:p>
                      <a:r>
                        <a:rPr lang="en-GB" sz="1400" baseline="0" noProof="0" dirty="0"/>
                        <a:t>10a3. The machine emits a signal</a:t>
                      </a:r>
                    </a:p>
                    <a:p>
                      <a:r>
                        <a:rPr lang="en-GB" sz="1400" baseline="0" noProof="0" dirty="0"/>
                        <a:t>10a4. Customer asks for his card back</a:t>
                      </a:r>
                    </a:p>
                    <a:p>
                      <a:r>
                        <a:rPr lang="en-GB" sz="1400" baseline="0" noProof="0" dirty="0"/>
                        <a:t>10b1. Customer forgets to ask for his card back</a:t>
                      </a:r>
                    </a:p>
                    <a:p>
                      <a:r>
                        <a:rPr lang="en-GB" sz="1400" baseline="0" noProof="0" dirty="0"/>
                        <a:t>10b2. The machine signals this on the screen</a:t>
                      </a:r>
                    </a:p>
                    <a:p>
                      <a:r>
                        <a:rPr lang="en-GB" sz="1400" baseline="0" noProof="0" dirty="0"/>
                        <a:t>10b3. The machine emits a signal</a:t>
                      </a:r>
                    </a:p>
                    <a:p>
                      <a:r>
                        <a:rPr lang="en-GB" sz="1400" baseline="0" noProof="0" dirty="0"/>
                        <a:t>10b4. The machine swallows the card</a:t>
                      </a:r>
                    </a:p>
                  </a:txBody>
                  <a:tcPr/>
                </a:tc>
                <a:extLst>
                  <a:ext uri="{0D108BD9-81ED-4DB2-BD59-A6C34878D82A}">
                    <a16:rowId xmlns:a16="http://schemas.microsoft.com/office/drawing/2014/main" val="10001"/>
                  </a:ext>
                </a:extLst>
              </a:tr>
            </a:tbl>
          </a:graphicData>
        </a:graphic>
      </p:graphicFrame>
      <p:sp>
        <p:nvSpPr>
          <p:cNvPr id="6" name="Tijdelijke aanduiding voor dianummer 5"/>
          <p:cNvSpPr>
            <a:spLocks noGrp="1"/>
          </p:cNvSpPr>
          <p:nvPr>
            <p:ph type="sldNum" sz="quarter" idx="11"/>
          </p:nvPr>
        </p:nvSpPr>
        <p:spPr/>
        <p:txBody>
          <a:bodyPr/>
          <a:lstStyle/>
          <a:p>
            <a:fld id="{B6F15528-21DE-4FAA-801E-634DDDAF4B2B}" type="slidenum">
              <a:rPr lang="en-GB" noProof="0" smtClean="0"/>
              <a:t>36</a:t>
            </a:fld>
            <a:endParaRPr lang="en-GB" noProof="0" dirty="0"/>
          </a:p>
        </p:txBody>
      </p:sp>
    </p:spTree>
    <p:extLst>
      <p:ext uri="{BB962C8B-B14F-4D97-AF65-F5344CB8AC3E}">
        <p14:creationId xmlns:p14="http://schemas.microsoft.com/office/powerpoint/2010/main" val="9122523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4F1A14D-9C11-B9C7-60D3-21786A47964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19179" y="1179567"/>
            <a:ext cx="3824821" cy="2520000"/>
          </a:xfrm>
          <a:prstGeom prst="rect">
            <a:avLst/>
          </a:prstGeom>
        </p:spPr>
      </p:pic>
      <p:sp>
        <p:nvSpPr>
          <p:cNvPr id="3" name="Title 2">
            <a:extLst>
              <a:ext uri="{FF2B5EF4-FFF2-40B4-BE49-F238E27FC236}">
                <a16:creationId xmlns:a16="http://schemas.microsoft.com/office/drawing/2014/main" id="{C3576A6C-7639-B013-5337-15C3B3A296DB}"/>
              </a:ext>
            </a:extLst>
          </p:cNvPr>
          <p:cNvSpPr>
            <a:spLocks noGrp="1"/>
          </p:cNvSpPr>
          <p:nvPr>
            <p:ph type="title"/>
          </p:nvPr>
        </p:nvSpPr>
        <p:spPr/>
        <p:txBody>
          <a:bodyPr/>
          <a:lstStyle/>
          <a:p>
            <a:r>
              <a:rPr lang="nl-BE" dirty="0" err="1"/>
              <a:t>Recap</a:t>
            </a:r>
            <a:endParaRPr lang="nl-BE" dirty="0"/>
          </a:p>
        </p:txBody>
      </p:sp>
      <p:sp>
        <p:nvSpPr>
          <p:cNvPr id="4" name="Slide Number Placeholder 3">
            <a:extLst>
              <a:ext uri="{FF2B5EF4-FFF2-40B4-BE49-F238E27FC236}">
                <a16:creationId xmlns:a16="http://schemas.microsoft.com/office/drawing/2014/main" id="{3EB82C44-C738-8530-836D-DDDCFB23B538}"/>
              </a:ext>
            </a:extLst>
          </p:cNvPr>
          <p:cNvSpPr>
            <a:spLocks noGrp="1"/>
          </p:cNvSpPr>
          <p:nvPr>
            <p:ph type="sldNum" sz="quarter" idx="11"/>
          </p:nvPr>
        </p:nvSpPr>
        <p:spPr/>
        <p:txBody>
          <a:bodyPr/>
          <a:lstStyle/>
          <a:p>
            <a:fld id="{B6F15528-21DE-4FAA-801E-634DDDAF4B2B}" type="slidenum">
              <a:rPr lang="en-US" smtClean="0"/>
              <a:pPr/>
              <a:t>37</a:t>
            </a:fld>
            <a:endParaRPr lang="en-US" dirty="0"/>
          </a:p>
        </p:txBody>
      </p:sp>
      <p:pic>
        <p:nvPicPr>
          <p:cNvPr id="8" name="Picture 7">
            <a:extLst>
              <a:ext uri="{FF2B5EF4-FFF2-40B4-BE49-F238E27FC236}">
                <a16:creationId xmlns:a16="http://schemas.microsoft.com/office/drawing/2014/main" id="{7427D861-DC52-139A-837E-DF55732E97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582" y="3734025"/>
            <a:ext cx="3824822" cy="2520000"/>
          </a:xfrm>
          <a:prstGeom prst="rect">
            <a:avLst/>
          </a:prstGeom>
        </p:spPr>
      </p:pic>
      <p:pic>
        <p:nvPicPr>
          <p:cNvPr id="10" name="Picture 9">
            <a:extLst>
              <a:ext uri="{FF2B5EF4-FFF2-40B4-BE49-F238E27FC236}">
                <a16:creationId xmlns:a16="http://schemas.microsoft.com/office/drawing/2014/main" id="{C7E8E2FD-481E-7297-0431-F1788E1DC9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24000" y="3734025"/>
            <a:ext cx="4320000" cy="2520000"/>
          </a:xfrm>
          <a:prstGeom prst="rect">
            <a:avLst/>
          </a:prstGeom>
        </p:spPr>
      </p:pic>
      <p:pic>
        <p:nvPicPr>
          <p:cNvPr id="12" name="Picture 11">
            <a:extLst>
              <a:ext uri="{FF2B5EF4-FFF2-40B4-BE49-F238E27FC236}">
                <a16:creationId xmlns:a16="http://schemas.microsoft.com/office/drawing/2014/main" id="{CD7C1844-64BE-4662-C640-912766EE19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993" y="1159860"/>
            <a:ext cx="4320000" cy="2520000"/>
          </a:xfrm>
          <a:prstGeom prst="rect">
            <a:avLst/>
          </a:prstGeom>
        </p:spPr>
      </p:pic>
    </p:spTree>
    <p:extLst>
      <p:ext uri="{BB962C8B-B14F-4D97-AF65-F5344CB8AC3E}">
        <p14:creationId xmlns:p14="http://schemas.microsoft.com/office/powerpoint/2010/main" val="35595059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Afbeelding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8000" y="2226224"/>
            <a:ext cx="4356001" cy="2405552"/>
          </a:xfrm>
          <a:prstGeom prst="rect">
            <a:avLst/>
          </a:prstGeom>
        </p:spPr>
      </p:pic>
      <p:sp>
        <p:nvSpPr>
          <p:cNvPr id="2" name="Content Placeholder 1"/>
          <p:cNvSpPr>
            <a:spLocks noGrp="1"/>
          </p:cNvSpPr>
          <p:nvPr>
            <p:ph idx="1"/>
          </p:nvPr>
        </p:nvSpPr>
        <p:spPr>
          <a:xfrm>
            <a:off x="0" y="1152000"/>
            <a:ext cx="5334000" cy="4428000"/>
          </a:xfrm>
        </p:spPr>
        <p:txBody>
          <a:bodyPr/>
          <a:lstStyle/>
          <a:p>
            <a:r>
              <a:rPr lang="en-GB" noProof="0" dirty="0"/>
              <a:t>UML diagram to support a use case</a:t>
            </a:r>
          </a:p>
          <a:p>
            <a:r>
              <a:rPr lang="en-GB" noProof="0" dirty="0"/>
              <a:t>Very simple representation of actors and functionality of a system</a:t>
            </a:r>
          </a:p>
        </p:txBody>
      </p:sp>
      <p:sp>
        <p:nvSpPr>
          <p:cNvPr id="3" name="Title 2"/>
          <p:cNvSpPr>
            <a:spLocks noGrp="1"/>
          </p:cNvSpPr>
          <p:nvPr>
            <p:ph type="title"/>
          </p:nvPr>
        </p:nvSpPr>
        <p:spPr/>
        <p:txBody>
          <a:bodyPr/>
          <a:lstStyle/>
          <a:p>
            <a:r>
              <a:rPr lang="en-GB" noProof="0" dirty="0"/>
              <a:t>Use case Diagram</a:t>
            </a:r>
          </a:p>
        </p:txBody>
      </p:sp>
      <p:sp>
        <p:nvSpPr>
          <p:cNvPr id="6" name="Tijdelijke aanduiding voor dianummer 5"/>
          <p:cNvSpPr>
            <a:spLocks noGrp="1"/>
          </p:cNvSpPr>
          <p:nvPr>
            <p:ph type="sldNum" sz="quarter" idx="11"/>
          </p:nvPr>
        </p:nvSpPr>
        <p:spPr/>
        <p:txBody>
          <a:bodyPr/>
          <a:lstStyle/>
          <a:p>
            <a:fld id="{B6F15528-21DE-4FAA-801E-634DDDAF4B2B}" type="slidenum">
              <a:rPr lang="en-GB" noProof="0" smtClean="0"/>
              <a:t>38</a:t>
            </a:fld>
            <a:endParaRPr lang="en-GB" noProof="0" dirty="0"/>
          </a:p>
        </p:txBody>
      </p:sp>
    </p:spTree>
    <p:extLst>
      <p:ext uri="{BB962C8B-B14F-4D97-AF65-F5344CB8AC3E}">
        <p14:creationId xmlns:p14="http://schemas.microsoft.com/office/powerpoint/2010/main" val="40770886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45763F1-49B2-30F1-F720-0CC1E2EB6A23}"/>
              </a:ext>
            </a:extLst>
          </p:cNvPr>
          <p:cNvSpPr>
            <a:spLocks noGrp="1"/>
          </p:cNvSpPr>
          <p:nvPr>
            <p:ph idx="1"/>
          </p:nvPr>
        </p:nvSpPr>
        <p:spPr/>
        <p:txBody>
          <a:bodyPr>
            <a:normAutofit fontScale="77500" lnSpcReduction="20000"/>
          </a:bodyPr>
          <a:lstStyle/>
          <a:p>
            <a:r>
              <a:rPr lang="en-US" dirty="0"/>
              <a:t>A title (often forgotten): the name of your feature (e.g., shopping cart).</a:t>
            </a:r>
          </a:p>
          <a:p>
            <a:r>
              <a:rPr lang="en-US" dirty="0"/>
              <a:t>A short description of the functionality: </a:t>
            </a:r>
            <a:r>
              <a:rPr lang="en-US" dirty="0">
                <a:solidFill>
                  <a:srgbClr val="FF0000"/>
                </a:solidFill>
              </a:rPr>
              <a:t>who</a:t>
            </a:r>
            <a:r>
              <a:rPr lang="en-US" dirty="0"/>
              <a:t> is it for, </a:t>
            </a:r>
            <a:r>
              <a:rPr lang="en-US" dirty="0">
                <a:solidFill>
                  <a:srgbClr val="FF0000"/>
                </a:solidFill>
              </a:rPr>
              <a:t>what</a:t>
            </a:r>
            <a:r>
              <a:rPr lang="en-US" dirty="0"/>
              <a:t> is the purpose, and </a:t>
            </a:r>
            <a:r>
              <a:rPr lang="en-US" dirty="0">
                <a:solidFill>
                  <a:srgbClr val="FF0000"/>
                </a:solidFill>
              </a:rPr>
              <a:t>why</a:t>
            </a:r>
            <a:r>
              <a:rPr lang="en-US" dirty="0"/>
              <a:t>. Usually formulated as follows:</a:t>
            </a:r>
          </a:p>
          <a:p>
            <a:pPr lvl="1"/>
            <a:r>
              <a:rPr lang="en-US" dirty="0"/>
              <a:t>As a &lt;type of user&gt;, I want &lt;some goal&gt; so that &lt;some reason&gt;.</a:t>
            </a:r>
          </a:p>
          <a:p>
            <a:pPr lvl="1"/>
            <a:r>
              <a:rPr lang="en-US" dirty="0"/>
              <a:t>E.g., As a customer, I want to be able to add products to my shopping cart so I can keep track of what I'm about to order.</a:t>
            </a:r>
          </a:p>
          <a:p>
            <a:r>
              <a:rPr lang="en-US" dirty="0"/>
              <a:t>Acceptance criteria: Criteria that indicate whether the story has been executed as the user expects. These can be both functional and non-functional requirements.</a:t>
            </a:r>
          </a:p>
          <a:p>
            <a:pPr lvl="1"/>
            <a:r>
              <a:rPr lang="en-US" dirty="0"/>
              <a:t>E.g., the shopping cart is accessible from every page, the shopping cart has a clear table consisting of...</a:t>
            </a:r>
          </a:p>
          <a:p>
            <a:r>
              <a:rPr lang="en-US" dirty="0"/>
              <a:t>Possibly other details that clarify the feature, such as sketches, UML diagrams, etc.</a:t>
            </a:r>
            <a:endParaRPr lang="nl-BE" dirty="0"/>
          </a:p>
        </p:txBody>
      </p:sp>
      <p:sp>
        <p:nvSpPr>
          <p:cNvPr id="3" name="Title 2">
            <a:extLst>
              <a:ext uri="{FF2B5EF4-FFF2-40B4-BE49-F238E27FC236}">
                <a16:creationId xmlns:a16="http://schemas.microsoft.com/office/drawing/2014/main" id="{766868CC-A079-4606-2BDF-5A1C059DF968}"/>
              </a:ext>
            </a:extLst>
          </p:cNvPr>
          <p:cNvSpPr>
            <a:spLocks noGrp="1"/>
          </p:cNvSpPr>
          <p:nvPr>
            <p:ph type="title"/>
          </p:nvPr>
        </p:nvSpPr>
        <p:spPr/>
        <p:txBody>
          <a:bodyPr/>
          <a:lstStyle/>
          <a:p>
            <a:r>
              <a:rPr lang="en-US" dirty="0"/>
              <a:t>What makes a good user story?</a:t>
            </a:r>
            <a:endParaRPr lang="nl-BE" dirty="0"/>
          </a:p>
        </p:txBody>
      </p:sp>
      <p:sp>
        <p:nvSpPr>
          <p:cNvPr id="4" name="Slide Number Placeholder 3">
            <a:extLst>
              <a:ext uri="{FF2B5EF4-FFF2-40B4-BE49-F238E27FC236}">
                <a16:creationId xmlns:a16="http://schemas.microsoft.com/office/drawing/2014/main" id="{943B50A4-A72E-9C00-1048-7FD804F18691}"/>
              </a:ext>
            </a:extLst>
          </p:cNvPr>
          <p:cNvSpPr>
            <a:spLocks noGrp="1"/>
          </p:cNvSpPr>
          <p:nvPr>
            <p:ph type="sldNum" sz="quarter" idx="11"/>
          </p:nvPr>
        </p:nvSpPr>
        <p:spPr/>
        <p:txBody>
          <a:bodyPr/>
          <a:lstStyle/>
          <a:p>
            <a:fld id="{B6F15528-21DE-4FAA-801E-634DDDAF4B2B}" type="slidenum">
              <a:rPr lang="en-US" smtClean="0"/>
              <a:pPr/>
              <a:t>39</a:t>
            </a:fld>
            <a:endParaRPr lang="en-US" dirty="0"/>
          </a:p>
        </p:txBody>
      </p:sp>
    </p:spTree>
    <p:extLst>
      <p:ext uri="{BB962C8B-B14F-4D97-AF65-F5344CB8AC3E}">
        <p14:creationId xmlns:p14="http://schemas.microsoft.com/office/powerpoint/2010/main" val="42247625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77B5A3E0-CFA9-1CD0-1D92-B44600175677}"/>
              </a:ext>
            </a:extLst>
          </p:cNvPr>
          <p:cNvSpPr>
            <a:spLocks noGrp="1"/>
          </p:cNvSpPr>
          <p:nvPr>
            <p:ph type="subTitle" idx="1"/>
          </p:nvPr>
        </p:nvSpPr>
        <p:spPr/>
        <p:txBody>
          <a:bodyPr/>
          <a:lstStyle/>
          <a:p>
            <a:endParaRPr lang="nl-BE"/>
          </a:p>
        </p:txBody>
      </p:sp>
      <p:sp>
        <p:nvSpPr>
          <p:cNvPr id="3" name="Title 2">
            <a:extLst>
              <a:ext uri="{FF2B5EF4-FFF2-40B4-BE49-F238E27FC236}">
                <a16:creationId xmlns:a16="http://schemas.microsoft.com/office/drawing/2014/main" id="{D6633A58-D9D1-13DB-E626-D798EA21ABA4}"/>
              </a:ext>
            </a:extLst>
          </p:cNvPr>
          <p:cNvSpPr>
            <a:spLocks noGrp="1"/>
          </p:cNvSpPr>
          <p:nvPr>
            <p:ph type="title"/>
          </p:nvPr>
        </p:nvSpPr>
        <p:spPr/>
        <p:txBody>
          <a:bodyPr/>
          <a:lstStyle/>
          <a:p>
            <a:r>
              <a:rPr lang="nl-BE" dirty="0"/>
              <a:t>BACKUP – More details on </a:t>
            </a:r>
            <a:r>
              <a:rPr lang="nl-BE" dirty="0" err="1"/>
              <a:t>Requirements</a:t>
            </a:r>
            <a:r>
              <a:rPr lang="nl-BE" dirty="0"/>
              <a:t> </a:t>
            </a:r>
            <a:r>
              <a:rPr lang="nl-BE" dirty="0" err="1"/>
              <a:t>Doc</a:t>
            </a:r>
            <a:endParaRPr lang="nl-BE" dirty="0"/>
          </a:p>
        </p:txBody>
      </p:sp>
      <p:sp>
        <p:nvSpPr>
          <p:cNvPr id="4" name="Slide Number Placeholder 3">
            <a:extLst>
              <a:ext uri="{FF2B5EF4-FFF2-40B4-BE49-F238E27FC236}">
                <a16:creationId xmlns:a16="http://schemas.microsoft.com/office/drawing/2014/main" id="{ADD0D8BF-2453-CFDE-1E03-B302148B5541}"/>
              </a:ext>
            </a:extLst>
          </p:cNvPr>
          <p:cNvSpPr>
            <a:spLocks noGrp="1"/>
          </p:cNvSpPr>
          <p:nvPr>
            <p:ph type="sldNum" sz="quarter" idx="4294967295"/>
          </p:nvPr>
        </p:nvSpPr>
        <p:spPr>
          <a:xfrm>
            <a:off x="0" y="6083300"/>
            <a:ext cx="360363" cy="668338"/>
          </a:xfrm>
        </p:spPr>
        <p:txBody>
          <a:bodyPr/>
          <a:lstStyle/>
          <a:p>
            <a:fld id="{B6F15528-21DE-4FAA-801E-634DDDAF4B2B}" type="slidenum">
              <a:rPr lang="en-US" smtClean="0"/>
              <a:pPr/>
              <a:t>40</a:t>
            </a:fld>
            <a:endParaRPr lang="en-US" dirty="0"/>
          </a:p>
        </p:txBody>
      </p:sp>
    </p:spTree>
    <p:extLst>
      <p:ext uri="{BB962C8B-B14F-4D97-AF65-F5344CB8AC3E}">
        <p14:creationId xmlns:p14="http://schemas.microsoft.com/office/powerpoint/2010/main" val="35527749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GB" noProof="0" dirty="0"/>
              <a:t>It is best to split the specification into some structure</a:t>
            </a:r>
          </a:p>
          <a:p>
            <a:pPr lvl="1"/>
            <a:r>
              <a:rPr lang="en-GB" noProof="0" dirty="0"/>
              <a:t>List different parts separately</a:t>
            </a:r>
          </a:p>
          <a:p>
            <a:pPr lvl="1"/>
            <a:r>
              <a:rPr lang="en-GB" noProof="0" dirty="0"/>
              <a:t>Break down specifications by types of requirements</a:t>
            </a:r>
          </a:p>
          <a:p>
            <a:r>
              <a:rPr lang="en-GB" noProof="0" dirty="0"/>
              <a:t>A possible structure of the specification</a:t>
            </a:r>
          </a:p>
          <a:p>
            <a:pPr lvl="1"/>
            <a:r>
              <a:rPr lang="en-GB" noProof="0" dirty="0"/>
              <a:t>Functional requirements</a:t>
            </a:r>
          </a:p>
          <a:p>
            <a:pPr lvl="1"/>
            <a:r>
              <a:rPr lang="en-GB" dirty="0"/>
              <a:t>Data requirements</a:t>
            </a:r>
          </a:p>
          <a:p>
            <a:pPr lvl="1"/>
            <a:r>
              <a:rPr lang="en-GB" noProof="0" dirty="0"/>
              <a:t>Non-functional requirements</a:t>
            </a:r>
          </a:p>
          <a:p>
            <a:pPr lvl="2"/>
            <a:r>
              <a:rPr lang="en-GB" noProof="0" dirty="0"/>
              <a:t>Performance requirements</a:t>
            </a:r>
          </a:p>
          <a:p>
            <a:pPr lvl="2"/>
            <a:r>
              <a:rPr lang="en-GB" noProof="0" dirty="0"/>
              <a:t>Restrictions</a:t>
            </a:r>
          </a:p>
          <a:p>
            <a:pPr lvl="2"/>
            <a:r>
              <a:rPr lang="en-GB" noProof="0" dirty="0"/>
              <a:t>Guidelines</a:t>
            </a:r>
          </a:p>
        </p:txBody>
      </p:sp>
      <p:sp>
        <p:nvSpPr>
          <p:cNvPr id="3" name="Title 2"/>
          <p:cNvSpPr>
            <a:spLocks noGrp="1"/>
          </p:cNvSpPr>
          <p:nvPr>
            <p:ph type="title"/>
          </p:nvPr>
        </p:nvSpPr>
        <p:spPr/>
        <p:txBody>
          <a:bodyPr/>
          <a:lstStyle/>
          <a:p>
            <a:r>
              <a:rPr lang="en-GB" noProof="0" dirty="0"/>
              <a:t>Structure of the specification</a:t>
            </a:r>
          </a:p>
        </p:txBody>
      </p:sp>
      <p:sp>
        <p:nvSpPr>
          <p:cNvPr id="5" name="Tijdelijke aanduiding voor dianummer 4"/>
          <p:cNvSpPr>
            <a:spLocks noGrp="1"/>
          </p:cNvSpPr>
          <p:nvPr>
            <p:ph type="sldNum" sz="quarter" idx="11"/>
          </p:nvPr>
        </p:nvSpPr>
        <p:spPr/>
        <p:txBody>
          <a:bodyPr/>
          <a:lstStyle/>
          <a:p>
            <a:fld id="{B6F15528-21DE-4FAA-801E-634DDDAF4B2B}" type="slidenum">
              <a:rPr lang="en-GB" noProof="0" smtClean="0"/>
              <a:t>41</a:t>
            </a:fld>
            <a:endParaRPr lang="en-GB" noProof="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GB" noProof="0" dirty="0"/>
              <a:t>The essence of the specification</a:t>
            </a:r>
          </a:p>
          <a:p>
            <a:r>
              <a:rPr lang="en-GB" noProof="0" dirty="0"/>
              <a:t>Description of what the system should be able to do</a:t>
            </a:r>
          </a:p>
          <a:p>
            <a:r>
              <a:rPr lang="en-GB" noProof="0" dirty="0"/>
              <a:t>Characterized by verbs that capture actions</a:t>
            </a:r>
          </a:p>
        </p:txBody>
      </p:sp>
      <p:sp>
        <p:nvSpPr>
          <p:cNvPr id="3" name="Title 2"/>
          <p:cNvSpPr>
            <a:spLocks noGrp="1"/>
          </p:cNvSpPr>
          <p:nvPr>
            <p:ph type="title"/>
          </p:nvPr>
        </p:nvSpPr>
        <p:spPr/>
        <p:txBody>
          <a:bodyPr/>
          <a:lstStyle/>
          <a:p>
            <a:r>
              <a:rPr lang="en-GB" noProof="0" dirty="0"/>
              <a:t>Functional requirements</a:t>
            </a:r>
          </a:p>
        </p:txBody>
      </p:sp>
      <p:sp>
        <p:nvSpPr>
          <p:cNvPr id="5" name="Tijdelijke aanduiding voor dianummer 4"/>
          <p:cNvSpPr>
            <a:spLocks noGrp="1"/>
          </p:cNvSpPr>
          <p:nvPr>
            <p:ph type="sldNum" sz="quarter" idx="11"/>
          </p:nvPr>
        </p:nvSpPr>
        <p:spPr/>
        <p:txBody>
          <a:bodyPr/>
          <a:lstStyle/>
          <a:p>
            <a:fld id="{B6F15528-21DE-4FAA-801E-634DDDAF4B2B}" type="slidenum">
              <a:rPr lang="en-GB" noProof="0" smtClean="0"/>
              <a:t>42</a:t>
            </a:fld>
            <a:endParaRPr lang="en-GB" noProof="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GB" noProof="0" dirty="0"/>
              <a:t>What can the user enter</a:t>
            </a:r>
          </a:p>
          <a:p>
            <a:r>
              <a:rPr lang="en-GB" noProof="0" dirty="0"/>
              <a:t>How can the user enter something</a:t>
            </a:r>
          </a:p>
          <a:p>
            <a:r>
              <a:rPr lang="en-GB" noProof="0" dirty="0"/>
              <a:t>What is shown to the user</a:t>
            </a:r>
          </a:p>
          <a:p>
            <a:r>
              <a:rPr lang="en-GB" noProof="0" dirty="0"/>
              <a:t>How can the user obtain output</a:t>
            </a:r>
          </a:p>
          <a:p>
            <a:r>
              <a:rPr lang="en-GB" noProof="0" dirty="0"/>
              <a:t>What data should be kept</a:t>
            </a:r>
          </a:p>
          <a:p>
            <a:r>
              <a:rPr lang="en-GB" noProof="0" dirty="0"/>
              <a:t>How should this data be stored</a:t>
            </a:r>
          </a:p>
          <a:p>
            <a:r>
              <a:rPr lang="en-GB" noProof="0" dirty="0"/>
              <a:t>What information is exchanged with other systems, e.g., a server</a:t>
            </a:r>
          </a:p>
        </p:txBody>
      </p:sp>
      <p:sp>
        <p:nvSpPr>
          <p:cNvPr id="3" name="Title 2"/>
          <p:cNvSpPr>
            <a:spLocks noGrp="1"/>
          </p:cNvSpPr>
          <p:nvPr>
            <p:ph type="title"/>
          </p:nvPr>
        </p:nvSpPr>
        <p:spPr/>
        <p:txBody>
          <a:bodyPr/>
          <a:lstStyle/>
          <a:p>
            <a:r>
              <a:rPr lang="en-GB" noProof="0" dirty="0"/>
              <a:t>Data requirements</a:t>
            </a:r>
          </a:p>
        </p:txBody>
      </p:sp>
      <p:sp>
        <p:nvSpPr>
          <p:cNvPr id="5" name="Tijdelijke aanduiding voor dianummer 4"/>
          <p:cNvSpPr>
            <a:spLocks noGrp="1"/>
          </p:cNvSpPr>
          <p:nvPr>
            <p:ph type="sldNum" sz="quarter" idx="11"/>
          </p:nvPr>
        </p:nvSpPr>
        <p:spPr/>
        <p:txBody>
          <a:bodyPr/>
          <a:lstStyle/>
          <a:p>
            <a:fld id="{B6F15528-21DE-4FAA-801E-634DDDAF4B2B}" type="slidenum">
              <a:rPr lang="en-GB" noProof="0" smtClean="0"/>
              <a:t>43</a:t>
            </a:fld>
            <a:endParaRPr lang="en-GB" noProof="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GB" noProof="0" dirty="0"/>
              <a:t>Cost and completion date</a:t>
            </a:r>
          </a:p>
          <a:p>
            <a:r>
              <a:rPr lang="en-GB" noProof="0" dirty="0"/>
              <a:t>Response time of the system</a:t>
            </a:r>
          </a:p>
          <a:p>
            <a:r>
              <a:rPr lang="en-GB" noProof="0" dirty="0"/>
              <a:t>Data volumes</a:t>
            </a:r>
          </a:p>
          <a:p>
            <a:r>
              <a:rPr lang="en-GB" noProof="0" dirty="0"/>
              <a:t>System load</a:t>
            </a:r>
          </a:p>
          <a:p>
            <a:r>
              <a:rPr lang="en-GB" noProof="0" dirty="0"/>
              <a:t>Reliability</a:t>
            </a:r>
          </a:p>
          <a:p>
            <a:r>
              <a:rPr lang="en-GB" noProof="0" dirty="0"/>
              <a:t>Safety</a:t>
            </a:r>
          </a:p>
        </p:txBody>
      </p:sp>
      <p:sp>
        <p:nvSpPr>
          <p:cNvPr id="3" name="Title 2"/>
          <p:cNvSpPr>
            <a:spLocks noGrp="1"/>
          </p:cNvSpPr>
          <p:nvPr>
            <p:ph type="title"/>
          </p:nvPr>
        </p:nvSpPr>
        <p:spPr/>
        <p:txBody>
          <a:bodyPr/>
          <a:lstStyle/>
          <a:p>
            <a:r>
              <a:rPr lang="en-GB" noProof="0" dirty="0"/>
              <a:t>Non-functional Requirements:</a:t>
            </a:r>
            <a:br>
              <a:rPr lang="en-GB" noProof="0" dirty="0"/>
            </a:br>
            <a:r>
              <a:rPr lang="en-GB" noProof="0" dirty="0"/>
              <a:t>Performance requirements</a:t>
            </a:r>
          </a:p>
        </p:txBody>
      </p:sp>
      <p:sp>
        <p:nvSpPr>
          <p:cNvPr id="5" name="Tijdelijke aanduiding voor dianummer 4"/>
          <p:cNvSpPr>
            <a:spLocks noGrp="1"/>
          </p:cNvSpPr>
          <p:nvPr>
            <p:ph type="sldNum" sz="quarter" idx="11"/>
          </p:nvPr>
        </p:nvSpPr>
        <p:spPr/>
        <p:txBody>
          <a:bodyPr/>
          <a:lstStyle/>
          <a:p>
            <a:fld id="{B6F15528-21DE-4FAA-801E-634DDDAF4B2B}" type="slidenum">
              <a:rPr lang="en-GB" noProof="0" smtClean="0"/>
              <a:t>44</a:t>
            </a:fld>
            <a:endParaRPr lang="en-GB" noProof="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GB" noProof="0" dirty="0"/>
              <a:t>Usually affect the implementation of the system</a:t>
            </a:r>
          </a:p>
          <a:p>
            <a:pPr lvl="1"/>
            <a:r>
              <a:rPr lang="en-GB" noProof="0" dirty="0"/>
              <a:t>Be careful about inserting these restrictions</a:t>
            </a:r>
          </a:p>
          <a:p>
            <a:pPr lvl="1"/>
            <a:r>
              <a:rPr lang="en-GB" noProof="0" dirty="0"/>
              <a:t>Can have drastic consequences for an implementation</a:t>
            </a:r>
          </a:p>
          <a:p>
            <a:r>
              <a:rPr lang="en-GB" noProof="0" dirty="0"/>
              <a:t>What hardware is available</a:t>
            </a:r>
          </a:p>
          <a:p>
            <a:pPr lvl="1"/>
            <a:r>
              <a:rPr lang="en-GB" noProof="0" dirty="0"/>
              <a:t>Available memory</a:t>
            </a:r>
          </a:p>
          <a:p>
            <a:pPr lvl="1"/>
            <a:r>
              <a:rPr lang="en-GB" noProof="0" dirty="0"/>
              <a:t>Speed of processor</a:t>
            </a:r>
          </a:p>
          <a:p>
            <a:pPr lvl="1"/>
            <a:r>
              <a:rPr lang="en-GB" noProof="0" dirty="0"/>
              <a:t>Storage available</a:t>
            </a:r>
          </a:p>
          <a:p>
            <a:r>
              <a:rPr lang="en-GB" noProof="0" dirty="0"/>
              <a:t>Collaboration between software and systems</a:t>
            </a:r>
          </a:p>
          <a:p>
            <a:pPr lvl="1"/>
            <a:r>
              <a:rPr lang="en-GB" noProof="0" dirty="0"/>
              <a:t>What operating systems should be considered</a:t>
            </a:r>
          </a:p>
          <a:p>
            <a:pPr lvl="1"/>
            <a:r>
              <a:rPr lang="en-GB" noProof="0" dirty="0"/>
              <a:t>What systems must be able to communicate with</a:t>
            </a:r>
          </a:p>
        </p:txBody>
      </p:sp>
      <p:sp>
        <p:nvSpPr>
          <p:cNvPr id="3" name="Title 2"/>
          <p:cNvSpPr>
            <a:spLocks noGrp="1"/>
          </p:cNvSpPr>
          <p:nvPr>
            <p:ph type="title"/>
          </p:nvPr>
        </p:nvSpPr>
        <p:spPr/>
        <p:txBody>
          <a:bodyPr/>
          <a:lstStyle/>
          <a:p>
            <a:r>
              <a:rPr lang="en-GB" dirty="0"/>
              <a:t>Non-functional Requirements:</a:t>
            </a:r>
            <a:br>
              <a:rPr lang="en-GB" dirty="0"/>
            </a:br>
            <a:r>
              <a:rPr lang="en-GB" noProof="0" dirty="0"/>
              <a:t>Restrictions</a:t>
            </a:r>
          </a:p>
        </p:txBody>
      </p:sp>
      <p:sp>
        <p:nvSpPr>
          <p:cNvPr id="5" name="Tijdelijke aanduiding voor dianummer 4"/>
          <p:cNvSpPr>
            <a:spLocks noGrp="1"/>
          </p:cNvSpPr>
          <p:nvPr>
            <p:ph type="sldNum" sz="quarter" idx="11"/>
          </p:nvPr>
        </p:nvSpPr>
        <p:spPr/>
        <p:txBody>
          <a:bodyPr/>
          <a:lstStyle/>
          <a:p>
            <a:fld id="{B6F15528-21DE-4FAA-801E-634DDDAF4B2B}" type="slidenum">
              <a:rPr lang="en-GB" noProof="0" smtClean="0"/>
              <a:t>45</a:t>
            </a:fld>
            <a:endParaRPr lang="en-GB" noProof="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GB" noProof="0" dirty="0"/>
              <a:t>When multiple solutions to a problem are present, a particular solution can be chosen via guidelines, e.g.</a:t>
            </a:r>
          </a:p>
          <a:p>
            <a:pPr lvl="1"/>
            <a:r>
              <a:rPr lang="en-GB" noProof="0" dirty="0"/>
              <a:t>As little memory as possible should be used</a:t>
            </a:r>
          </a:p>
          <a:p>
            <a:pPr lvl="1"/>
            <a:r>
              <a:rPr lang="en-GB" noProof="0" dirty="0"/>
              <a:t>Communication with the server should be limited as much as possible</a:t>
            </a:r>
          </a:p>
        </p:txBody>
      </p:sp>
      <p:sp>
        <p:nvSpPr>
          <p:cNvPr id="3" name="Title 2"/>
          <p:cNvSpPr>
            <a:spLocks noGrp="1"/>
          </p:cNvSpPr>
          <p:nvPr>
            <p:ph type="title"/>
          </p:nvPr>
        </p:nvSpPr>
        <p:spPr/>
        <p:txBody>
          <a:bodyPr/>
          <a:lstStyle/>
          <a:p>
            <a:r>
              <a:rPr lang="en-GB" dirty="0"/>
              <a:t>Non-functional Requirements:</a:t>
            </a:r>
            <a:br>
              <a:rPr lang="en-GB" dirty="0"/>
            </a:br>
            <a:r>
              <a:rPr lang="en-GB" noProof="0" dirty="0"/>
              <a:t>Guidelines</a:t>
            </a:r>
          </a:p>
        </p:txBody>
      </p:sp>
      <p:sp>
        <p:nvSpPr>
          <p:cNvPr id="5" name="Tijdelijke aanduiding voor dianummer 4"/>
          <p:cNvSpPr>
            <a:spLocks noGrp="1"/>
          </p:cNvSpPr>
          <p:nvPr>
            <p:ph type="sldNum" sz="quarter" idx="11"/>
          </p:nvPr>
        </p:nvSpPr>
        <p:spPr/>
        <p:txBody>
          <a:bodyPr/>
          <a:lstStyle/>
          <a:p>
            <a:fld id="{B6F15528-21DE-4FAA-801E-634DDDAF4B2B}" type="slidenum">
              <a:rPr lang="en-GB" noProof="0" smtClean="0"/>
              <a:t>46</a:t>
            </a:fld>
            <a:endParaRPr lang="en-GB" noProof="0" dirty="0"/>
          </a:p>
        </p:txBody>
      </p:sp>
    </p:spTree>
  </p:cSld>
  <p:clrMapOvr>
    <a:masterClrMapping/>
  </p:clrMapOvr>
</p:sld>
</file>

<file path=ppt/theme/theme1.xml><?xml version="1.0" encoding="utf-8"?>
<a:theme xmlns:a="http://schemas.openxmlformats.org/drawingml/2006/main" name="TM_presentatie_eng">
  <a:themeElements>
    <a:clrScheme name="Lessius">
      <a:dk1>
        <a:srgbClr val="003C72"/>
      </a:dk1>
      <a:lt1>
        <a:srgbClr val="FFFFFF"/>
      </a:lt1>
      <a:dk2>
        <a:srgbClr val="003C72"/>
      </a:dk2>
      <a:lt2>
        <a:srgbClr val="FFFFFF"/>
      </a:lt2>
      <a:accent1>
        <a:srgbClr val="00A9E5"/>
      </a:accent1>
      <a:accent2>
        <a:srgbClr val="67CBEF"/>
      </a:accent2>
      <a:accent3>
        <a:srgbClr val="CCEEFA"/>
      </a:accent3>
      <a:accent4>
        <a:srgbClr val="406D96"/>
      </a:accent4>
      <a:accent5>
        <a:srgbClr val="7F9DB9"/>
      </a:accent5>
      <a:accent6>
        <a:srgbClr val="BECEDD"/>
      </a:accent6>
      <a:hlink>
        <a:srgbClr val="118EFF"/>
      </a:hlink>
      <a:folHlink>
        <a:srgbClr val="7030A0"/>
      </a:folHlink>
    </a:clrScheme>
    <a:fontScheme name="Lessius">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TM_presentatie_adjusted</Template>
  <TotalTime>14757</TotalTime>
  <Words>3173</Words>
  <Application>Microsoft Office PowerPoint</Application>
  <PresentationFormat>On-screen Show (4:3)</PresentationFormat>
  <Paragraphs>451</Paragraphs>
  <Slides>46</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Arial</vt:lpstr>
      <vt:lpstr>Calibri</vt:lpstr>
      <vt:lpstr>Trebuchet MS</vt:lpstr>
      <vt:lpstr>Verdana</vt:lpstr>
      <vt:lpstr>TM_presentatie_eng</vt:lpstr>
      <vt:lpstr>Software Engineering</vt:lpstr>
      <vt:lpstr>SDLC</vt:lpstr>
      <vt:lpstr>What are requirements</vt:lpstr>
      <vt:lpstr>Establishing requirements</vt:lpstr>
      <vt:lpstr>What to describe</vt:lpstr>
      <vt:lpstr>Establishing requirements: Requirements Engineering</vt:lpstr>
      <vt:lpstr>Sample requirement</vt:lpstr>
      <vt:lpstr>Specification vs implementation</vt:lpstr>
      <vt:lpstr>Specification vs implementation</vt:lpstr>
      <vt:lpstr>Good Specification SHOULD BE</vt:lpstr>
      <vt:lpstr>Good Specification SHOULD BE</vt:lpstr>
      <vt:lpstr>(Incorrect) Example: Phone book APP</vt:lpstr>
      <vt:lpstr>Problems (I)</vt:lpstr>
      <vt:lpstr>A Better Version (Iteration 2)</vt:lpstr>
      <vt:lpstr>Problems (II): Incomplete Functionality Description</vt:lpstr>
      <vt:lpstr>A Better Version (Iteration 3)</vt:lpstr>
      <vt:lpstr>Problems (III) : little validation criteria</vt:lpstr>
      <vt:lpstr>A Better Version (Iteration 4)</vt:lpstr>
      <vt:lpstr>Problems (IV)</vt:lpstr>
      <vt:lpstr>A final version for our APP</vt:lpstr>
      <vt:lpstr>rECAP</vt:lpstr>
      <vt:lpstr>The actual requirement specification</vt:lpstr>
      <vt:lpstr>Steps to good specification</vt:lpstr>
      <vt:lpstr>Form of specification</vt:lpstr>
      <vt:lpstr>Issues with Requirements doc</vt:lpstr>
      <vt:lpstr>Possible problems (I)</vt:lpstr>
      <vt:lpstr>Possible problems (II)</vt:lpstr>
      <vt:lpstr>Possible problems (III)</vt:lpstr>
      <vt:lpstr>Form of specification</vt:lpstr>
      <vt:lpstr>Functional Requirements </vt:lpstr>
      <vt:lpstr>User Stories/USE CASES</vt:lpstr>
      <vt:lpstr>UseR STORIES</vt:lpstr>
      <vt:lpstr>Use Cases/USER STORIES</vt:lpstr>
      <vt:lpstr>Example</vt:lpstr>
      <vt:lpstr>Example</vt:lpstr>
      <vt:lpstr>Example (Look at the notes)</vt:lpstr>
      <vt:lpstr>Recap</vt:lpstr>
      <vt:lpstr>Use case Diagram</vt:lpstr>
      <vt:lpstr>What makes a good user story?</vt:lpstr>
      <vt:lpstr>BACKUP – More details on Requirements Doc</vt:lpstr>
      <vt:lpstr>Structure of the specification</vt:lpstr>
      <vt:lpstr>Functional requirements</vt:lpstr>
      <vt:lpstr>Data requirements</vt:lpstr>
      <vt:lpstr>Non-functional Requirements: Performance requirements</vt:lpstr>
      <vt:lpstr>Non-functional Requirements: Restrictions</vt:lpstr>
      <vt:lpstr>Non-functional Requirements: Guidelines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Lars</dc:creator>
  <cp:keywords>, docId:673AEA039B1F7090088B807B8BF33443</cp:keywords>
  <cp:lastModifiedBy>Rodrigue Stultiens</cp:lastModifiedBy>
  <cp:revision>172</cp:revision>
  <dcterms:created xsi:type="dcterms:W3CDTF">2006-08-16T00:00:00Z</dcterms:created>
  <dcterms:modified xsi:type="dcterms:W3CDTF">2026-02-18T21:03:45Z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337be75-dfbb-4261-9834-ac247c7dde13_Enabled">
    <vt:lpwstr>true</vt:lpwstr>
  </property>
  <property fmtid="{D5CDD505-2E9C-101B-9397-08002B2CF9AE}" pid="3" name="MSIP_Label_c337be75-dfbb-4261-9834-ac247c7dde13_SetDate">
    <vt:lpwstr>2024-01-15T08:04:29Z</vt:lpwstr>
  </property>
  <property fmtid="{D5CDD505-2E9C-101B-9397-08002B2CF9AE}" pid="4" name="MSIP_Label_c337be75-dfbb-4261-9834-ac247c7dde13_Method">
    <vt:lpwstr>Standard</vt:lpwstr>
  </property>
  <property fmtid="{D5CDD505-2E9C-101B-9397-08002B2CF9AE}" pid="5" name="MSIP_Label_c337be75-dfbb-4261-9834-ac247c7dde13_Name">
    <vt:lpwstr>Algemeen</vt:lpwstr>
  </property>
  <property fmtid="{D5CDD505-2E9C-101B-9397-08002B2CF9AE}" pid="6" name="MSIP_Label_c337be75-dfbb-4261-9834-ac247c7dde13_SiteId">
    <vt:lpwstr>77d33cc5-c9b4-4766-95c7-ed5b515e1cce</vt:lpwstr>
  </property>
  <property fmtid="{D5CDD505-2E9C-101B-9397-08002B2CF9AE}" pid="7" name="MSIP_Label_c337be75-dfbb-4261-9834-ac247c7dde13_ActionId">
    <vt:lpwstr>04e22676-e75c-47d0-849f-3ef43608f767</vt:lpwstr>
  </property>
  <property fmtid="{D5CDD505-2E9C-101B-9397-08002B2CF9AE}" pid="8" name="MSIP_Label_c337be75-dfbb-4261-9834-ac247c7dde13_ContentBits">
    <vt:lpwstr>0</vt:lpwstr>
  </property>
</Properties>
</file>