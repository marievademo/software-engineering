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8"/>
  </p:notesMasterIdLst>
  <p:sldIdLst>
    <p:sldId id="256" r:id="rId2"/>
    <p:sldId id="257" r:id="rId3"/>
    <p:sldId id="271" r:id="rId4"/>
    <p:sldId id="275" r:id="rId5"/>
    <p:sldId id="259" r:id="rId6"/>
    <p:sldId id="276" r:id="rId7"/>
    <p:sldId id="277" r:id="rId8"/>
    <p:sldId id="278" r:id="rId9"/>
    <p:sldId id="279" r:id="rId10"/>
    <p:sldId id="260" r:id="rId11"/>
    <p:sldId id="258" r:id="rId12"/>
    <p:sldId id="261" r:id="rId13"/>
    <p:sldId id="262" r:id="rId14"/>
    <p:sldId id="263" r:id="rId15"/>
    <p:sldId id="264" r:id="rId16"/>
    <p:sldId id="272" r:id="rId17"/>
    <p:sldId id="265" r:id="rId18"/>
    <p:sldId id="286" r:id="rId19"/>
    <p:sldId id="285" r:id="rId20"/>
    <p:sldId id="284" r:id="rId21"/>
    <p:sldId id="283" r:id="rId22"/>
    <p:sldId id="281" r:id="rId23"/>
    <p:sldId id="280" r:id="rId24"/>
    <p:sldId id="291" r:id="rId25"/>
    <p:sldId id="287" r:id="rId26"/>
    <p:sldId id="288" r:id="rId27"/>
    <p:sldId id="289" r:id="rId28"/>
    <p:sldId id="266" r:id="rId29"/>
    <p:sldId id="268" r:id="rId30"/>
    <p:sldId id="267" r:id="rId31"/>
    <p:sldId id="292" r:id="rId32"/>
    <p:sldId id="269" r:id="rId33"/>
    <p:sldId id="290" r:id="rId34"/>
    <p:sldId id="270" r:id="rId35"/>
    <p:sldId id="273" r:id="rId36"/>
    <p:sldId id="274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603EF-BD7C-466D-BB82-5CDA2C951A78}" v="13" dt="2026-02-03T15:20:09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79322" autoAdjust="0"/>
  </p:normalViewPr>
  <p:slideViewPr>
    <p:cSldViewPr>
      <p:cViewPr varScale="1">
        <p:scale>
          <a:sx n="72" d="100"/>
          <a:sy n="72" d="100"/>
        </p:scale>
        <p:origin x="1133" y="67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Stultiens" userId="32c8340f-74bb-437d-97de-711241a4a663" providerId="ADAL" clId="{66E34C45-0C8F-4FA0-A442-311BF0DA6F31}"/>
    <pc:docChg chg="undo custSel addSld delSld modSld">
      <pc:chgData name="Rodrigue Stultiens" userId="32c8340f-74bb-437d-97de-711241a4a663" providerId="ADAL" clId="{66E34C45-0C8F-4FA0-A442-311BF0DA6F31}" dt="2026-02-03T15:23:41.316" v="1074" actId="790"/>
      <pc:docMkLst>
        <pc:docMk/>
      </pc:docMkLst>
      <pc:sldChg chg="modSp mod addAnim delAnim modAnim modNotesTx">
        <pc:chgData name="Rodrigue Stultiens" userId="32c8340f-74bb-437d-97de-711241a4a663" providerId="ADAL" clId="{66E34C45-0C8F-4FA0-A442-311BF0DA6F31}" dt="2026-02-03T15:20:09.389" v="1056" actId="27636"/>
        <pc:sldMkLst>
          <pc:docMk/>
          <pc:sldMk cId="0" sldId="258"/>
        </pc:sldMkLst>
        <pc:spChg chg="mod">
          <ac:chgData name="Rodrigue Stultiens" userId="32c8340f-74bb-437d-97de-711241a4a663" providerId="ADAL" clId="{66E34C45-0C8F-4FA0-A442-311BF0DA6F31}" dt="2026-02-03T15:20:09.389" v="1056" actId="27636"/>
          <ac:spMkLst>
            <pc:docMk/>
            <pc:sldMk cId="0" sldId="258"/>
            <ac:spMk id="2" creationId="{00000000-0000-0000-0000-000000000000}"/>
          </ac:spMkLst>
        </pc:spChg>
      </pc:sldChg>
      <pc:sldChg chg="modSp mod addAnim delAnim modAnim">
        <pc:chgData name="Rodrigue Stultiens" userId="32c8340f-74bb-437d-97de-711241a4a663" providerId="ADAL" clId="{66E34C45-0C8F-4FA0-A442-311BF0DA6F31}" dt="2026-02-03T15:18:07.844" v="986"/>
        <pc:sldMkLst>
          <pc:docMk/>
          <pc:sldMk cId="0" sldId="260"/>
        </pc:sldMkLst>
      </pc:sldChg>
      <pc:sldChg chg="modSp mod">
        <pc:chgData name="Rodrigue Stultiens" userId="32c8340f-74bb-437d-97de-711241a4a663" providerId="ADAL" clId="{66E34C45-0C8F-4FA0-A442-311BF0DA6F31}" dt="2026-02-03T15:23:02.748" v="1073" actId="20577"/>
        <pc:sldMkLst>
          <pc:docMk/>
          <pc:sldMk cId="0" sldId="268"/>
        </pc:sldMkLst>
        <pc:spChg chg="mod">
          <ac:chgData name="Rodrigue Stultiens" userId="32c8340f-74bb-437d-97de-711241a4a663" providerId="ADAL" clId="{66E34C45-0C8F-4FA0-A442-311BF0DA6F31}" dt="2026-02-03T15:23:02.748" v="1073" actId="20577"/>
          <ac:spMkLst>
            <pc:docMk/>
            <pc:sldMk cId="0" sldId="268"/>
            <ac:spMk id="2" creationId="{00000000-0000-0000-0000-000000000000}"/>
          </ac:spMkLst>
        </pc:spChg>
      </pc:sldChg>
      <pc:sldChg chg="modSp mod">
        <pc:chgData name="Rodrigue Stultiens" userId="32c8340f-74bb-437d-97de-711241a4a663" providerId="ADAL" clId="{66E34C45-0C8F-4FA0-A442-311BF0DA6F31}" dt="2026-02-03T15:23:41.316" v="1074" actId="790"/>
        <pc:sldMkLst>
          <pc:docMk/>
          <pc:sldMk cId="590396827" sldId="292"/>
        </pc:sldMkLst>
        <pc:spChg chg="mod">
          <ac:chgData name="Rodrigue Stultiens" userId="32c8340f-74bb-437d-97de-711241a4a663" providerId="ADAL" clId="{66E34C45-0C8F-4FA0-A442-311BF0DA6F31}" dt="2026-02-03T15:23:41.316" v="1074" actId="790"/>
          <ac:spMkLst>
            <pc:docMk/>
            <pc:sldMk cId="590396827" sldId="292"/>
            <ac:spMk id="6" creationId="{6E7FBFDD-A98F-88AD-C0C3-2B7E1F0F46B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C5ACA-C250-4B67-A601-7D212EE9B668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Click to edit the model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en-US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43C1D-80BD-42F5-BFA8-955323FECF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139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43C1D-80BD-42F5-BFA8-955323FECFE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663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 : del c:\file.txt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43C1D-80BD-42F5-BFA8-955323FECFE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740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Menu interface: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delete the file, key 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display the file, key 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open a file, key 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save the file, key S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43C1D-80BD-42F5-BFA8-955323FECFE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4965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GUI: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relatively easy to learn and use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multiple windows for system interaction (CMD/CTRL-C in 1 window and CMD/CTRL-V in another window)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fast, full-screen interaction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 types of information can be displayed simultaneously, enabling the user to </a:t>
            </a:r>
            <a:r>
              <a:rPr lang="nl-B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 context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use of graphical icons, pull-down menus, buttons and scrolling techniques reduce the amount of typing.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43C1D-80BD-42F5-BFA8-955323FECFE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281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43C1D-80BD-42F5-BFA8-955323FECFE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019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Principle: Make sure buttons </a:t>
            </a:r>
            <a:r>
              <a:rPr lang="en-US" baseline="0" dirty="0"/>
              <a:t>always look the same and are in the same order.</a:t>
            </a:r>
          </a:p>
          <a:p>
            <a:r>
              <a:rPr lang="en-US" baseline="0" dirty="0"/>
              <a:t>CRAP: Contrast, Repetition, Alignment, Proximity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43C1D-80BD-42F5-BFA8-955323FECFE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378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Learnability: How easy is it to learn the interface</a:t>
            </a:r>
          </a:p>
          <a:p>
            <a:r>
              <a:rPr lang="en-US" dirty="0"/>
              <a:t>Flexibility: Are there different interaction options? (menus </a:t>
            </a:r>
            <a:r>
              <a:rPr lang="en-US" baseline="0" dirty="0"/>
              <a:t>and </a:t>
            </a:r>
            <a:r>
              <a:rPr lang="en-US" dirty="0"/>
              <a:t>buttons </a:t>
            </a:r>
            <a:r>
              <a:rPr lang="en-US" baseline="0" dirty="0"/>
              <a:t>or shortcuts</a:t>
            </a:r>
            <a:r>
              <a:rPr lang="en-US" dirty="0"/>
              <a:t>)</a:t>
            </a:r>
          </a:p>
          <a:p>
            <a:r>
              <a:rPr lang="en-US" dirty="0"/>
              <a:t>Robustness: Is there sufficient feedback to the user?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43C1D-80BD-42F5-BFA8-955323FECFE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769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Migratable tasks: email client that automatically replies on vacations</a:t>
            </a:r>
          </a:p>
          <a:p>
            <a:r>
              <a:rPr lang="en-US" dirty="0"/>
              <a:t>Alternative solutions: font selectable via menu or direct typing</a:t>
            </a:r>
          </a:p>
          <a:p>
            <a:r>
              <a:rPr lang="en-US" dirty="0"/>
              <a:t>Customizable: </a:t>
            </a:r>
            <a:r>
              <a:rPr lang="en-US" baseline="0" dirty="0"/>
              <a:t>hide menu bars, create macros, ...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43C1D-80BD-42F5-BFA8-955323FECFE3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83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Observable:  </a:t>
            </a:r>
            <a:r>
              <a:rPr lang="en-US" baseline="0" dirty="0"/>
              <a:t>Showing information that is useful to the user to let him know what is going on</a:t>
            </a:r>
          </a:p>
          <a:p>
            <a:r>
              <a:rPr lang="en-US" baseline="0" dirty="0"/>
              <a:t>Restorable: Can the user undo things? E.g. via Undo button, ask when deleting file</a:t>
            </a:r>
          </a:p>
          <a:p>
            <a:r>
              <a:rPr lang="en-US" dirty="0"/>
              <a:t>Responsiveness: Speed at which the system responds: two </a:t>
            </a:r>
            <a:r>
              <a:rPr lang="en-US" baseline="0" dirty="0"/>
              <a:t>characteristics, length and deviation from mean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43C1D-80BD-42F5-BFA8-955323FECFE3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497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mistakes: Place buttons etc. far enough apart so that the wrong button cannot </a:t>
            </a:r>
            <a:r>
              <a:rPr lang="en-US" baseline="0" dirty="0"/>
              <a:t>be </a:t>
            </a:r>
            <a:r>
              <a:rPr lang="en-US" dirty="0"/>
              <a:t>pressed accidentally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43C1D-80BD-42F5-BFA8-955323FECFE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632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Learnability: time to </a:t>
            </a:r>
            <a:r>
              <a:rPr lang="en-US" baseline="0" dirty="0"/>
              <a:t>reach a certain level (user should be able to perform 80% of tasks after a 3h training)</a:t>
            </a:r>
          </a:p>
          <a:p>
            <a:r>
              <a:rPr lang="en-US" baseline="0" dirty="0"/>
              <a:t>Throughput: How quickly a user can complete tasks</a:t>
            </a:r>
          </a:p>
          <a:p>
            <a:r>
              <a:rPr lang="en-US" baseline="0" dirty="0"/>
              <a:t>Adaptability: How does the interface handle tasks that were not anticipated in advance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D43C1D-80BD-42F5-BFA8-955323FECFE3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74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| Basic">
    <p:bg bwMode="gray">
      <p:bgPr>
        <a:solidFill>
          <a:srgbClr val="00A0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58000"/>
            <a:ext cx="9144000" cy="90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357192"/>
            <a:ext cx="9144000" cy="1800000"/>
          </a:xfrm>
          <a:noFill/>
        </p:spPr>
        <p:txBody>
          <a:bodyPr wrap="square" lIns="720000" tIns="180000" rIns="720000" bIns="540000">
            <a:noAutofit/>
          </a:bodyPr>
          <a:lstStyle>
            <a:lvl1pPr marL="0" indent="0" algn="ctr">
              <a:buNone/>
              <a:defRPr sz="3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nl-BE" dirty="0"/>
          </a:p>
        </p:txBody>
      </p:sp>
      <p:sp>
        <p:nvSpPr>
          <p:cNvPr id="154" name="Title 153"/>
          <p:cNvSpPr>
            <a:spLocks noGrp="1"/>
          </p:cNvSpPr>
          <p:nvPr>
            <p:ph type="title"/>
          </p:nvPr>
        </p:nvSpPr>
        <p:spPr>
          <a:xfrm>
            <a:off x="0" y="1556992"/>
            <a:ext cx="9144000" cy="1800000"/>
          </a:xfrm>
          <a:noFill/>
        </p:spPr>
        <p:txBody>
          <a:bodyPr lIns="720000" tIns="540000" rIns="720000" bIns="180000" anchor="b" anchorCtr="0">
            <a:noAutofit/>
          </a:bodyPr>
          <a:lstStyle>
            <a:lvl1pPr algn="ctr">
              <a:lnSpc>
                <a:spcPct val="90000"/>
              </a:lnSpc>
              <a:defRPr sz="3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pic>
        <p:nvPicPr>
          <p:cNvPr id="10" name="Picture 9" descr="TM_logo_vignet_pp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0000" y="360000"/>
            <a:ext cx="2157984" cy="1155192"/>
          </a:xfrm>
          <a:prstGeom prst="rect">
            <a:avLst/>
          </a:prstGeom>
        </p:spPr>
      </p:pic>
      <p:sp>
        <p:nvSpPr>
          <p:cNvPr id="14" name="Date Placeholder 13"/>
          <p:cNvSpPr>
            <a:spLocks noGrp="1"/>
          </p:cNvSpPr>
          <p:nvPr>
            <p:ph type="dt" sz="half" idx="13"/>
          </p:nvPr>
        </p:nvSpPr>
        <p:spPr>
          <a:xfrm>
            <a:off x="755576" y="6570000"/>
            <a:ext cx="990706" cy="200055"/>
          </a:xfrm>
          <a:solidFill>
            <a:schemeClr val="tx1"/>
          </a:solidFill>
        </p:spPr>
        <p:txBody>
          <a:bodyPr/>
          <a:lstStyle>
            <a:lvl1pPr>
              <a:defRPr sz="1300">
                <a:solidFill>
                  <a:srgbClr val="00A0AE"/>
                </a:solidFill>
              </a:defRPr>
            </a:lvl1pPr>
          </a:lstStyle>
          <a:p>
            <a:fld id="{FCCD9986-14FF-41C0-9F0D-8A4E633CF76C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0" y="5661248"/>
            <a:ext cx="9144000" cy="288032"/>
          </a:xfrm>
          <a:prstGeom prst="rect">
            <a:avLst/>
          </a:prstGeom>
          <a:solidFill>
            <a:srgbClr val="00A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image_preview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32000" y="6192000"/>
            <a:ext cx="1136842" cy="4320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428000"/>
          </a:xfrm>
        </p:spPr>
        <p:txBody>
          <a:bodyPr bIns="144000"/>
          <a:lstStyle>
            <a:lvl1pPr marL="323850" indent="-323850">
              <a:spcBef>
                <a:spcPts val="400"/>
              </a:spcBef>
              <a:spcAft>
                <a:spcPts val="400"/>
              </a:spcAft>
              <a:buClrTx/>
              <a:defRPr/>
            </a:lvl1pPr>
            <a:lvl2pPr marL="723900" indent="-368300">
              <a:spcBef>
                <a:spcPts val="400"/>
              </a:spcBef>
              <a:spcAft>
                <a:spcPts val="400"/>
              </a:spcAft>
              <a:buClrTx/>
              <a:defRPr sz="2500"/>
            </a:lvl2pPr>
            <a:lvl3pPr marL="982663" indent="-258763">
              <a:spcBef>
                <a:spcPts val="400"/>
              </a:spcBef>
              <a:spcAft>
                <a:spcPts val="400"/>
              </a:spcAft>
              <a:buClrTx/>
              <a:defRPr sz="2300"/>
            </a:lvl3pPr>
            <a:lvl4pPr marL="1255713" indent="-273050">
              <a:spcBef>
                <a:spcPts val="400"/>
              </a:spcBef>
              <a:spcAft>
                <a:spcPts val="400"/>
              </a:spcAft>
              <a:buClrTx/>
              <a:defRPr sz="2000"/>
            </a:lvl4pPr>
            <a:lvl5pPr marL="1609725" indent="-258763">
              <a:spcBef>
                <a:spcPts val="600"/>
              </a:spcBef>
              <a:spcAft>
                <a:spcPts val="600"/>
              </a:spcAft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00A0A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Picture 11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15684C2-DC3D-4E07-B92E-6FE6AB887329}" type="datetime1">
              <a:rPr lang="en-US" smtClean="0"/>
              <a:t>2/3/2026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34000"/>
          </a:xfrm>
        </p:spPr>
        <p:txBody>
          <a:bodyPr bIns="144000" numCol="2" spcCol="360000"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/>
          <a:p>
            <a:r>
              <a:rPr lang="en-US"/>
              <a:t>Click to edit Master title style</a:t>
            </a:r>
            <a:endParaRPr lang="nl-BE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F9883-00A1-4682-B165-687BAE90A164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|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4428000" cy="1097992"/>
          </a:xfrm>
        </p:spPr>
        <p:txBody>
          <a:bodyPr lIns="252000" tIns="252000" r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2285992"/>
            <a:ext cx="4428000" cy="3600000"/>
          </a:xfrm>
        </p:spPr>
        <p:txBody>
          <a:bodyPr lIns="252000" tIns="0" rIns="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6032" y="1152000"/>
            <a:ext cx="4428000" cy="1097992"/>
          </a:xfrm>
        </p:spPr>
        <p:txBody>
          <a:bodyPr lIns="0" tIns="252000" rIns="252000" bIns="0" anchor="t" anchorCtr="0">
            <a:norm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6032" y="2285992"/>
            <a:ext cx="4428000" cy="3600000"/>
          </a:xfrm>
        </p:spPr>
        <p:txBody>
          <a:bodyPr lIns="0" tIns="0" rIns="25200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0048D-CF10-49C5-A975-352B264A7619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4" name="Picture 13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7620" y="1152000"/>
            <a:ext cx="5072098" cy="4734000"/>
          </a:xfrm>
        </p:spPr>
        <p:txBody>
          <a:bodyPr lIns="0" rIns="0" bIns="144000"/>
          <a:lstStyle>
            <a:lvl2pPr algn="l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50C6D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87"/>
          <p:cNvSpPr>
            <a:spLocks noGrp="1"/>
          </p:cNvSpPr>
          <p:nvPr>
            <p:ph type="pic" sz="quarter" idx="10"/>
          </p:nvPr>
        </p:nvSpPr>
        <p:spPr>
          <a:xfrm>
            <a:off x="180000" y="1152000"/>
            <a:ext cx="3428992" cy="4734000"/>
          </a:xfrm>
        </p:spPr>
        <p:txBody>
          <a:bodyPr>
            <a:normAutofit/>
          </a:bodyPr>
          <a:lstStyle>
            <a:lvl1pPr>
              <a:buNone/>
              <a:defRPr sz="1000"/>
            </a:lvl1pPr>
          </a:lstStyle>
          <a:p>
            <a:r>
              <a:rPr lang="en-US" dirty="0"/>
              <a:t>Click icon to add picture</a:t>
            </a:r>
            <a:endParaRPr lang="nl-BE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A5986D0-FA15-40DB-B30E-F92F8B790E1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Picture 11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95D6202-B0FA-4548-BE61-2C2E622390F7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>
            <a:lvl1pPr>
              <a:buClrTx/>
              <a:defRPr>
                <a:solidFill>
                  <a:srgbClr val="000000"/>
                </a:solidFill>
              </a:defRPr>
            </a:lvl1pPr>
            <a:lvl2pPr>
              <a:buClrTx/>
              <a:defRPr>
                <a:solidFill>
                  <a:srgbClr val="000000"/>
                </a:solidFill>
              </a:defRPr>
            </a:lvl2pPr>
            <a:lvl3pPr>
              <a:buClrTx/>
              <a:defRPr>
                <a:solidFill>
                  <a:srgbClr val="000000"/>
                </a:solidFill>
              </a:defRPr>
            </a:lvl3pPr>
            <a:lvl4pPr>
              <a:buClrTx/>
              <a:defRPr>
                <a:solidFill>
                  <a:srgbClr val="000000"/>
                </a:solidFill>
              </a:defRPr>
            </a:lvl4pPr>
            <a:lvl5pPr>
              <a:buClrTx/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979949F-A412-4FBA-A9BA-F43AF017487F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0D442-4CED-4BB5-B7D1-59A7E5E473C9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58024"/>
            <a:ext cx="9144000" cy="900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5576" y="6084000"/>
            <a:ext cx="4032424" cy="43200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anchor="ctr" anchorCtr="0">
            <a:noAutofit/>
          </a:bodyPr>
          <a:lstStyle>
            <a:lvl1pPr algn="l">
              <a:lnSpc>
                <a:spcPct val="90000"/>
              </a:lnSpc>
              <a:defRPr sz="1500">
                <a:solidFill>
                  <a:srgbClr val="00A0AE"/>
                </a:solidFill>
                <a:latin typeface="Trebuchet MS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6" name="Slide Number Placeholder 85"/>
          <p:cNvSpPr>
            <a:spLocks noGrp="1"/>
          </p:cNvSpPr>
          <p:nvPr>
            <p:ph type="sldNum" sz="quarter" idx="4"/>
          </p:nvPr>
        </p:nvSpPr>
        <p:spPr>
          <a:xfrm>
            <a:off x="360000" y="6084000"/>
            <a:ext cx="360000" cy="667148"/>
          </a:xfrm>
          <a:prstGeom prst="rect">
            <a:avLst/>
          </a:prstGeom>
          <a:solidFill>
            <a:srgbClr val="00A0AE"/>
          </a:solidFill>
        </p:spPr>
        <p:txBody>
          <a:bodyPr vert="horz" wrap="none" lIns="0" tIns="108000" rIns="0" bIns="0" rtlCol="0" anchor="ctr" anchorCtr="0">
            <a:noAutofit/>
          </a:bodyPr>
          <a:lstStyle>
            <a:lvl1pPr algn="ctr">
              <a:defRPr sz="2000" b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2984"/>
          </a:xfrm>
          <a:prstGeom prst="rect">
            <a:avLst/>
          </a:prstGeom>
          <a:ln w="0">
            <a:noFill/>
          </a:ln>
        </p:spPr>
        <p:txBody>
          <a:bodyPr vert="horz" lIns="360000" tIns="180000" rIns="360000" bIns="14400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9144000" cy="4428000"/>
          </a:xfrm>
          <a:prstGeom prst="rect">
            <a:avLst/>
          </a:prstGeom>
        </p:spPr>
        <p:txBody>
          <a:bodyPr vert="horz" lIns="432000" tIns="252000" rIns="43200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0" name="Date Placeholder 3"/>
          <p:cNvSpPr>
            <a:spLocks noGrp="1"/>
          </p:cNvSpPr>
          <p:nvPr>
            <p:ph type="dt" sz="half" idx="2"/>
          </p:nvPr>
        </p:nvSpPr>
        <p:spPr>
          <a:xfrm>
            <a:off x="755576" y="6570000"/>
            <a:ext cx="990706" cy="200055"/>
          </a:xfrm>
          <a:prstGeom prst="rect">
            <a:avLst/>
          </a:prstGeom>
          <a:solidFill>
            <a:srgbClr val="EC4B2F"/>
          </a:solidFill>
        </p:spPr>
        <p:txBody>
          <a:bodyPr wrap="none" lIns="108000" tIns="0" rIns="0" bIns="0" anchor="b" anchorCtr="0">
            <a:spAutoFit/>
          </a:bodyPr>
          <a:lstStyle>
            <a:lvl1pPr algn="r">
              <a:defRPr sz="13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fld id="{C50D1575-A01C-48F1-A2B2-CBE2F39400C1}" type="datetime1">
              <a:rPr lang="en-US" smtClean="0"/>
              <a:t>2/3/2026</a:t>
            </a:fld>
            <a:endParaRPr lang="en-US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 cap="all" baseline="0">
          <a:solidFill>
            <a:srgbClr val="EC4B2F"/>
          </a:solidFill>
          <a:latin typeface="Trebuchet MS" pitchFamily="34" charset="0"/>
          <a:ea typeface="+mj-ea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SzPct val="90000"/>
        <a:buFont typeface="Verdana" pitchFamily="34" charset="0"/>
        <a:buChar char="•"/>
        <a:defRPr sz="30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1pPr>
      <a:lvl2pPr marL="723900" indent="-3683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−"/>
        <a:defRPr sz="27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2pPr>
      <a:lvl3pPr marL="982663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•"/>
        <a:defRPr sz="24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3pPr>
      <a:lvl4pPr marL="1255713" indent="-27305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»"/>
        <a:defRPr sz="21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4pPr>
      <a:lvl5pPr marL="1609725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tx1"/>
        </a:buClr>
        <a:buFont typeface="Arial" pitchFamily="34" charset="0"/>
        <a:buNone/>
        <a:defRPr sz="20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eiJ2jHyy7U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Chapter 4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The interface shown to the user</a:t>
            </a:r>
          </a:p>
          <a:p>
            <a:r>
              <a:rPr lang="en-GB" noProof="0" dirty="0"/>
              <a:t>The most important aspect of the software</a:t>
            </a:r>
          </a:p>
          <a:p>
            <a:pPr lvl="1"/>
            <a:r>
              <a:rPr lang="en-GB" noProof="0" dirty="0"/>
              <a:t>User does not want to know how everything is put together</a:t>
            </a:r>
          </a:p>
          <a:p>
            <a:pPr lvl="1"/>
            <a:r>
              <a:rPr lang="en-GB" noProof="0" dirty="0"/>
              <a:t>User wants to know how to use it</a:t>
            </a:r>
          </a:p>
          <a:p>
            <a:r>
              <a:rPr lang="en-GB" noProof="0" dirty="0"/>
              <a:t>Important</a:t>
            </a:r>
          </a:p>
          <a:p>
            <a:pPr lvl="1"/>
            <a:r>
              <a:rPr lang="en-GB" noProof="0" dirty="0"/>
              <a:t>Easy to learn</a:t>
            </a:r>
          </a:p>
          <a:p>
            <a:pPr lvl="1"/>
            <a:r>
              <a:rPr lang="en-GB" noProof="0" dirty="0"/>
              <a:t>Easy to use</a:t>
            </a:r>
          </a:p>
          <a:p>
            <a:pPr lvl="1"/>
            <a:r>
              <a:rPr lang="en-GB" noProof="0" dirty="0"/>
              <a:t>Simple to navigate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User Interface design (UI-design)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2</a:t>
            </a:fld>
            <a:endParaRPr lang="en-GB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A combination of computer science, psychology, sociology, ergonomics</a:t>
            </a:r>
          </a:p>
          <a:p>
            <a:endParaRPr lang="en-GB" noProof="0" dirty="0"/>
          </a:p>
          <a:p>
            <a:r>
              <a:rPr lang="en-GB" noProof="0" dirty="0"/>
              <a:t>Who works with the system?</a:t>
            </a:r>
          </a:p>
          <a:p>
            <a:r>
              <a:rPr lang="en-GB" noProof="0" dirty="0"/>
              <a:t>What information should the user see?</a:t>
            </a:r>
          </a:p>
          <a:p>
            <a:r>
              <a:rPr lang="en-GB" noProof="0" dirty="0"/>
              <a:t>How does the user learn?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Interface design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81827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ijdelijke aanduiding voor inhoud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409" y="1295400"/>
            <a:ext cx="6485182" cy="4427538"/>
          </a:xfr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How best not to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09877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Three types</a:t>
            </a:r>
          </a:p>
          <a:p>
            <a:pPr lvl="1"/>
            <a:r>
              <a:rPr lang="en-GB" noProof="0" dirty="0"/>
              <a:t>Command Line</a:t>
            </a:r>
          </a:p>
          <a:p>
            <a:pPr lvl="1"/>
            <a:r>
              <a:rPr lang="en-GB" noProof="0" dirty="0"/>
              <a:t>Menus</a:t>
            </a:r>
          </a:p>
          <a:p>
            <a:pPr lvl="1"/>
            <a:r>
              <a:rPr lang="en-GB" noProof="0" dirty="0"/>
              <a:t>Graphical</a:t>
            </a:r>
          </a:p>
          <a:p>
            <a:r>
              <a:rPr lang="en-GB" noProof="0" dirty="0"/>
              <a:t>Depending on </a:t>
            </a:r>
          </a:p>
          <a:p>
            <a:pPr lvl="1"/>
            <a:r>
              <a:rPr lang="en-GB" noProof="0" dirty="0"/>
              <a:t>Application</a:t>
            </a:r>
          </a:p>
          <a:p>
            <a:pPr lvl="1"/>
            <a:r>
              <a:rPr lang="en-GB" noProof="0" dirty="0"/>
              <a:t>Users</a:t>
            </a:r>
          </a:p>
          <a:p>
            <a:r>
              <a:rPr lang="en-GB" noProof="0" dirty="0"/>
              <a:t>Each type has its advantages and disadvantages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user interface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5</a:t>
            </a:fld>
            <a:endParaRPr lang="en-GB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Simple view</a:t>
            </a:r>
          </a:p>
          <a:p>
            <a:r>
              <a:rPr lang="en-GB" noProof="0" dirty="0"/>
              <a:t>Unambiguous commands, unforgiving</a:t>
            </a:r>
          </a:p>
          <a:p>
            <a:r>
              <a:rPr lang="en-GB" noProof="0" dirty="0"/>
              <a:t>Text only</a:t>
            </a:r>
          </a:p>
          <a:p>
            <a:r>
              <a:rPr lang="en-GB" noProof="0" dirty="0"/>
              <a:t>Experienced users (only)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Command Line Interface</a:t>
            </a:r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638" y="2438400"/>
            <a:ext cx="4194362" cy="2895600"/>
          </a:xfrm>
          <a:prstGeom prst="rect">
            <a:avLst/>
          </a:prstGeom>
        </p:spPr>
      </p:pic>
      <p:sp>
        <p:nvSpPr>
          <p:cNvPr id="6" name="Tijdelijke aanduiding voor dia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48822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Two types</a:t>
            </a:r>
          </a:p>
          <a:p>
            <a:pPr lvl="1"/>
            <a:r>
              <a:rPr lang="en-GB" noProof="0" dirty="0"/>
              <a:t>Console-like</a:t>
            </a:r>
          </a:p>
          <a:p>
            <a:pPr lvl="1"/>
            <a:r>
              <a:rPr lang="en-GB" noProof="0" dirty="0"/>
              <a:t>Embedded display</a:t>
            </a:r>
          </a:p>
          <a:p>
            <a:pPr lvl="1"/>
            <a:endParaRPr lang="en-GB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Menu Interface</a:t>
            </a: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34" y="3176588"/>
            <a:ext cx="4779540" cy="2546812"/>
          </a:xfrm>
          <a:prstGeom prst="rect">
            <a:avLst/>
          </a:prstGeom>
        </p:spPr>
      </p:pic>
      <p:pic>
        <p:nvPicPr>
          <p:cNvPr id="4" name="Afbeelding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295400"/>
            <a:ext cx="5029200" cy="3657600"/>
          </a:xfrm>
          <a:prstGeom prst="rect">
            <a:avLst/>
          </a:prstGeom>
        </p:spPr>
      </p:pic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0761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Controllable with mouse and keyboard</a:t>
            </a:r>
          </a:p>
          <a:p>
            <a:r>
              <a:rPr lang="en-GB" noProof="0" dirty="0"/>
              <a:t>Icons</a:t>
            </a:r>
          </a:p>
          <a:p>
            <a:r>
              <a:rPr lang="en-GB" noProof="0" dirty="0"/>
              <a:t>Buttons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Graphic Interface</a:t>
            </a:r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0" y="2362200"/>
            <a:ext cx="5238750" cy="3429000"/>
          </a:xfrm>
          <a:prstGeom prst="rect">
            <a:avLst/>
          </a:prstGeom>
        </p:spPr>
      </p:pic>
      <p:sp>
        <p:nvSpPr>
          <p:cNvPr id="6" name="Tijdelijke aanduiding voor dia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97714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Natural User Interface</a:t>
            </a:r>
          </a:p>
          <a:p>
            <a:pPr lvl="1"/>
            <a:r>
              <a:rPr lang="en-GB" noProof="0" dirty="0"/>
              <a:t>Virtual Reality</a:t>
            </a:r>
          </a:p>
          <a:p>
            <a:pPr lvl="1"/>
            <a:r>
              <a:rPr lang="en-GB" noProof="0" dirty="0"/>
              <a:t>Augmented Reality</a:t>
            </a:r>
          </a:p>
          <a:p>
            <a:endParaRPr lang="en-GB" noProof="0" dirty="0"/>
          </a:p>
          <a:p>
            <a:r>
              <a:rPr lang="en-GB" sz="2600" noProof="0" dirty="0">
                <a:hlinkClick r:id="rId2"/>
              </a:rPr>
              <a:t>https://www.youtube.com/watch?v=SeiJ2jHyy7U</a:t>
            </a:r>
            <a:endParaRPr lang="en-GB" sz="26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Next evolution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44593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End User reacts to new SW, based on past experiences</a:t>
            </a:r>
          </a:p>
          <a:p>
            <a:pPr lvl="1"/>
            <a:r>
              <a:rPr lang="en-GB" noProof="0" dirty="0"/>
              <a:t>Similar problems =&gt; similar solutions</a:t>
            </a:r>
          </a:p>
          <a:p>
            <a:r>
              <a:rPr lang="en-GB" noProof="0" dirty="0"/>
              <a:t>But different end users =&gt; different actions as humans are unique.</a:t>
            </a:r>
          </a:p>
          <a:p>
            <a:r>
              <a:rPr lang="en-GB" noProof="0" dirty="0"/>
              <a:t>Novice or occasional user vs Experienced user</a:t>
            </a:r>
          </a:p>
          <a:p>
            <a:r>
              <a:rPr lang="en-GB" noProof="0" dirty="0"/>
              <a:t>Domain in which end user works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Users' perspectives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10</a:t>
            </a:fld>
            <a:endParaRPr lang="en-GB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noProof="0" dirty="0"/>
              <a:t>Principles</a:t>
            </a:r>
          </a:p>
          <a:p>
            <a:pPr lvl="1"/>
            <a:r>
              <a:rPr lang="en-GB" noProof="0" dirty="0"/>
              <a:t>Generic</a:t>
            </a:r>
          </a:p>
          <a:p>
            <a:pPr lvl="1"/>
            <a:r>
              <a:rPr lang="en-GB" noProof="0" dirty="0"/>
              <a:t>At a high level</a:t>
            </a:r>
          </a:p>
          <a:p>
            <a:pPr lvl="1"/>
            <a:r>
              <a:rPr lang="en-GB" noProof="0" dirty="0"/>
              <a:t>More difficult to implement</a:t>
            </a:r>
          </a:p>
          <a:p>
            <a:pPr lvl="1"/>
            <a:r>
              <a:rPr lang="en-GB" noProof="0" dirty="0"/>
              <a:t>E.g. ensure consistency throughout the system </a:t>
            </a:r>
          </a:p>
          <a:p>
            <a:pPr lvl="2"/>
            <a:r>
              <a:rPr lang="en-GB" noProof="0" dirty="0"/>
              <a:t>CRAP-design, </a:t>
            </a:r>
          </a:p>
          <a:p>
            <a:pPr lvl="2"/>
            <a:r>
              <a:rPr lang="en-GB" noProof="0" dirty="0"/>
              <a:t>Make it obvious</a:t>
            </a:r>
          </a:p>
          <a:p>
            <a:r>
              <a:rPr lang="en-GB" noProof="0" dirty="0"/>
              <a:t>Guidelines</a:t>
            </a:r>
          </a:p>
          <a:p>
            <a:pPr lvl="1"/>
            <a:r>
              <a:rPr lang="en-GB" noProof="0" dirty="0"/>
              <a:t>Specifically</a:t>
            </a:r>
          </a:p>
          <a:p>
            <a:pPr lvl="1"/>
            <a:r>
              <a:rPr lang="en-GB" noProof="0" dirty="0"/>
              <a:t>Detailed</a:t>
            </a:r>
          </a:p>
          <a:p>
            <a:pPr lvl="1"/>
            <a:r>
              <a:rPr lang="en-GB" noProof="0" dirty="0"/>
              <a:t>Easy to implement</a:t>
            </a:r>
          </a:p>
          <a:p>
            <a:pPr lvl="1"/>
            <a:r>
              <a:rPr lang="en-GB" noProof="0" dirty="0"/>
              <a:t>E.g. Black text on white background is more readable than white text on black background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Principles and guidelines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11</a:t>
            </a:fld>
            <a:endParaRPr lang="en-GB" noProof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Classifiable into three groups</a:t>
            </a:r>
          </a:p>
          <a:p>
            <a:pPr lvl="1"/>
            <a:r>
              <a:rPr lang="en-GB" noProof="0" dirty="0"/>
              <a:t>Learnability</a:t>
            </a:r>
          </a:p>
          <a:p>
            <a:pPr lvl="1"/>
            <a:r>
              <a:rPr lang="en-GB" noProof="0" dirty="0"/>
              <a:t>Flexibility</a:t>
            </a:r>
          </a:p>
          <a:p>
            <a:pPr lvl="1"/>
            <a:r>
              <a:rPr lang="en-GB" noProof="0" dirty="0"/>
              <a:t>Robustness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Design principles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12</a:t>
            </a:fld>
            <a:endParaRPr lang="en-GB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How easy is the interface to learn?</a:t>
            </a:r>
          </a:p>
          <a:p>
            <a:endParaRPr lang="en-GB" noProof="0" dirty="0"/>
          </a:p>
          <a:p>
            <a:pPr lvl="1"/>
            <a:r>
              <a:rPr lang="en-GB" noProof="0" dirty="0"/>
              <a:t>Predictable</a:t>
            </a:r>
          </a:p>
          <a:p>
            <a:pPr lvl="1"/>
            <a:r>
              <a:rPr lang="en-GB" noProof="0" dirty="0"/>
              <a:t>Feedback</a:t>
            </a:r>
          </a:p>
          <a:p>
            <a:pPr lvl="1"/>
            <a:r>
              <a:rPr lang="en-GB" noProof="0" dirty="0"/>
              <a:t>Trusted</a:t>
            </a:r>
          </a:p>
          <a:p>
            <a:pPr lvl="1"/>
            <a:r>
              <a:rPr lang="en-GB" noProof="0" dirty="0"/>
              <a:t>Generalizable</a:t>
            </a:r>
          </a:p>
          <a:p>
            <a:pPr lvl="1"/>
            <a:r>
              <a:rPr lang="en-GB" noProof="0" dirty="0"/>
              <a:t>Consistent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Learnability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13</a:t>
            </a:fld>
            <a:endParaRPr lang="en-GB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Does the interface support different types of interactions?</a:t>
            </a:r>
          </a:p>
          <a:p>
            <a:endParaRPr lang="en-GB" noProof="0" dirty="0"/>
          </a:p>
          <a:p>
            <a:pPr lvl="1"/>
            <a:r>
              <a:rPr lang="en-GB" noProof="0" dirty="0"/>
              <a:t>User initiative</a:t>
            </a:r>
          </a:p>
          <a:p>
            <a:pPr lvl="1"/>
            <a:r>
              <a:rPr lang="en-GB" noProof="0" dirty="0"/>
              <a:t>Multithreaded</a:t>
            </a:r>
          </a:p>
          <a:p>
            <a:pPr lvl="1"/>
            <a:r>
              <a:rPr lang="en-GB" noProof="0" dirty="0"/>
              <a:t>Tasks migratable between user/system</a:t>
            </a:r>
          </a:p>
          <a:p>
            <a:pPr lvl="1"/>
            <a:r>
              <a:rPr lang="en-GB" noProof="0" dirty="0"/>
              <a:t>Alternative solutions</a:t>
            </a:r>
          </a:p>
          <a:p>
            <a:pPr lvl="1"/>
            <a:r>
              <a:rPr lang="en-GB" noProof="0" dirty="0"/>
              <a:t>Customizable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Flexibility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14</a:t>
            </a:fld>
            <a:endParaRPr lang="en-GB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Is the user getting feedback on what he is doing?</a:t>
            </a:r>
          </a:p>
          <a:p>
            <a:endParaRPr lang="en-GB" noProof="0" dirty="0"/>
          </a:p>
          <a:p>
            <a:pPr lvl="1"/>
            <a:r>
              <a:rPr lang="en-GB" noProof="0" dirty="0"/>
              <a:t>Observable</a:t>
            </a:r>
          </a:p>
          <a:p>
            <a:pPr lvl="1"/>
            <a:r>
              <a:rPr lang="en-GB" noProof="0" dirty="0"/>
              <a:t>Restorable</a:t>
            </a:r>
          </a:p>
          <a:p>
            <a:pPr lvl="1"/>
            <a:r>
              <a:rPr lang="en-GB" noProof="0" dirty="0"/>
              <a:t>Responsiveness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Robustness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15</a:t>
            </a:fld>
            <a:endParaRPr lang="en-GB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Ensure that users cannot make mistakes</a:t>
            </a:r>
          </a:p>
          <a:p>
            <a:r>
              <a:rPr lang="en-GB" noProof="0" dirty="0"/>
              <a:t>Don't make users remember unnecessary things</a:t>
            </a:r>
          </a:p>
          <a:p>
            <a:r>
              <a:rPr lang="en-GB" noProof="0" dirty="0"/>
              <a:t>Maximize productivity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Other examples of principles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16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31906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Detailed and specific advice</a:t>
            </a:r>
          </a:p>
          <a:p>
            <a:r>
              <a:rPr lang="en-GB" noProof="0" dirty="0"/>
              <a:t>Describe what the application should look like</a:t>
            </a:r>
          </a:p>
          <a:p>
            <a:r>
              <a:rPr lang="en-GB" noProof="0" dirty="0"/>
              <a:t>Ensuring consistency within an application or between different applications</a:t>
            </a:r>
          </a:p>
          <a:p>
            <a:pPr lvl="1"/>
            <a:r>
              <a:rPr lang="en-GB" noProof="0" dirty="0"/>
              <a:t>E.g. make sure that commands that are not relevant in the current context cannot be clicked on</a:t>
            </a:r>
          </a:p>
          <a:p>
            <a:pPr lvl="1"/>
            <a:r>
              <a:rPr lang="en-GB" noProof="0" dirty="0"/>
              <a:t>E.g. a Windows application always has a cross at the top right to close the application</a:t>
            </a:r>
          </a:p>
          <a:p>
            <a:pPr lvl="1"/>
            <a:r>
              <a:rPr lang="en-GB" noProof="0" dirty="0"/>
              <a:t>A button is a button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Design guidelines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17</a:t>
            </a:fld>
            <a:endParaRPr lang="en-GB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CDFA6CCF-1F69-8CBE-36D5-0274EEF875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4E1AF4-76D8-B532-5EAA-47E70C57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CRAP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1D787-3E93-7163-6636-D75F749EB6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083300"/>
            <a:ext cx="360363" cy="668338"/>
          </a:xfrm>
        </p:spPr>
        <p:txBody>
          <a:bodyPr/>
          <a:lstStyle/>
          <a:p>
            <a:fld id="{B6F15528-21DE-4FAA-801E-634DDDAF4B2B}" type="slidenum">
              <a:rPr lang="en-GB" noProof="0" smtClean="0"/>
              <a:pPr/>
              <a:t>18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05553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9D4CB8-D783-713A-F37C-1D22C400D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Contrast</a:t>
            </a:r>
          </a:p>
          <a:p>
            <a:pPr lvl="1"/>
            <a:r>
              <a:rPr lang="en-GB" noProof="0" dirty="0"/>
              <a:t>Letter-sizes, colours, letter types (sans/sans-serif), bold/italic/normal/underlined</a:t>
            </a:r>
          </a:p>
          <a:p>
            <a:r>
              <a:rPr lang="en-GB" noProof="0" dirty="0"/>
              <a:t>Repetition</a:t>
            </a:r>
          </a:p>
          <a:p>
            <a:pPr lvl="1"/>
            <a:r>
              <a:rPr lang="en-GB" noProof="0" dirty="0"/>
              <a:t>Common themes across pages (headers/footers/navigation)</a:t>
            </a:r>
          </a:p>
          <a:p>
            <a:r>
              <a:rPr lang="en-GB" noProof="0" dirty="0"/>
              <a:t>Alignment</a:t>
            </a:r>
          </a:p>
          <a:p>
            <a:pPr lvl="1"/>
            <a:r>
              <a:rPr lang="en-GB" noProof="0" dirty="0"/>
              <a:t>Grid like structure</a:t>
            </a:r>
          </a:p>
          <a:p>
            <a:r>
              <a:rPr lang="en-GB" noProof="0" dirty="0"/>
              <a:t>Proximity</a:t>
            </a:r>
          </a:p>
          <a:p>
            <a:pPr lvl="1"/>
            <a:r>
              <a:rPr lang="en-GB" noProof="0" dirty="0"/>
              <a:t>Related items, sit together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B44E96-C7A6-FAC1-61CC-51B718EA6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CRAP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23F2A-D89D-2150-C1F1-76B0A789B7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19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64645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BCFDBDC0-2EBB-1368-AA90-5E0E371A96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1FA99B-3297-E970-7672-10420E5C9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Web &amp; App UI-Design 101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F214C-F3F6-227E-C33D-1E364B271A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083300"/>
            <a:ext cx="360363" cy="668338"/>
          </a:xfrm>
        </p:spPr>
        <p:txBody>
          <a:bodyPr/>
          <a:lstStyle/>
          <a:p>
            <a:fld id="{B6F15528-21DE-4FAA-801E-634DDDAF4B2B}" type="slidenum">
              <a:rPr lang="en-GB" noProof="0" smtClean="0"/>
              <a:pPr/>
              <a:t>20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03890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877809-099B-E2A4-D2C4-FD5767F63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620" y="1152000"/>
            <a:ext cx="5072098" cy="4734000"/>
          </a:xfrm>
        </p:spPr>
        <p:txBody>
          <a:bodyPr>
            <a:normAutofit/>
          </a:bodyPr>
          <a:lstStyle/>
          <a:p>
            <a:r>
              <a:rPr lang="en-GB" noProof="0" dirty="0"/>
              <a:t>Don’t make me think </a:t>
            </a:r>
          </a:p>
          <a:p>
            <a:r>
              <a:rPr lang="en-GB" noProof="0" dirty="0"/>
              <a:t>The obvious </a:t>
            </a:r>
          </a:p>
          <a:p>
            <a:r>
              <a:rPr lang="en-GB" noProof="0" dirty="0"/>
              <a:t>How we really use the web (scan, satisfice, muddle) </a:t>
            </a:r>
          </a:p>
          <a:p>
            <a:r>
              <a:rPr lang="en-GB" noProof="0" dirty="0"/>
              <a:t>Billboard Design 101 </a:t>
            </a:r>
          </a:p>
          <a:p>
            <a:r>
              <a:rPr lang="en-GB" noProof="0" dirty="0"/>
              <a:t>Web Navigation </a:t>
            </a:r>
          </a:p>
          <a:p>
            <a:r>
              <a:rPr lang="en-GB" noProof="0" dirty="0"/>
              <a:t>Omit needless words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377D48-AB24-D44F-BCA6-E19ABA73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2984"/>
          </a:xfrm>
        </p:spPr>
        <p:txBody>
          <a:bodyPr anchor="ctr">
            <a:normAutofit/>
          </a:bodyPr>
          <a:lstStyle/>
          <a:p>
            <a:r>
              <a:rPr lang="en-GB" noProof="0" dirty="0"/>
              <a:t>Web &amp; App UI-Design 101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731762-64B9-3B50-3C62-4FE914F2B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458946"/>
            <a:ext cx="3428992" cy="412010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6980A-AC44-EFBE-9747-52F17116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0000" y="6084000"/>
            <a:ext cx="360000" cy="667148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GB" noProof="0" smtClean="0"/>
              <a:pPr>
                <a:spcAft>
                  <a:spcPts val="600"/>
                </a:spcAft>
              </a:pPr>
              <a:t>21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16746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7234AB-C7A3-9887-37B4-FEE933161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3233" y="1265738"/>
            <a:ext cx="5077534" cy="420111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DD110E8-599B-273E-3CB0-F4B66D47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Web &amp; App UI-Design 101: 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FCDCD-1A81-7AE4-2AA1-0E8075EDE4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22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47055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440365-2567-3433-D67C-1E23993F8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729" y="1752600"/>
            <a:ext cx="7096541" cy="310615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913225B-4BDF-1620-CCC1-288A3F95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Web &amp; App UI-Design 101: Clickable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61DD5-CCC4-3D1A-F4CC-CE154AE759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23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01432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B6D817-C55C-1F8D-E623-108193438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Web &amp; App UI-Design 101: CLEAR</a:t>
            </a: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0320C-51A8-7AEA-D74F-18AC05CD14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A59CAE2-D22B-E765-47D5-F1358794E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482" y="1986954"/>
            <a:ext cx="8497036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61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F2EB39-58C2-DC13-A191-C994A911C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6784" y="2185029"/>
            <a:ext cx="7030431" cy="236253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DBD0F57-253D-1148-09B4-1CB913FD9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Web &amp; App UI-Design 101: Navigate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5A3B5-A99A-A333-C4CE-BA6BBF1D3A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25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32270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10BDE4-857C-377D-C743-332B759C5D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1156" y="1937344"/>
            <a:ext cx="2781688" cy="285789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04DB332-1E6F-2EF8-5759-EDC01D4A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Web &amp; App UI-Design 101 : Simplify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5697C-9EEA-C203-F9FA-DCCDF9C55E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pPr/>
              <a:t>26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23917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5FD4B350-3BF9-9A24-C5A4-CD1FD4A80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634A3AB-DDB0-E9B3-6D47-FFD857FF8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Other UI guidelines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1E7A3-9CBD-FD47-73E8-2B8A223E60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083300"/>
            <a:ext cx="360363" cy="668338"/>
          </a:xfrm>
        </p:spPr>
        <p:txBody>
          <a:bodyPr/>
          <a:lstStyle/>
          <a:p>
            <a:fld id="{B6F15528-21DE-4FAA-801E-634DDDAF4B2B}" type="slidenum">
              <a:rPr lang="en-GB" noProof="0" smtClean="0"/>
              <a:pPr/>
              <a:t>27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10843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noProof="0" dirty="0"/>
              <a:t>Ask the user to confirm destructive actions (e.g. deleting file)</a:t>
            </a:r>
          </a:p>
          <a:p>
            <a:r>
              <a:rPr lang="en-GB" noProof="0" dirty="0"/>
              <a:t>Provide minimal user input (e.g., minimize the number of mouse clicks)</a:t>
            </a:r>
          </a:p>
          <a:p>
            <a:r>
              <a:rPr lang="en-GB" noProof="0" dirty="0"/>
              <a:t>Group related functions and buttons (e.g. text formatting buttons in Word)</a:t>
            </a:r>
          </a:p>
          <a:p>
            <a:r>
              <a:rPr lang="en-GB" noProof="0" dirty="0"/>
              <a:t>Present data in a way that it can be quickly absorbed (e.g. graphs for trends)</a:t>
            </a:r>
          </a:p>
          <a:p>
            <a:r>
              <a:rPr lang="en-GB" noProof="0" dirty="0"/>
              <a:t>Don't use too many different colours (many people are colour blind)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Examples of guidelines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28</a:t>
            </a:fld>
            <a:endParaRPr lang="en-GB" noProof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noProof="0" dirty="0"/>
              <a:t>To test and evaluate a design</a:t>
            </a:r>
          </a:p>
          <a:p>
            <a:endParaRPr lang="en-GB" noProof="0" dirty="0"/>
          </a:p>
          <a:p>
            <a:pPr lvl="1"/>
            <a:r>
              <a:rPr lang="en-GB" noProof="0" dirty="0"/>
              <a:t>Functional Requirements of the UI (e.g.: needs navigation)</a:t>
            </a:r>
          </a:p>
          <a:p>
            <a:pPr lvl="1"/>
            <a:r>
              <a:rPr lang="en-GB" noProof="0" dirty="0"/>
              <a:t>Interaction + navigation options</a:t>
            </a:r>
          </a:p>
          <a:p>
            <a:pPr lvl="1"/>
            <a:r>
              <a:rPr lang="en-GB" noProof="0" dirty="0"/>
              <a:t>Learnability</a:t>
            </a:r>
          </a:p>
          <a:p>
            <a:pPr lvl="1"/>
            <a:r>
              <a:rPr lang="en-GB" noProof="0" dirty="0"/>
              <a:t>Throughput</a:t>
            </a:r>
          </a:p>
          <a:p>
            <a:pPr lvl="1"/>
            <a:r>
              <a:rPr lang="en-GB" noProof="0" dirty="0"/>
              <a:t>Robustness against user error</a:t>
            </a:r>
          </a:p>
          <a:p>
            <a:pPr lvl="1"/>
            <a:r>
              <a:rPr lang="en-GB" noProof="0" dirty="0"/>
              <a:t>Recoverability from user error</a:t>
            </a:r>
          </a:p>
          <a:p>
            <a:pPr lvl="1"/>
            <a:r>
              <a:rPr lang="en-GB" noProof="0" dirty="0"/>
              <a:t>Adaptability + accessibility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Usability Specification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29</a:t>
            </a:fld>
            <a:endParaRPr lang="en-GB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152000"/>
            <a:ext cx="5791200" cy="4428000"/>
          </a:xfrm>
        </p:spPr>
        <p:txBody>
          <a:bodyPr/>
          <a:lstStyle/>
          <a:p>
            <a:r>
              <a:rPr lang="en-GB" noProof="0" dirty="0"/>
              <a:t>Designer creates</a:t>
            </a:r>
          </a:p>
          <a:p>
            <a:r>
              <a:rPr lang="en-GB" noProof="0" dirty="0"/>
              <a:t>User tests and provides feedback</a:t>
            </a:r>
          </a:p>
          <a:p>
            <a:r>
              <a:rPr lang="en-GB" noProof="0" dirty="0"/>
              <a:t>Designer customizes</a:t>
            </a:r>
          </a:p>
          <a:p>
            <a:endParaRPr lang="en-GB" noProof="0" dirty="0"/>
          </a:p>
          <a:p>
            <a:r>
              <a:rPr lang="en-GB" noProof="0" dirty="0"/>
              <a:t>Iterate until design is approved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Prototype</a:t>
            </a:r>
          </a:p>
        </p:txBody>
      </p:sp>
      <p:pic>
        <p:nvPicPr>
          <p:cNvPr id="4" name="Picture 3" descr="prototyping_user_interfac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19391" y="1666339"/>
            <a:ext cx="3624609" cy="3972461"/>
          </a:xfrm>
          <a:prstGeom prst="rect">
            <a:avLst/>
          </a:prstGeom>
        </p:spPr>
      </p:pic>
      <p:sp>
        <p:nvSpPr>
          <p:cNvPr id="6" name="Tijdelijke aanduiding voor dia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30</a:t>
            </a:fld>
            <a:endParaRPr lang="en-GB" noProof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E35B8E2E-EFC0-1588-C4DE-4DC608453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user testing early in the project is better than asking 50 users to test at the end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E7FBFDD-A98F-88AD-C0C3-2B7E1F0F4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Usefulness</a:t>
            </a:r>
            <a:r>
              <a:rPr lang="nl-BE" dirty="0"/>
              <a:t> of prototype Iteration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545E9-6988-F4F7-A51C-38F6272F7D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B6F15528-21DE-4FAA-801E-634DDDAF4B2B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pic>
        <p:nvPicPr>
          <p:cNvPr id="5" name="Afbeelding 7" descr="A graph showing a graph of development&#10;&#10;AI-generated content may be incorrect.">
            <a:extLst>
              <a:ext uri="{FF2B5EF4-FFF2-40B4-BE49-F238E27FC236}">
                <a16:creationId xmlns:a16="http://schemas.microsoft.com/office/drawing/2014/main" id="{3E847012-FAE4-C40D-B330-0A0EBD3D1C5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tretch/>
        </p:blipFill>
        <p:spPr>
          <a:xfrm>
            <a:off x="1600200" y="2186764"/>
            <a:ext cx="5334000" cy="37214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90396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User observation</a:t>
            </a:r>
          </a:p>
          <a:p>
            <a:pPr lvl="1"/>
            <a:r>
              <a:rPr lang="en-GB" noProof="0" dirty="0"/>
              <a:t>Video recordings</a:t>
            </a:r>
          </a:p>
          <a:p>
            <a:pPr lvl="1"/>
            <a:r>
              <a:rPr lang="en-GB" noProof="0" dirty="0"/>
              <a:t>Tracking software</a:t>
            </a:r>
          </a:p>
          <a:p>
            <a:pPr lvl="1"/>
            <a:r>
              <a:rPr lang="en-GB" noProof="0" dirty="0"/>
              <a:t>Spoken feedback</a:t>
            </a:r>
          </a:p>
          <a:p>
            <a:pPr lvl="1"/>
            <a:r>
              <a:rPr lang="en-GB" noProof="0" dirty="0"/>
              <a:t>Survey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Evaluation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32</a:t>
            </a:fld>
            <a:endParaRPr lang="en-GB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09EF6DE7-5F70-4BF6-2F58-8B3C4EF90F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5D5420-DE7E-B924-5B7E-924F87358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HELP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F38E5-A191-B8C4-D342-7E5BFD87083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083300"/>
            <a:ext cx="360363" cy="668338"/>
          </a:xfrm>
        </p:spPr>
        <p:txBody>
          <a:bodyPr/>
          <a:lstStyle/>
          <a:p>
            <a:fld id="{B6F15528-21DE-4FAA-801E-634DDDAF4B2B}" type="slidenum">
              <a:rPr lang="en-GB" noProof="0" smtClean="0"/>
              <a:pPr/>
              <a:t>33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5292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Most used guidance for users</a:t>
            </a:r>
          </a:p>
          <a:p>
            <a:r>
              <a:rPr lang="en-GB" noProof="0" dirty="0"/>
              <a:t>As important as the software itself</a:t>
            </a:r>
          </a:p>
          <a:p>
            <a:r>
              <a:rPr lang="en-GB" noProof="0" dirty="0"/>
              <a:t>Usually consists of three parts</a:t>
            </a:r>
          </a:p>
          <a:p>
            <a:pPr lvl="1"/>
            <a:r>
              <a:rPr lang="en-GB" noProof="0" dirty="0"/>
              <a:t>Feedback on user interaction</a:t>
            </a:r>
          </a:p>
          <a:p>
            <a:pPr lvl="1"/>
            <a:r>
              <a:rPr lang="en-GB" noProof="0" dirty="0"/>
              <a:t>Online help system</a:t>
            </a:r>
          </a:p>
          <a:p>
            <a:pPr lvl="1"/>
            <a:r>
              <a:rPr lang="en-GB" noProof="0" dirty="0"/>
              <a:t>Included documentation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Help system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34</a:t>
            </a:fld>
            <a:endParaRPr lang="en-GB" noProof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Feedback</a:t>
            </a:r>
          </a:p>
          <a:p>
            <a:pPr lvl="1"/>
            <a:r>
              <a:rPr lang="en-GB" noProof="0" dirty="0"/>
              <a:t>Short</a:t>
            </a:r>
          </a:p>
          <a:p>
            <a:pPr lvl="1"/>
            <a:r>
              <a:rPr lang="en-GB" noProof="0" dirty="0"/>
              <a:t>Constructive</a:t>
            </a:r>
          </a:p>
          <a:p>
            <a:pPr lvl="1"/>
            <a:r>
              <a:rPr lang="en-GB" noProof="0" dirty="0"/>
              <a:t>Visual</a:t>
            </a:r>
          </a:p>
          <a:p>
            <a:pPr lvl="1"/>
            <a:r>
              <a:rPr lang="en-GB" noProof="0" dirty="0"/>
              <a:t>Polite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Help system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35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677913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Online help and included documentation</a:t>
            </a:r>
          </a:p>
          <a:p>
            <a:pPr lvl="1"/>
            <a:r>
              <a:rPr lang="en-GB" noProof="0" dirty="0"/>
              <a:t>Should these be equally comprehensive?</a:t>
            </a:r>
          </a:p>
          <a:p>
            <a:pPr lvl="1"/>
            <a:r>
              <a:rPr lang="en-GB" noProof="0" dirty="0"/>
              <a:t>How do you open the help?</a:t>
            </a:r>
          </a:p>
          <a:p>
            <a:pPr lvl="1"/>
            <a:r>
              <a:rPr lang="en-GB" noProof="0" dirty="0"/>
              <a:t>How do you read these?</a:t>
            </a:r>
          </a:p>
          <a:p>
            <a:pPr lvl="1"/>
            <a:r>
              <a:rPr lang="en-GB" noProof="0" dirty="0"/>
              <a:t>How much information should the user see?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Help system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GB" noProof="0" smtClean="0"/>
              <a:t>36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5400316"/>
      </p:ext>
    </p:extLst>
  </p:cSld>
  <p:clrMapOvr>
    <a:masterClrMapping/>
  </p:clrMapOvr>
</p:sld>
</file>

<file path=ppt/theme/theme1.xml><?xml version="1.0" encoding="utf-8"?>
<a:theme xmlns:a="http://schemas.openxmlformats.org/drawingml/2006/main" name="TM_presentatie_eng">
  <a:themeElements>
    <a:clrScheme name="Lessius">
      <a:dk1>
        <a:srgbClr val="003C72"/>
      </a:dk1>
      <a:lt1>
        <a:srgbClr val="FFFFFF"/>
      </a:lt1>
      <a:dk2>
        <a:srgbClr val="003C72"/>
      </a:dk2>
      <a:lt2>
        <a:srgbClr val="FFFFFF"/>
      </a:lt2>
      <a:accent1>
        <a:srgbClr val="00A9E5"/>
      </a:accent1>
      <a:accent2>
        <a:srgbClr val="67CBEF"/>
      </a:accent2>
      <a:accent3>
        <a:srgbClr val="CCEEFA"/>
      </a:accent3>
      <a:accent4>
        <a:srgbClr val="406D96"/>
      </a:accent4>
      <a:accent5>
        <a:srgbClr val="7F9DB9"/>
      </a:accent5>
      <a:accent6>
        <a:srgbClr val="BECEDD"/>
      </a:accent6>
      <a:hlink>
        <a:srgbClr val="118EFF"/>
      </a:hlink>
      <a:folHlink>
        <a:srgbClr val="7030A0"/>
      </a:folHlink>
    </a:clrScheme>
    <a:fontScheme name="Lessiu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TM_presentatie_adjusted</Template>
  <TotalTime>7282</TotalTime>
  <Words>1121</Words>
  <Application>Microsoft Office PowerPoint</Application>
  <PresentationFormat>On-screen Show (4:3)</PresentationFormat>
  <Paragraphs>250</Paragraphs>
  <Slides>36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Trebuchet MS</vt:lpstr>
      <vt:lpstr>Verdana</vt:lpstr>
      <vt:lpstr>TM_presentatie_eng</vt:lpstr>
      <vt:lpstr>Software Engineering</vt:lpstr>
      <vt:lpstr>User Interface design (UI-design)</vt:lpstr>
      <vt:lpstr>Interface design</vt:lpstr>
      <vt:lpstr>How best not to</vt:lpstr>
      <vt:lpstr>user interface</vt:lpstr>
      <vt:lpstr>Command Line Interface</vt:lpstr>
      <vt:lpstr>Menu Interface</vt:lpstr>
      <vt:lpstr>Graphic Interface</vt:lpstr>
      <vt:lpstr>Next evolution</vt:lpstr>
      <vt:lpstr>Users' perspectives</vt:lpstr>
      <vt:lpstr>Principles and guidelines</vt:lpstr>
      <vt:lpstr>Design principles</vt:lpstr>
      <vt:lpstr>Learnability</vt:lpstr>
      <vt:lpstr>Flexibility</vt:lpstr>
      <vt:lpstr>Robustness</vt:lpstr>
      <vt:lpstr>Other examples of principles</vt:lpstr>
      <vt:lpstr>Design guidelines</vt:lpstr>
      <vt:lpstr>CRAP</vt:lpstr>
      <vt:lpstr>CRAP principles</vt:lpstr>
      <vt:lpstr>Web &amp; App UI-Design 101</vt:lpstr>
      <vt:lpstr>Web &amp; App UI-Design 101</vt:lpstr>
      <vt:lpstr>Web &amp; App UI-Design 101: Attention</vt:lpstr>
      <vt:lpstr>Web &amp; App UI-Design 101: Clickable</vt:lpstr>
      <vt:lpstr>Web &amp; App UI-Design 101: CLEAR</vt:lpstr>
      <vt:lpstr>Web &amp; App UI-Design 101: Navigate</vt:lpstr>
      <vt:lpstr>Web &amp; App UI-Design 101 : Simplify</vt:lpstr>
      <vt:lpstr>Other UI guidelines</vt:lpstr>
      <vt:lpstr>Examples of guidelines</vt:lpstr>
      <vt:lpstr>Usability Specification</vt:lpstr>
      <vt:lpstr>Prototype</vt:lpstr>
      <vt:lpstr>Usefulness of prototype Iteration</vt:lpstr>
      <vt:lpstr>Evaluation</vt:lpstr>
      <vt:lpstr>HELP system</vt:lpstr>
      <vt:lpstr>Help system</vt:lpstr>
      <vt:lpstr>Help system</vt:lpstr>
      <vt:lpstr>Help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Lars</dc:creator>
  <cp:keywords>, docId:A19B91C8D5A1DC364C62DDF09D1E4C48</cp:keywords>
  <cp:lastModifiedBy>Rodrigue Stultiens</cp:lastModifiedBy>
  <cp:revision>136</cp:revision>
  <dcterms:created xsi:type="dcterms:W3CDTF">2006-08-16T00:00:00Z</dcterms:created>
  <dcterms:modified xsi:type="dcterms:W3CDTF">2026-02-03T15:23:50Z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2024-01-15T08:04:55Z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e20da9a9-ed0b-4bec-8127-5a099ed7b39f</vt:lpwstr>
  </property>
  <property fmtid="{D5CDD505-2E9C-101B-9397-08002B2CF9AE}" pid="8" name="MSIP_Label_c337be75-dfbb-4261-9834-ac247c7dde13_ContentBits">
    <vt:lpwstr>0</vt:lpwstr>
  </property>
</Properties>
</file>